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7.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19.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0.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1.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2.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3.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24.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25.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24">
  <p:sldMasterIdLst>
    <p:sldMasterId id="2147484206" r:id="rId1"/>
    <p:sldMasterId id="2147484218" r:id="rId2"/>
  </p:sldMasterIdLst>
  <p:notesMasterIdLst>
    <p:notesMasterId r:id="rId30"/>
  </p:notesMasterIdLst>
  <p:sldIdLst>
    <p:sldId id="256" r:id="rId3"/>
    <p:sldId id="587" r:id="rId4"/>
    <p:sldId id="257" r:id="rId5"/>
    <p:sldId id="589" r:id="rId6"/>
    <p:sldId id="592" r:id="rId7"/>
    <p:sldId id="588" r:id="rId8"/>
    <p:sldId id="593" r:id="rId9"/>
    <p:sldId id="578" r:id="rId10"/>
    <p:sldId id="579" r:id="rId11"/>
    <p:sldId id="585" r:id="rId12"/>
    <p:sldId id="595" r:id="rId13"/>
    <p:sldId id="596" r:id="rId14"/>
    <p:sldId id="532" r:id="rId15"/>
    <p:sldId id="594" r:id="rId16"/>
    <p:sldId id="590" r:id="rId17"/>
    <p:sldId id="591" r:id="rId18"/>
    <p:sldId id="565" r:id="rId19"/>
    <p:sldId id="573" r:id="rId20"/>
    <p:sldId id="575" r:id="rId21"/>
    <p:sldId id="574" r:id="rId22"/>
    <p:sldId id="576" r:id="rId23"/>
    <p:sldId id="580" r:id="rId24"/>
    <p:sldId id="581" r:id="rId25"/>
    <p:sldId id="583" r:id="rId26"/>
    <p:sldId id="584" r:id="rId27"/>
    <p:sldId id="557" r:id="rId28"/>
    <p:sldId id="52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0" autoAdjust="0"/>
    <p:restoredTop sz="74061" autoAdjust="0"/>
  </p:normalViewPr>
  <p:slideViewPr>
    <p:cSldViewPr snapToGrid="0">
      <p:cViewPr varScale="1">
        <p:scale>
          <a:sx n="81" d="100"/>
          <a:sy n="81" d="100"/>
        </p:scale>
        <p:origin x="1176"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just"/>
          <a:r>
            <a:rPr lang="fr-CM" sz="1400" dirty="0" smtClean="0"/>
            <a:t>Au Cameroun des nombreuses entités public, parapublic et privée disposent encore applications web traditionnelles qui sont déployé sur des serveurs physiques créant ainsi un faussé technologique majeur en termes de </a:t>
          </a:r>
          <a:r>
            <a:rPr lang="fr-CM" sz="1400" b="1" dirty="0" smtClean="0"/>
            <a:t>portabilité</a:t>
          </a:r>
          <a:r>
            <a:rPr lang="fr-CM" sz="1400" dirty="0" smtClean="0"/>
            <a:t>, de </a:t>
          </a:r>
          <a:r>
            <a:rPr lang="fr-CM" sz="1400" b="1" dirty="0" err="1" smtClean="0"/>
            <a:t>scalabilité</a:t>
          </a:r>
          <a:r>
            <a:rPr lang="fr-CM" sz="1400" dirty="0" smtClean="0"/>
            <a:t>, </a:t>
          </a:r>
          <a:r>
            <a:rPr lang="fr-CM" sz="1400" b="1" dirty="0" smtClean="0"/>
            <a:t>cohabitation</a:t>
          </a:r>
          <a:r>
            <a:rPr lang="fr-CM" sz="1400" dirty="0" smtClean="0"/>
            <a:t>, de </a:t>
          </a:r>
          <a:r>
            <a:rPr lang="fr-CM" sz="1400" b="1" dirty="0" smtClean="0"/>
            <a:t>maintenabilité</a:t>
          </a:r>
          <a:r>
            <a:rPr lang="fr-CM" sz="1400" dirty="0" smtClean="0"/>
            <a:t> et de </a:t>
          </a:r>
          <a:r>
            <a:rPr lang="fr-CM" sz="1400" b="1" dirty="0" smtClean="0"/>
            <a:t>reproductibilité</a:t>
          </a:r>
          <a:r>
            <a:rPr lang="fr-CM" sz="1400" dirty="0" smtClean="0"/>
            <a:t>. </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CM" sz="1600" dirty="0" smtClean="0"/>
            <a:t>Si la conteneurisation via Docker s’impose comme la solution indispensable pour standardiser les environnements.</a:t>
          </a:r>
        </a:p>
        <a:p>
          <a:r>
            <a:rPr lang="fr-CM" sz="1600" dirty="0" smtClean="0"/>
            <a:t>L’intérêt scientifique et technique de notre étude repose sur la conception d’un outil innovant</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CM" sz="1600" dirty="0" smtClean="0"/>
            <a:t>Pour ancrer ce projet de recherche dans une réalité technique concrète, </a:t>
          </a:r>
          <a:r>
            <a:rPr lang="fr-CM" sz="1600" b="1" dirty="0" smtClean="0"/>
            <a:t>notre outil cible spécifiquement l'écosystème PHP.</a:t>
          </a:r>
        </a:p>
        <a:p>
          <a:r>
            <a:rPr lang="fr-FR" sz="1600" dirty="0" smtClean="0"/>
            <a:t>Cette démarche vise à démocratiser l’accès aux infrastructures modernes et à accélérer la transition vers </a:t>
          </a:r>
          <a:r>
            <a:rPr lang="fr-FR" sz="1600" smtClean="0"/>
            <a:t>le Cloud.</a:t>
          </a:r>
          <a:endParaRPr lang="fr-FR" sz="1600" dirty="0">
            <a:latin typeface="Century Gothic" panose="020B0502020202020204" pitchFamily="34" charset="0"/>
          </a:endParaRPr>
        </a:p>
      </dgm:t>
    </dgm:pt>
    <dgm:pt modelId="{A4FB0CBE-ED7D-4295-BEB0-883608397777}" type="sibTrans" cxnId="{30A2B294-49FF-479E-B3FF-3FF3076F7EB5}">
      <dgm:prSet/>
      <dgm:spPr/>
      <dgm:t>
        <a:bodyPr/>
        <a:lstStyle/>
        <a:p>
          <a:endParaRPr lang="fr-FR"/>
        </a:p>
      </dgm:t>
    </dgm:pt>
    <dgm:pt modelId="{14FF457F-763A-460A-B471-3BA2C0231FAC}" type="par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87321">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20962" custLinFactNeighborY="7792">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55907">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0616D586-A490-4F11-B973-7DE588C196F6}">
      <dgm:prSet/>
      <dgm:spPr>
        <a:solidFill>
          <a:srgbClr val="FF0000"/>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Approche </a:t>
          </a:r>
          <a:r>
            <a:rPr lang="fr-FR"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8D18AD0-265A-4EFA-A812-FCD831006861}" type="sibTrans" cxnId="{0B78BA26-C769-40FC-98ED-EEF7EAE10F13}">
      <dgm:prSet/>
      <dgm:spPr/>
      <dgm:t>
        <a:bodyPr/>
        <a:lstStyle/>
        <a:p>
          <a:endParaRPr lang="fr-FR"/>
        </a:p>
      </dgm:t>
    </dgm:pt>
    <dgm:pt modelId="{FC4049C5-E0AA-44F1-9F0B-38287EA981EE}" type="parTrans" cxnId="{0B78BA26-C769-40FC-98ED-EEF7EAE10F13}">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0616D586-A490-4F11-B973-7DE588C196F6}">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8D18AD0-265A-4EFA-A812-FCD831006861}" type="sibTrans" cxnId="{0B78BA26-C769-40FC-98ED-EEF7EAE10F13}">
      <dgm:prSet/>
      <dgm:spPr/>
      <dgm:t>
        <a:bodyPr/>
        <a:lstStyle/>
        <a:p>
          <a:endParaRPr lang="fr-FR"/>
        </a:p>
      </dgm:t>
    </dgm:pt>
    <dgm:pt modelId="{FC4049C5-E0AA-44F1-9F0B-38287EA981EE}" type="parTrans" cxnId="{0B78BA26-C769-40FC-98ED-EEF7EAE10F13}">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AF2EEEC-BC8D-4A68-A8FA-388574BCAEC2}"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ctr"/>
          <a:r>
            <a:rPr lang="fr-FR" sz="1200" dirty="0" smtClean="0"/>
            <a:t>Comment planifier une migration progressive sans rupture de service, tout en garantissant la performance, la sécurité et la maintenabilité ? </a:t>
          </a:r>
          <a:r>
            <a:rPr lang="fr-FR" sz="1600" dirty="0" smtClean="0">
              <a:latin typeface="Century Gothic" panose="020B0502020202020204" pitchFamily="34" charset="0"/>
            </a:rPr>
            <a:t>)</a:t>
          </a:r>
          <a:endParaRPr lang="fr-FR" sz="16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pPr algn="ctr"/>
          <a:endParaRPr lang="fr-FR"/>
        </a:p>
      </dgm:t>
    </dgm:pt>
    <dgm:pt modelId="{70634966-89E2-44D7-89E1-D611D8BD3585}" type="sibTrans" cxnId="{E806B04B-0401-4F23-B793-6459CBFA3B1A}">
      <dgm:prSet/>
      <dgm:spPr/>
      <dgm:t>
        <a:bodyPr/>
        <a:lstStyle/>
        <a:p>
          <a:pPr algn="ctr"/>
          <a:endParaRPr lang="fr-FR"/>
        </a:p>
      </dgm:t>
    </dgm:pt>
    <dgm:pt modelId="{9FA1D0CF-B502-495F-9DD9-E4E7564D6633}">
      <dgm:prSet custT="1"/>
      <dgm:spPr/>
      <dgm:t>
        <a:bodyPr/>
        <a:lstStyle/>
        <a:p>
          <a:pPr algn="ctr"/>
          <a:r>
            <a:rPr lang="fr-FR" sz="1600" dirty="0" smtClean="0"/>
            <a:t>Comment adapter une application web existante monolithique/3-tiers pour les environnements containerisés ?</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pPr algn="ctr"/>
          <a:endParaRPr lang="fr-FR"/>
        </a:p>
      </dgm:t>
    </dgm:pt>
    <dgm:pt modelId="{201F4F7D-4A5C-4828-9AF3-C397B3FDE836}" type="sibTrans" cxnId="{DEC5E4F8-9EF5-4C71-94E6-562B7C5DC1C4}">
      <dgm:prSet/>
      <dgm:spPr/>
      <dgm:t>
        <a:bodyPr/>
        <a:lstStyle/>
        <a:p>
          <a:pPr algn="ctr"/>
          <a:endParaRPr lang="fr-FR"/>
        </a:p>
      </dgm:t>
    </dgm:pt>
    <dgm:pt modelId="{0A1BDFD6-5D76-417A-9F35-84CF5A28FABE}">
      <dgm:prSet custT="1"/>
      <dgm:spPr/>
      <dgm:t>
        <a:bodyPr/>
        <a:lstStyle/>
        <a:p>
          <a:pPr algn="ctr"/>
          <a:r>
            <a:rPr lang="fr-FR" sz="1600" dirty="0" smtClean="0"/>
            <a:t>Comment remédier aux problèmes de déploiement ?</a:t>
          </a:r>
          <a:endParaRPr lang="fr-FR" sz="1600" dirty="0">
            <a:latin typeface="Century Gothic" panose="020B0502020202020204" pitchFamily="34" charset="0"/>
          </a:endParaRPr>
        </a:p>
      </dgm:t>
    </dgm:pt>
    <dgm:pt modelId="{14FF457F-763A-460A-B471-3BA2C0231FAC}" type="parTrans" cxnId="{30A2B294-49FF-479E-B3FF-3FF3076F7EB5}">
      <dgm:prSet/>
      <dgm:spPr/>
      <dgm:t>
        <a:bodyPr/>
        <a:lstStyle/>
        <a:p>
          <a:pPr algn="ctr"/>
          <a:endParaRPr lang="fr-FR"/>
        </a:p>
      </dgm:t>
    </dgm:pt>
    <dgm:pt modelId="{A4FB0CBE-ED7D-4295-BEB0-883608397777}" type="sibTrans" cxnId="{30A2B294-49FF-479E-B3FF-3FF3076F7EB5}">
      <dgm:prSet/>
      <dgm:spPr/>
      <dgm:t>
        <a:bodyPr/>
        <a:lstStyle/>
        <a:p>
          <a:pPr algn="ctr"/>
          <a:endParaRPr lang="fr-FR"/>
        </a:p>
      </dgm:t>
    </dgm:pt>
    <dgm:pt modelId="{5B97017D-E1DD-4AF9-A26E-C519BA569EE5}">
      <dgm:prSet custT="1"/>
      <dgm:spPr/>
      <dgm:t>
        <a:bodyPr/>
        <a:lstStyle/>
        <a:p>
          <a:pPr algn="ctr"/>
          <a:r>
            <a:rPr lang="fr-FR" sz="1200" dirty="0" smtClean="0"/>
            <a:t>Quels sont les principes conceptuels et les architectures sous-jacentes pour la migration automatisée d'applications web vers un environnement conteneurisé ?</a:t>
          </a:r>
          <a:endParaRPr lang="fr-FR" sz="1200" dirty="0">
            <a:latin typeface="Century Gothic" panose="020B0502020202020204" pitchFamily="34" charset="0"/>
          </a:endParaRPr>
        </a:p>
      </dgm:t>
    </dgm:pt>
    <dgm:pt modelId="{7A969C9C-8C38-42F9-A82F-E42D4C730200}" type="parTrans" cxnId="{AB8D09CC-701F-4DC6-9974-1A861F996286}">
      <dgm:prSet/>
      <dgm:spPr/>
      <dgm:t>
        <a:bodyPr/>
        <a:lstStyle/>
        <a:p>
          <a:pPr algn="ctr"/>
          <a:endParaRPr lang="fr-FR"/>
        </a:p>
      </dgm:t>
    </dgm:pt>
    <dgm:pt modelId="{97052FE2-C307-42AA-B23C-1B6C675E3385}" type="sibTrans" cxnId="{AB8D09CC-701F-4DC6-9974-1A861F996286}">
      <dgm:prSet/>
      <dgm:spPr/>
      <dgm:t>
        <a:bodyPr/>
        <a:lstStyle/>
        <a:p>
          <a:pPr algn="ctr"/>
          <a:endParaRPr lang="fr-FR"/>
        </a:p>
      </dgm:t>
    </dgm:pt>
    <dgm:pt modelId="{7C9C9E4F-764B-4736-A783-64C97E455201}">
      <dgm:prSet custT="1"/>
      <dgm:spPr/>
      <dgm:t>
        <a:bodyPr/>
        <a:lstStyle/>
        <a:p>
          <a:pPr algn="ctr"/>
          <a:r>
            <a:rPr lang="fr-FR" sz="1200" dirty="0" smtClean="0"/>
            <a:t>Comment cet outil identifie et gère-t-il les dépendances, les configurations et la persistance des données des applications web existantes pour la conteneurisation ?</a:t>
          </a:r>
          <a:endParaRPr lang="fr-FR" sz="1200" dirty="0">
            <a:latin typeface="Century Gothic" panose="020B0502020202020204" pitchFamily="34" charset="0"/>
          </a:endParaRPr>
        </a:p>
      </dgm:t>
    </dgm:pt>
    <dgm:pt modelId="{BD60491A-049A-4FF3-95D9-1D1FC7CABD79}" type="parTrans" cxnId="{AC7BD2AA-E5BB-46A1-817A-00B6060026F5}">
      <dgm:prSet/>
      <dgm:spPr/>
      <dgm:t>
        <a:bodyPr/>
        <a:lstStyle/>
        <a:p>
          <a:pPr algn="ctr"/>
          <a:endParaRPr lang="fr-FR"/>
        </a:p>
      </dgm:t>
    </dgm:pt>
    <dgm:pt modelId="{8596CF9B-4B55-4379-A6A3-5B72C225343A}" type="sibTrans" cxnId="{AC7BD2AA-E5BB-46A1-817A-00B6060026F5}">
      <dgm:prSet/>
      <dgm:spPr/>
      <dgm:t>
        <a:bodyPr/>
        <a:lstStyle/>
        <a:p>
          <a:pPr algn="ctr"/>
          <a:endParaRPr lang="fr-FR"/>
        </a:p>
      </dgm:t>
    </dgm:pt>
    <dgm:pt modelId="{78590AA0-F395-46FC-8BBF-664C6AAE92FE}">
      <dgm:prSet custT="1"/>
      <dgm:spPr/>
      <dgm:t>
        <a:bodyPr/>
        <a:lstStyle/>
        <a:p>
          <a:pPr algn="ctr"/>
          <a:r>
            <a:rPr lang="fr-FR" sz="1200" dirty="0" smtClean="0">
              <a:latin typeface="Century Gothic" panose="020B0502020202020204" pitchFamily="34" charset="0"/>
            </a:rPr>
            <a:t>Ces questions de recherche nous ont conduit a fixer les objectifs suivant:</a:t>
          </a:r>
          <a:endParaRPr lang="fr-FR" sz="1200" dirty="0">
            <a:latin typeface="Century Gothic" panose="020B0502020202020204" pitchFamily="34" charset="0"/>
          </a:endParaRPr>
        </a:p>
      </dgm:t>
    </dgm:pt>
    <dgm:pt modelId="{BF90F3BF-5753-4325-93AD-D5041ED3885F}" type="parTrans" cxnId="{E0800AB5-67F4-41D5-8237-9EF323E226DF}">
      <dgm:prSet/>
      <dgm:spPr/>
      <dgm:t>
        <a:bodyPr/>
        <a:lstStyle/>
        <a:p>
          <a:endParaRPr lang="fr-FR"/>
        </a:p>
      </dgm:t>
    </dgm:pt>
    <dgm:pt modelId="{27D83CEF-57AA-4E94-98CD-C4861BCF82C6}" type="sibTrans" cxnId="{E0800AB5-67F4-41D5-8237-9EF323E226DF}">
      <dgm:prSet/>
      <dgm:spPr/>
      <dgm:t>
        <a:bodyPr/>
        <a:lstStyle/>
        <a:p>
          <a:endParaRPr lang="fr-FR"/>
        </a:p>
      </dgm:t>
    </dgm:pt>
    <dgm:pt modelId="{EDB8262A-7B5B-4C7C-B793-A07F7C7727D2}" type="pres">
      <dgm:prSet presAssocID="{AAF2EEEC-BC8D-4A68-A8FA-388574BCAEC2}" presName="Name0" presStyleCnt="0">
        <dgm:presLayoutVars>
          <dgm:dir/>
          <dgm:resizeHandles val="exact"/>
        </dgm:presLayoutVars>
      </dgm:prSet>
      <dgm:spPr/>
      <dgm:t>
        <a:bodyPr/>
        <a:lstStyle/>
        <a:p>
          <a:endParaRPr lang="fr-FR"/>
        </a:p>
      </dgm:t>
    </dgm:pt>
    <dgm:pt modelId="{D1B0B4B4-69E8-490A-B8E6-FD0822C21E9B}" type="pres">
      <dgm:prSet presAssocID="{AAF2EEEC-BC8D-4A68-A8FA-388574BCAEC2}" presName="fgShape" presStyleLbl="fgShp" presStyleIdx="0" presStyleCnt="1"/>
      <dgm:spPr/>
    </dgm:pt>
    <dgm:pt modelId="{5DDE0181-CC0D-4037-8D90-E54BF27BB419}" type="pres">
      <dgm:prSet presAssocID="{AAF2EEEC-BC8D-4A68-A8FA-388574BCAEC2}" presName="linComp" presStyleCnt="0"/>
      <dgm:spPr/>
    </dgm:pt>
    <dgm:pt modelId="{98ACCA40-ADC0-4B59-A51C-8AD099CE96EE}" type="pres">
      <dgm:prSet presAssocID="{F8D58C6D-34FA-4535-98E6-0C817AEA39F1}" presName="compNode" presStyleCnt="0"/>
      <dgm:spPr/>
    </dgm:pt>
    <dgm:pt modelId="{784AE082-C531-4072-B13D-765D81377898}" type="pres">
      <dgm:prSet presAssocID="{F8D58C6D-34FA-4535-98E6-0C817AEA39F1}" presName="bkgdShape" presStyleLbl="node1" presStyleIdx="0" presStyleCnt="6"/>
      <dgm:spPr/>
      <dgm:t>
        <a:bodyPr/>
        <a:lstStyle/>
        <a:p>
          <a:endParaRPr lang="fr-FR"/>
        </a:p>
      </dgm:t>
    </dgm:pt>
    <dgm:pt modelId="{5F675BC5-18E1-4F3B-B6FA-8E231640E45C}" type="pres">
      <dgm:prSet presAssocID="{F8D58C6D-34FA-4535-98E6-0C817AEA39F1}" presName="nodeTx" presStyleLbl="node1" presStyleIdx="0" presStyleCnt="6">
        <dgm:presLayoutVars>
          <dgm:bulletEnabled val="1"/>
        </dgm:presLayoutVars>
      </dgm:prSet>
      <dgm:spPr/>
      <dgm:t>
        <a:bodyPr/>
        <a:lstStyle/>
        <a:p>
          <a:endParaRPr lang="fr-FR"/>
        </a:p>
      </dgm:t>
    </dgm:pt>
    <dgm:pt modelId="{6C58EF14-FFB3-4DC9-87C0-A84E221EA4DF}" type="pres">
      <dgm:prSet presAssocID="{F8D58C6D-34FA-4535-98E6-0C817AEA39F1}" presName="invisiNode" presStyleLbl="node1" presStyleIdx="0" presStyleCnt="6"/>
      <dgm:spPr/>
    </dgm:pt>
    <dgm:pt modelId="{1C208517-F4A5-4316-922B-01FEE8E87854}" type="pres">
      <dgm:prSet presAssocID="{F8D58C6D-34FA-4535-98E6-0C817AEA39F1}" presName="imagNode" presStyleLbl="fgImgPlace1" presStyleIdx="0" presStyleCnt="6"/>
      <dgm:spPr>
        <a:prstGeom prst="ellipse">
          <a:avLst/>
        </a:prstGeom>
      </dgm:spPr>
      <dgm:t>
        <a:bodyPr/>
        <a:lstStyle/>
        <a:p>
          <a:endParaRPr lang="fr-FR"/>
        </a:p>
      </dgm:t>
    </dgm:pt>
    <dgm:pt modelId="{D781A21C-3846-4305-BE00-041BD75F1D7A}" type="pres">
      <dgm:prSet presAssocID="{70634966-89E2-44D7-89E1-D611D8BD3585}" presName="sibTrans" presStyleLbl="sibTrans2D1" presStyleIdx="0" presStyleCnt="0"/>
      <dgm:spPr/>
      <dgm:t>
        <a:bodyPr/>
        <a:lstStyle/>
        <a:p>
          <a:endParaRPr lang="fr-FR"/>
        </a:p>
      </dgm:t>
    </dgm:pt>
    <dgm:pt modelId="{8CD7D282-AF0C-4E7C-A042-6D5158D4BE65}" type="pres">
      <dgm:prSet presAssocID="{9FA1D0CF-B502-495F-9DD9-E4E7564D6633}" presName="compNode" presStyleCnt="0"/>
      <dgm:spPr/>
    </dgm:pt>
    <dgm:pt modelId="{45F4DA02-DFD3-41E3-AF7A-D01CFBD6EC00}" type="pres">
      <dgm:prSet presAssocID="{9FA1D0CF-B502-495F-9DD9-E4E7564D6633}" presName="bkgdShape" presStyleLbl="node1" presStyleIdx="1" presStyleCnt="6"/>
      <dgm:spPr/>
      <dgm:t>
        <a:bodyPr/>
        <a:lstStyle/>
        <a:p>
          <a:endParaRPr lang="fr-FR"/>
        </a:p>
      </dgm:t>
    </dgm:pt>
    <dgm:pt modelId="{A3BDABF6-B940-414C-81A7-33B4F558A6D1}" type="pres">
      <dgm:prSet presAssocID="{9FA1D0CF-B502-495F-9DD9-E4E7564D6633}" presName="nodeTx" presStyleLbl="node1" presStyleIdx="1" presStyleCnt="6">
        <dgm:presLayoutVars>
          <dgm:bulletEnabled val="1"/>
        </dgm:presLayoutVars>
      </dgm:prSet>
      <dgm:spPr/>
      <dgm:t>
        <a:bodyPr/>
        <a:lstStyle/>
        <a:p>
          <a:endParaRPr lang="fr-FR"/>
        </a:p>
      </dgm:t>
    </dgm:pt>
    <dgm:pt modelId="{DEF7720F-638A-4B66-9B17-944253A4E60A}" type="pres">
      <dgm:prSet presAssocID="{9FA1D0CF-B502-495F-9DD9-E4E7564D6633}" presName="invisiNode" presStyleLbl="node1" presStyleIdx="1" presStyleCnt="6"/>
      <dgm:spPr/>
    </dgm:pt>
    <dgm:pt modelId="{2FC96856-0A69-498E-B7C5-0B39221071A7}" type="pres">
      <dgm:prSet presAssocID="{9FA1D0CF-B502-495F-9DD9-E4E7564D6633}" presName="imagNode" presStyleLbl="fgImgPlace1" presStyleIdx="1" presStyleCnt="6" custScaleY="86427"/>
      <dgm:spPr/>
      <dgm:t>
        <a:bodyPr/>
        <a:lstStyle/>
        <a:p>
          <a:endParaRPr lang="fr-FR"/>
        </a:p>
      </dgm:t>
    </dgm:pt>
    <dgm:pt modelId="{06140BBE-809E-4D20-88DB-6C559635FC83}" type="pres">
      <dgm:prSet presAssocID="{201F4F7D-4A5C-4828-9AF3-C397B3FDE836}" presName="sibTrans" presStyleLbl="sibTrans2D1" presStyleIdx="0" presStyleCnt="0"/>
      <dgm:spPr/>
      <dgm:t>
        <a:bodyPr/>
        <a:lstStyle/>
        <a:p>
          <a:endParaRPr lang="fr-FR"/>
        </a:p>
      </dgm:t>
    </dgm:pt>
    <dgm:pt modelId="{669753D3-1B52-42B8-A2A6-B464CB769F7F}" type="pres">
      <dgm:prSet presAssocID="{0A1BDFD6-5D76-417A-9F35-84CF5A28FABE}" presName="compNode" presStyleCnt="0"/>
      <dgm:spPr/>
    </dgm:pt>
    <dgm:pt modelId="{B1976C02-F444-4CAE-8E16-8BCD1D58D29F}" type="pres">
      <dgm:prSet presAssocID="{0A1BDFD6-5D76-417A-9F35-84CF5A28FABE}" presName="bkgdShape" presStyleLbl="node1" presStyleIdx="2" presStyleCnt="6"/>
      <dgm:spPr/>
      <dgm:t>
        <a:bodyPr/>
        <a:lstStyle/>
        <a:p>
          <a:endParaRPr lang="fr-FR"/>
        </a:p>
      </dgm:t>
    </dgm:pt>
    <dgm:pt modelId="{5B9A4B7A-47EE-4038-8349-EB6A010002FC}" type="pres">
      <dgm:prSet presAssocID="{0A1BDFD6-5D76-417A-9F35-84CF5A28FABE}" presName="nodeTx" presStyleLbl="node1" presStyleIdx="2" presStyleCnt="6">
        <dgm:presLayoutVars>
          <dgm:bulletEnabled val="1"/>
        </dgm:presLayoutVars>
      </dgm:prSet>
      <dgm:spPr/>
      <dgm:t>
        <a:bodyPr/>
        <a:lstStyle/>
        <a:p>
          <a:endParaRPr lang="fr-FR"/>
        </a:p>
      </dgm:t>
    </dgm:pt>
    <dgm:pt modelId="{32FAFBAB-3E93-438F-921A-BBF83DB85F73}" type="pres">
      <dgm:prSet presAssocID="{0A1BDFD6-5D76-417A-9F35-84CF5A28FABE}" presName="invisiNode" presStyleLbl="node1" presStyleIdx="2" presStyleCnt="6"/>
      <dgm:spPr/>
    </dgm:pt>
    <dgm:pt modelId="{4D4DC288-2E6A-43B4-9948-C4828B3804B8}" type="pres">
      <dgm:prSet presAssocID="{0A1BDFD6-5D76-417A-9F35-84CF5A28FABE}" presName="imagNode" presStyleLbl="fgImgPlace1" presStyleIdx="2" presStyleCnt="6" custScaleY="82791"/>
      <dgm:spPr/>
      <dgm:t>
        <a:bodyPr/>
        <a:lstStyle/>
        <a:p>
          <a:endParaRPr lang="fr-FR"/>
        </a:p>
      </dgm:t>
    </dgm:pt>
    <dgm:pt modelId="{41117623-80BB-4803-B49F-1CD6A6F901AD}" type="pres">
      <dgm:prSet presAssocID="{A4FB0CBE-ED7D-4295-BEB0-883608397777}" presName="sibTrans" presStyleLbl="sibTrans2D1" presStyleIdx="0" presStyleCnt="0"/>
      <dgm:spPr/>
      <dgm:t>
        <a:bodyPr/>
        <a:lstStyle/>
        <a:p>
          <a:endParaRPr lang="fr-FR"/>
        </a:p>
      </dgm:t>
    </dgm:pt>
    <dgm:pt modelId="{50D809EC-28AB-42D4-9A47-D4AAF480FE41}" type="pres">
      <dgm:prSet presAssocID="{5B97017D-E1DD-4AF9-A26E-C519BA569EE5}" presName="compNode" presStyleCnt="0"/>
      <dgm:spPr/>
    </dgm:pt>
    <dgm:pt modelId="{8EC9CB0F-3043-46BE-99B2-BADBD0ABDE50}" type="pres">
      <dgm:prSet presAssocID="{5B97017D-E1DD-4AF9-A26E-C519BA569EE5}" presName="bkgdShape" presStyleLbl="node1" presStyleIdx="3" presStyleCnt="6"/>
      <dgm:spPr/>
      <dgm:t>
        <a:bodyPr/>
        <a:lstStyle/>
        <a:p>
          <a:endParaRPr lang="fr-FR"/>
        </a:p>
      </dgm:t>
    </dgm:pt>
    <dgm:pt modelId="{50B9CCB0-F657-4CA4-AD6A-5C10E58C7D49}" type="pres">
      <dgm:prSet presAssocID="{5B97017D-E1DD-4AF9-A26E-C519BA569EE5}" presName="nodeTx" presStyleLbl="node1" presStyleIdx="3" presStyleCnt="6">
        <dgm:presLayoutVars>
          <dgm:bulletEnabled val="1"/>
        </dgm:presLayoutVars>
      </dgm:prSet>
      <dgm:spPr/>
      <dgm:t>
        <a:bodyPr/>
        <a:lstStyle/>
        <a:p>
          <a:endParaRPr lang="fr-FR"/>
        </a:p>
      </dgm:t>
    </dgm:pt>
    <dgm:pt modelId="{D6CE93FE-DA51-44A8-BF7E-A61A1C5F3251}" type="pres">
      <dgm:prSet presAssocID="{5B97017D-E1DD-4AF9-A26E-C519BA569EE5}" presName="invisiNode" presStyleLbl="node1" presStyleIdx="3" presStyleCnt="6"/>
      <dgm:spPr/>
    </dgm:pt>
    <dgm:pt modelId="{D4526EF1-6E56-467F-A6CA-6648D55002C7}" type="pres">
      <dgm:prSet presAssocID="{5B97017D-E1DD-4AF9-A26E-C519BA569EE5}" presName="imagNode" presStyleLbl="fgImgPlace1" presStyleIdx="3" presStyleCnt="6"/>
      <dgm:spPr>
        <a:prstGeom prst="ellipse">
          <a:avLst/>
        </a:prstGeom>
      </dgm:spPr>
      <dgm:t>
        <a:bodyPr/>
        <a:lstStyle/>
        <a:p>
          <a:endParaRPr lang="fr-FR"/>
        </a:p>
      </dgm:t>
    </dgm:pt>
    <dgm:pt modelId="{4A133B74-FFEE-4172-B747-8F9C07471FCD}" type="pres">
      <dgm:prSet presAssocID="{97052FE2-C307-42AA-B23C-1B6C675E3385}" presName="sibTrans" presStyleLbl="sibTrans2D1" presStyleIdx="0" presStyleCnt="0"/>
      <dgm:spPr/>
      <dgm:t>
        <a:bodyPr/>
        <a:lstStyle/>
        <a:p>
          <a:endParaRPr lang="fr-FR"/>
        </a:p>
      </dgm:t>
    </dgm:pt>
    <dgm:pt modelId="{966D98FB-FEDE-44F7-AC03-38C1184A60DA}" type="pres">
      <dgm:prSet presAssocID="{7C9C9E4F-764B-4736-A783-64C97E455201}" presName="compNode" presStyleCnt="0"/>
      <dgm:spPr/>
    </dgm:pt>
    <dgm:pt modelId="{469E5EE1-9634-4834-AFFD-9CD7EC94C226}" type="pres">
      <dgm:prSet presAssocID="{7C9C9E4F-764B-4736-A783-64C97E455201}" presName="bkgdShape" presStyleLbl="node1" presStyleIdx="4" presStyleCnt="6"/>
      <dgm:spPr/>
      <dgm:t>
        <a:bodyPr/>
        <a:lstStyle/>
        <a:p>
          <a:endParaRPr lang="fr-FR"/>
        </a:p>
      </dgm:t>
    </dgm:pt>
    <dgm:pt modelId="{8D221D53-D738-449D-B092-A5DD5DA6CBD8}" type="pres">
      <dgm:prSet presAssocID="{7C9C9E4F-764B-4736-A783-64C97E455201}" presName="nodeTx" presStyleLbl="node1" presStyleIdx="4" presStyleCnt="6">
        <dgm:presLayoutVars>
          <dgm:bulletEnabled val="1"/>
        </dgm:presLayoutVars>
      </dgm:prSet>
      <dgm:spPr/>
      <dgm:t>
        <a:bodyPr/>
        <a:lstStyle/>
        <a:p>
          <a:endParaRPr lang="fr-FR"/>
        </a:p>
      </dgm:t>
    </dgm:pt>
    <dgm:pt modelId="{CB6159B3-6D61-4ED8-8BD5-8DD401052AAB}" type="pres">
      <dgm:prSet presAssocID="{7C9C9E4F-764B-4736-A783-64C97E455201}" presName="invisiNode" presStyleLbl="node1" presStyleIdx="4" presStyleCnt="6"/>
      <dgm:spPr/>
    </dgm:pt>
    <dgm:pt modelId="{C94E44A5-568E-4D96-B97D-FB26FD7DE399}" type="pres">
      <dgm:prSet presAssocID="{7C9C9E4F-764B-4736-A783-64C97E455201}" presName="imagNode" presStyleLbl="fgImgPlace1" presStyleIdx="4" presStyleCnt="6"/>
      <dgm:spPr/>
    </dgm:pt>
    <dgm:pt modelId="{8F607C77-B4AC-4482-9CD9-30CE428364F4}" type="pres">
      <dgm:prSet presAssocID="{8596CF9B-4B55-4379-A6A3-5B72C225343A}" presName="sibTrans" presStyleLbl="sibTrans2D1" presStyleIdx="0" presStyleCnt="0"/>
      <dgm:spPr/>
      <dgm:t>
        <a:bodyPr/>
        <a:lstStyle/>
        <a:p>
          <a:endParaRPr lang="fr-FR"/>
        </a:p>
      </dgm:t>
    </dgm:pt>
    <dgm:pt modelId="{7C499101-46E4-496A-859F-BF138EE27EDD}" type="pres">
      <dgm:prSet presAssocID="{78590AA0-F395-46FC-8BBF-664C6AAE92FE}" presName="compNode" presStyleCnt="0"/>
      <dgm:spPr/>
    </dgm:pt>
    <dgm:pt modelId="{C560D73F-B009-4B28-8826-8DE5A5821CF1}" type="pres">
      <dgm:prSet presAssocID="{78590AA0-F395-46FC-8BBF-664C6AAE92FE}" presName="bkgdShape" presStyleLbl="node1" presStyleIdx="5" presStyleCnt="6"/>
      <dgm:spPr/>
      <dgm:t>
        <a:bodyPr/>
        <a:lstStyle/>
        <a:p>
          <a:endParaRPr lang="fr-FR"/>
        </a:p>
      </dgm:t>
    </dgm:pt>
    <dgm:pt modelId="{F1BF92D7-ECE1-4340-B434-636FB7825D82}" type="pres">
      <dgm:prSet presAssocID="{78590AA0-F395-46FC-8BBF-664C6AAE92FE}" presName="nodeTx" presStyleLbl="node1" presStyleIdx="5" presStyleCnt="6">
        <dgm:presLayoutVars>
          <dgm:bulletEnabled val="1"/>
        </dgm:presLayoutVars>
      </dgm:prSet>
      <dgm:spPr/>
      <dgm:t>
        <a:bodyPr/>
        <a:lstStyle/>
        <a:p>
          <a:endParaRPr lang="fr-FR"/>
        </a:p>
      </dgm:t>
    </dgm:pt>
    <dgm:pt modelId="{7D5D3A8A-0A67-43B6-8B27-9CCCB6F70F08}" type="pres">
      <dgm:prSet presAssocID="{78590AA0-F395-46FC-8BBF-664C6AAE92FE}" presName="invisiNode" presStyleLbl="node1" presStyleIdx="5" presStyleCnt="6"/>
      <dgm:spPr/>
    </dgm:pt>
    <dgm:pt modelId="{812D724E-F0DD-4D8A-9D0D-ED0EBED340E7}" type="pres">
      <dgm:prSet presAssocID="{78590AA0-F395-46FC-8BBF-664C6AAE92FE}" presName="imagNode" presStyleLbl="fgImgPlace1" presStyleIdx="5" presStyleCnt="6"/>
      <dgm:spPr/>
    </dgm:pt>
  </dgm:ptLst>
  <dgm:cxnLst>
    <dgm:cxn modelId="{E0800AB5-67F4-41D5-8237-9EF323E226DF}" srcId="{AAF2EEEC-BC8D-4A68-A8FA-388574BCAEC2}" destId="{78590AA0-F395-46FC-8BBF-664C6AAE92FE}" srcOrd="5" destOrd="0" parTransId="{BF90F3BF-5753-4325-93AD-D5041ED3885F}" sibTransId="{27D83CEF-57AA-4E94-98CD-C4861BCF82C6}"/>
    <dgm:cxn modelId="{24E3474F-B851-4A6F-87AD-7ADB69C1D8A7}" type="presOf" srcId="{201F4F7D-4A5C-4828-9AF3-C397B3FDE836}" destId="{06140BBE-809E-4D20-88DB-6C559635FC83}" srcOrd="0" destOrd="0" presId="urn:microsoft.com/office/officeart/2005/8/layout/hList7"/>
    <dgm:cxn modelId="{3599F5D4-EE1C-4809-8800-83975AA366F2}" type="presOf" srcId="{9FA1D0CF-B502-495F-9DD9-E4E7564D6633}" destId="{45F4DA02-DFD3-41E3-AF7A-D01CFBD6EC00}" srcOrd="0" destOrd="0" presId="urn:microsoft.com/office/officeart/2005/8/layout/hList7"/>
    <dgm:cxn modelId="{8D8ADDA6-3FE4-443E-AAD4-87AF5D0941A0}" type="presOf" srcId="{5B97017D-E1DD-4AF9-A26E-C519BA569EE5}" destId="{50B9CCB0-F657-4CA4-AD6A-5C10E58C7D49}" srcOrd="1" destOrd="0" presId="urn:microsoft.com/office/officeart/2005/8/layout/hList7"/>
    <dgm:cxn modelId="{DEC5E4F8-9EF5-4C71-94E6-562B7C5DC1C4}" srcId="{AAF2EEEC-BC8D-4A68-A8FA-388574BCAEC2}" destId="{9FA1D0CF-B502-495F-9DD9-E4E7564D6633}" srcOrd="1" destOrd="0" parTransId="{6EAFFC3E-CD6F-451C-9099-F322A9F9829C}" sibTransId="{201F4F7D-4A5C-4828-9AF3-C397B3FDE836}"/>
    <dgm:cxn modelId="{F29021B3-5E6E-41CF-A40C-7A4C1D1EB32E}" type="presOf" srcId="{7C9C9E4F-764B-4736-A783-64C97E455201}" destId="{469E5EE1-9634-4834-AFFD-9CD7EC94C226}" srcOrd="0" destOrd="0" presId="urn:microsoft.com/office/officeart/2005/8/layout/hList7"/>
    <dgm:cxn modelId="{AC7BD2AA-E5BB-46A1-817A-00B6060026F5}" srcId="{AAF2EEEC-BC8D-4A68-A8FA-388574BCAEC2}" destId="{7C9C9E4F-764B-4736-A783-64C97E455201}" srcOrd="4" destOrd="0" parTransId="{BD60491A-049A-4FF3-95D9-1D1FC7CABD79}" sibTransId="{8596CF9B-4B55-4379-A6A3-5B72C225343A}"/>
    <dgm:cxn modelId="{1553DE10-60DE-479D-804C-8B5003A9468B}" type="presOf" srcId="{78590AA0-F395-46FC-8BBF-664C6AAE92FE}" destId="{F1BF92D7-ECE1-4340-B434-636FB7825D82}" srcOrd="1" destOrd="0" presId="urn:microsoft.com/office/officeart/2005/8/layout/hList7"/>
    <dgm:cxn modelId="{B3B0859A-3722-4F61-923B-67DE6EC31D7C}" type="presOf" srcId="{97052FE2-C307-42AA-B23C-1B6C675E3385}" destId="{4A133B74-FFEE-4172-B747-8F9C07471FCD}" srcOrd="0" destOrd="0" presId="urn:microsoft.com/office/officeart/2005/8/layout/hList7"/>
    <dgm:cxn modelId="{6FEB8B2A-7331-4F42-8F6A-D32366DD6F91}" type="presOf" srcId="{9FA1D0CF-B502-495F-9DD9-E4E7564D6633}" destId="{A3BDABF6-B940-414C-81A7-33B4F558A6D1}" srcOrd="1" destOrd="0" presId="urn:microsoft.com/office/officeart/2005/8/layout/hList7"/>
    <dgm:cxn modelId="{F080F7A5-A539-43BF-82D4-3E7B4DA4D944}" type="presOf" srcId="{5B97017D-E1DD-4AF9-A26E-C519BA569EE5}" destId="{8EC9CB0F-3043-46BE-99B2-BADBD0ABDE50}" srcOrd="0" destOrd="0" presId="urn:microsoft.com/office/officeart/2005/8/layout/hList7"/>
    <dgm:cxn modelId="{E806B04B-0401-4F23-B793-6459CBFA3B1A}" srcId="{AAF2EEEC-BC8D-4A68-A8FA-388574BCAEC2}" destId="{F8D58C6D-34FA-4535-98E6-0C817AEA39F1}" srcOrd="0" destOrd="0" parTransId="{DE46B730-D41B-4D04-91BE-8C5D1D110E51}" sibTransId="{70634966-89E2-44D7-89E1-D611D8BD3585}"/>
    <dgm:cxn modelId="{9D08E4C4-EE91-43EF-8E88-9A8B6F6E9525}" type="presOf" srcId="{0A1BDFD6-5D76-417A-9F35-84CF5A28FABE}" destId="{B1976C02-F444-4CAE-8E16-8BCD1D58D29F}" srcOrd="0" destOrd="0" presId="urn:microsoft.com/office/officeart/2005/8/layout/hList7"/>
    <dgm:cxn modelId="{357DEC04-3D08-47AA-A2A3-3BB707202E8D}" type="presOf" srcId="{7C9C9E4F-764B-4736-A783-64C97E455201}" destId="{8D221D53-D738-449D-B092-A5DD5DA6CBD8}" srcOrd="1" destOrd="0" presId="urn:microsoft.com/office/officeart/2005/8/layout/hList7"/>
    <dgm:cxn modelId="{E9C319CB-BB95-48CF-A803-8FB8EC7CBFF1}" type="presOf" srcId="{A4FB0CBE-ED7D-4295-BEB0-883608397777}" destId="{41117623-80BB-4803-B49F-1CD6A6F901AD}" srcOrd="0" destOrd="0" presId="urn:microsoft.com/office/officeart/2005/8/layout/hList7"/>
    <dgm:cxn modelId="{F2449EA9-5324-4DE6-8B46-7940B8ABDDBA}" type="presOf" srcId="{F8D58C6D-34FA-4535-98E6-0C817AEA39F1}" destId="{784AE082-C531-4072-B13D-765D81377898}" srcOrd="0" destOrd="0" presId="urn:microsoft.com/office/officeart/2005/8/layout/hList7"/>
    <dgm:cxn modelId="{3DA21D21-D9EB-4110-80CC-565BB06DDC61}" type="presOf" srcId="{AAF2EEEC-BC8D-4A68-A8FA-388574BCAEC2}" destId="{EDB8262A-7B5B-4C7C-B793-A07F7C7727D2}" srcOrd="0" destOrd="0" presId="urn:microsoft.com/office/officeart/2005/8/layout/hList7"/>
    <dgm:cxn modelId="{1EE8F9BE-35FB-46C7-8F49-40FB08AA2A01}" type="presOf" srcId="{F8D58C6D-34FA-4535-98E6-0C817AEA39F1}" destId="{5F675BC5-18E1-4F3B-B6FA-8E231640E45C}" srcOrd="1" destOrd="0" presId="urn:microsoft.com/office/officeart/2005/8/layout/hList7"/>
    <dgm:cxn modelId="{D42670E3-57AF-4B1C-AC68-DD304F2563D4}" type="presOf" srcId="{70634966-89E2-44D7-89E1-D611D8BD3585}" destId="{D781A21C-3846-4305-BE00-041BD75F1D7A}" srcOrd="0" destOrd="0" presId="urn:microsoft.com/office/officeart/2005/8/layout/hList7"/>
    <dgm:cxn modelId="{96E5500B-9C5D-4CFD-AD48-8BC3C1AB0A2F}" type="presOf" srcId="{0A1BDFD6-5D76-417A-9F35-84CF5A28FABE}" destId="{5B9A4B7A-47EE-4038-8349-EB6A010002FC}" srcOrd="1" destOrd="0" presId="urn:microsoft.com/office/officeart/2005/8/layout/hList7"/>
    <dgm:cxn modelId="{EB97141F-A32D-45E0-A4CA-8C4D27DD3428}" type="presOf" srcId="{8596CF9B-4B55-4379-A6A3-5B72C225343A}" destId="{8F607C77-B4AC-4482-9CD9-30CE428364F4}" srcOrd="0" destOrd="0" presId="urn:microsoft.com/office/officeart/2005/8/layout/hList7"/>
    <dgm:cxn modelId="{04B21067-D5BA-4386-B5E9-8CAD1296AF34}" type="presOf" srcId="{78590AA0-F395-46FC-8BBF-664C6AAE92FE}" destId="{C560D73F-B009-4B28-8826-8DE5A5821CF1}" srcOrd="0" destOrd="0" presId="urn:microsoft.com/office/officeart/2005/8/layout/hList7"/>
    <dgm:cxn modelId="{30A2B294-49FF-479E-B3FF-3FF3076F7EB5}" srcId="{AAF2EEEC-BC8D-4A68-A8FA-388574BCAEC2}" destId="{0A1BDFD6-5D76-417A-9F35-84CF5A28FABE}" srcOrd="2" destOrd="0" parTransId="{14FF457F-763A-460A-B471-3BA2C0231FAC}" sibTransId="{A4FB0CBE-ED7D-4295-BEB0-883608397777}"/>
    <dgm:cxn modelId="{AB8D09CC-701F-4DC6-9974-1A861F996286}" srcId="{AAF2EEEC-BC8D-4A68-A8FA-388574BCAEC2}" destId="{5B97017D-E1DD-4AF9-A26E-C519BA569EE5}" srcOrd="3" destOrd="0" parTransId="{7A969C9C-8C38-42F9-A82F-E42D4C730200}" sibTransId="{97052FE2-C307-42AA-B23C-1B6C675E3385}"/>
    <dgm:cxn modelId="{0495A031-5E95-4D29-BAF1-C19D3A4D3CE4}" type="presParOf" srcId="{EDB8262A-7B5B-4C7C-B793-A07F7C7727D2}" destId="{D1B0B4B4-69E8-490A-B8E6-FD0822C21E9B}" srcOrd="0" destOrd="0" presId="urn:microsoft.com/office/officeart/2005/8/layout/hList7"/>
    <dgm:cxn modelId="{64F71CB6-D329-4E98-AD03-1279359644BB}" type="presParOf" srcId="{EDB8262A-7B5B-4C7C-B793-A07F7C7727D2}" destId="{5DDE0181-CC0D-4037-8D90-E54BF27BB419}" srcOrd="1" destOrd="0" presId="urn:microsoft.com/office/officeart/2005/8/layout/hList7"/>
    <dgm:cxn modelId="{29F46AD9-B147-41BC-9458-2E085063742F}" type="presParOf" srcId="{5DDE0181-CC0D-4037-8D90-E54BF27BB419}" destId="{98ACCA40-ADC0-4B59-A51C-8AD099CE96EE}" srcOrd="0" destOrd="0" presId="urn:microsoft.com/office/officeart/2005/8/layout/hList7"/>
    <dgm:cxn modelId="{CB05854A-2BA1-4742-8E8E-CA5CB226177C}" type="presParOf" srcId="{98ACCA40-ADC0-4B59-A51C-8AD099CE96EE}" destId="{784AE082-C531-4072-B13D-765D81377898}" srcOrd="0" destOrd="0" presId="urn:microsoft.com/office/officeart/2005/8/layout/hList7"/>
    <dgm:cxn modelId="{95EBBDDA-5DFC-4471-B126-851653BDA36D}" type="presParOf" srcId="{98ACCA40-ADC0-4B59-A51C-8AD099CE96EE}" destId="{5F675BC5-18E1-4F3B-B6FA-8E231640E45C}" srcOrd="1" destOrd="0" presId="urn:microsoft.com/office/officeart/2005/8/layout/hList7"/>
    <dgm:cxn modelId="{3F09C31E-E712-4679-BECA-DBC0BA493748}" type="presParOf" srcId="{98ACCA40-ADC0-4B59-A51C-8AD099CE96EE}" destId="{6C58EF14-FFB3-4DC9-87C0-A84E221EA4DF}" srcOrd="2" destOrd="0" presId="urn:microsoft.com/office/officeart/2005/8/layout/hList7"/>
    <dgm:cxn modelId="{5F9BD62E-95AB-483C-A55D-9F4543297550}" type="presParOf" srcId="{98ACCA40-ADC0-4B59-A51C-8AD099CE96EE}" destId="{1C208517-F4A5-4316-922B-01FEE8E87854}" srcOrd="3" destOrd="0" presId="urn:microsoft.com/office/officeart/2005/8/layout/hList7"/>
    <dgm:cxn modelId="{3361F695-68AD-4267-91BD-6C5EEDB32565}" type="presParOf" srcId="{5DDE0181-CC0D-4037-8D90-E54BF27BB419}" destId="{D781A21C-3846-4305-BE00-041BD75F1D7A}" srcOrd="1" destOrd="0" presId="urn:microsoft.com/office/officeart/2005/8/layout/hList7"/>
    <dgm:cxn modelId="{6C8912CA-098F-4C76-9812-511C881AEFFE}" type="presParOf" srcId="{5DDE0181-CC0D-4037-8D90-E54BF27BB419}" destId="{8CD7D282-AF0C-4E7C-A042-6D5158D4BE65}" srcOrd="2" destOrd="0" presId="urn:microsoft.com/office/officeart/2005/8/layout/hList7"/>
    <dgm:cxn modelId="{747E9E42-F246-4A37-9913-0A5ADC9E8338}" type="presParOf" srcId="{8CD7D282-AF0C-4E7C-A042-6D5158D4BE65}" destId="{45F4DA02-DFD3-41E3-AF7A-D01CFBD6EC00}" srcOrd="0" destOrd="0" presId="urn:microsoft.com/office/officeart/2005/8/layout/hList7"/>
    <dgm:cxn modelId="{89DF8F76-A204-4702-AA49-ECFE247C31D9}" type="presParOf" srcId="{8CD7D282-AF0C-4E7C-A042-6D5158D4BE65}" destId="{A3BDABF6-B940-414C-81A7-33B4F558A6D1}" srcOrd="1" destOrd="0" presId="urn:microsoft.com/office/officeart/2005/8/layout/hList7"/>
    <dgm:cxn modelId="{B38615E6-CBD1-492D-8AF7-EB070118B9F9}" type="presParOf" srcId="{8CD7D282-AF0C-4E7C-A042-6D5158D4BE65}" destId="{DEF7720F-638A-4B66-9B17-944253A4E60A}" srcOrd="2" destOrd="0" presId="urn:microsoft.com/office/officeart/2005/8/layout/hList7"/>
    <dgm:cxn modelId="{468BF98D-0964-46B1-90E5-371ACD62A623}" type="presParOf" srcId="{8CD7D282-AF0C-4E7C-A042-6D5158D4BE65}" destId="{2FC96856-0A69-498E-B7C5-0B39221071A7}" srcOrd="3" destOrd="0" presId="urn:microsoft.com/office/officeart/2005/8/layout/hList7"/>
    <dgm:cxn modelId="{ABF76C9E-AB50-43C5-B094-DD57CC6CCDAF}" type="presParOf" srcId="{5DDE0181-CC0D-4037-8D90-E54BF27BB419}" destId="{06140BBE-809E-4D20-88DB-6C559635FC83}" srcOrd="3" destOrd="0" presId="urn:microsoft.com/office/officeart/2005/8/layout/hList7"/>
    <dgm:cxn modelId="{C6E6F8B4-E3F0-428C-893C-D22A8D4D9351}" type="presParOf" srcId="{5DDE0181-CC0D-4037-8D90-E54BF27BB419}" destId="{669753D3-1B52-42B8-A2A6-B464CB769F7F}" srcOrd="4" destOrd="0" presId="urn:microsoft.com/office/officeart/2005/8/layout/hList7"/>
    <dgm:cxn modelId="{726C6547-9846-4C09-AD68-94BBBA5C54D0}" type="presParOf" srcId="{669753D3-1B52-42B8-A2A6-B464CB769F7F}" destId="{B1976C02-F444-4CAE-8E16-8BCD1D58D29F}" srcOrd="0" destOrd="0" presId="urn:microsoft.com/office/officeart/2005/8/layout/hList7"/>
    <dgm:cxn modelId="{1F7C8F48-7322-4E8B-95A2-BE97CEC5D013}" type="presParOf" srcId="{669753D3-1B52-42B8-A2A6-B464CB769F7F}" destId="{5B9A4B7A-47EE-4038-8349-EB6A010002FC}" srcOrd="1" destOrd="0" presId="urn:microsoft.com/office/officeart/2005/8/layout/hList7"/>
    <dgm:cxn modelId="{206E8D7A-30AD-457B-A707-F90234F005E5}" type="presParOf" srcId="{669753D3-1B52-42B8-A2A6-B464CB769F7F}" destId="{32FAFBAB-3E93-438F-921A-BBF83DB85F73}" srcOrd="2" destOrd="0" presId="urn:microsoft.com/office/officeart/2005/8/layout/hList7"/>
    <dgm:cxn modelId="{FD9DEA56-C71B-4AED-A83A-3CD8FFB15674}" type="presParOf" srcId="{669753D3-1B52-42B8-A2A6-B464CB769F7F}" destId="{4D4DC288-2E6A-43B4-9948-C4828B3804B8}" srcOrd="3" destOrd="0" presId="urn:microsoft.com/office/officeart/2005/8/layout/hList7"/>
    <dgm:cxn modelId="{71038A96-3802-4F10-B126-7E1A4E8547C3}" type="presParOf" srcId="{5DDE0181-CC0D-4037-8D90-E54BF27BB419}" destId="{41117623-80BB-4803-B49F-1CD6A6F901AD}" srcOrd="5" destOrd="0" presId="urn:microsoft.com/office/officeart/2005/8/layout/hList7"/>
    <dgm:cxn modelId="{548E27C7-B71C-4067-8F2B-FFDC71479BDA}" type="presParOf" srcId="{5DDE0181-CC0D-4037-8D90-E54BF27BB419}" destId="{50D809EC-28AB-42D4-9A47-D4AAF480FE41}" srcOrd="6" destOrd="0" presId="urn:microsoft.com/office/officeart/2005/8/layout/hList7"/>
    <dgm:cxn modelId="{20421FA9-842C-41C2-92F8-DD3C3C680F1F}" type="presParOf" srcId="{50D809EC-28AB-42D4-9A47-D4AAF480FE41}" destId="{8EC9CB0F-3043-46BE-99B2-BADBD0ABDE50}" srcOrd="0" destOrd="0" presId="urn:microsoft.com/office/officeart/2005/8/layout/hList7"/>
    <dgm:cxn modelId="{F2F0BF2C-FDA3-4E3C-BBD8-BFD473F6EEA7}" type="presParOf" srcId="{50D809EC-28AB-42D4-9A47-D4AAF480FE41}" destId="{50B9CCB0-F657-4CA4-AD6A-5C10E58C7D49}" srcOrd="1" destOrd="0" presId="urn:microsoft.com/office/officeart/2005/8/layout/hList7"/>
    <dgm:cxn modelId="{78428630-D4CE-4E5D-8A01-9B921714C8EC}" type="presParOf" srcId="{50D809EC-28AB-42D4-9A47-D4AAF480FE41}" destId="{D6CE93FE-DA51-44A8-BF7E-A61A1C5F3251}" srcOrd="2" destOrd="0" presId="urn:microsoft.com/office/officeart/2005/8/layout/hList7"/>
    <dgm:cxn modelId="{36D16A3D-6F59-4A29-8342-0E578390A9D8}" type="presParOf" srcId="{50D809EC-28AB-42D4-9A47-D4AAF480FE41}" destId="{D4526EF1-6E56-467F-A6CA-6648D55002C7}" srcOrd="3" destOrd="0" presId="urn:microsoft.com/office/officeart/2005/8/layout/hList7"/>
    <dgm:cxn modelId="{F4E5C565-6C12-4B4A-9718-794A4FFCD95A}" type="presParOf" srcId="{5DDE0181-CC0D-4037-8D90-E54BF27BB419}" destId="{4A133B74-FFEE-4172-B747-8F9C07471FCD}" srcOrd="7" destOrd="0" presId="urn:microsoft.com/office/officeart/2005/8/layout/hList7"/>
    <dgm:cxn modelId="{B01787FE-745D-43F7-A035-E4827C9EC174}" type="presParOf" srcId="{5DDE0181-CC0D-4037-8D90-E54BF27BB419}" destId="{966D98FB-FEDE-44F7-AC03-38C1184A60DA}" srcOrd="8" destOrd="0" presId="urn:microsoft.com/office/officeart/2005/8/layout/hList7"/>
    <dgm:cxn modelId="{75E376D1-603D-4F7A-B519-16B01D20EBA0}" type="presParOf" srcId="{966D98FB-FEDE-44F7-AC03-38C1184A60DA}" destId="{469E5EE1-9634-4834-AFFD-9CD7EC94C226}" srcOrd="0" destOrd="0" presId="urn:microsoft.com/office/officeart/2005/8/layout/hList7"/>
    <dgm:cxn modelId="{8E03546D-DC9E-4584-A5F0-9138D8146989}" type="presParOf" srcId="{966D98FB-FEDE-44F7-AC03-38C1184A60DA}" destId="{8D221D53-D738-449D-B092-A5DD5DA6CBD8}" srcOrd="1" destOrd="0" presId="urn:microsoft.com/office/officeart/2005/8/layout/hList7"/>
    <dgm:cxn modelId="{D9DE51AE-E57A-4D5B-B72E-9F3841C3528D}" type="presParOf" srcId="{966D98FB-FEDE-44F7-AC03-38C1184A60DA}" destId="{CB6159B3-6D61-4ED8-8BD5-8DD401052AAB}" srcOrd="2" destOrd="0" presId="urn:microsoft.com/office/officeart/2005/8/layout/hList7"/>
    <dgm:cxn modelId="{B0757ED2-02DF-4E12-B7DB-2FD070F4F7A2}" type="presParOf" srcId="{966D98FB-FEDE-44F7-AC03-38C1184A60DA}" destId="{C94E44A5-568E-4D96-B97D-FB26FD7DE399}" srcOrd="3" destOrd="0" presId="urn:microsoft.com/office/officeart/2005/8/layout/hList7"/>
    <dgm:cxn modelId="{22A32C72-5C48-4DD6-BF1E-536578BAE40C}" type="presParOf" srcId="{5DDE0181-CC0D-4037-8D90-E54BF27BB419}" destId="{8F607C77-B4AC-4482-9CD9-30CE428364F4}" srcOrd="9" destOrd="0" presId="urn:microsoft.com/office/officeart/2005/8/layout/hList7"/>
    <dgm:cxn modelId="{25F261B4-99D9-47DC-9308-B03170D909F5}" type="presParOf" srcId="{5DDE0181-CC0D-4037-8D90-E54BF27BB419}" destId="{7C499101-46E4-496A-859F-BF138EE27EDD}" srcOrd="10" destOrd="0" presId="urn:microsoft.com/office/officeart/2005/8/layout/hList7"/>
    <dgm:cxn modelId="{E4B3C2EE-3D82-42F0-A875-2F8C9C168D3E}" type="presParOf" srcId="{7C499101-46E4-496A-859F-BF138EE27EDD}" destId="{C560D73F-B009-4B28-8826-8DE5A5821CF1}" srcOrd="0" destOrd="0" presId="urn:microsoft.com/office/officeart/2005/8/layout/hList7"/>
    <dgm:cxn modelId="{0451B965-9AF9-4FBA-B520-3099D577AEED}" type="presParOf" srcId="{7C499101-46E4-496A-859F-BF138EE27EDD}" destId="{F1BF92D7-ECE1-4340-B434-636FB7825D82}" srcOrd="1" destOrd="0" presId="urn:microsoft.com/office/officeart/2005/8/layout/hList7"/>
    <dgm:cxn modelId="{16EE0EAE-D284-424C-8521-8860027E196D}" type="presParOf" srcId="{7C499101-46E4-496A-859F-BF138EE27EDD}" destId="{7D5D3A8A-0A67-43B6-8B27-9CCCB6F70F08}" srcOrd="2" destOrd="0" presId="urn:microsoft.com/office/officeart/2005/8/layout/hList7"/>
    <dgm:cxn modelId="{B65A4DCD-5719-4872-BB80-6D1C6ABAEB43}" type="presParOf" srcId="{7C499101-46E4-496A-859F-BF138EE27EDD}" destId="{812D724E-F0DD-4D8A-9D0D-ED0EBED340E7}" srcOrd="3" destOrd="0" presId="urn:microsoft.com/office/officeart/2005/8/layout/hList7"/>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just"/>
          <a:r>
            <a:rPr lang="fr-FR" sz="1400" dirty="0" smtClean="0"/>
            <a:t>Le déploiement et la gestion d'applications ont été profondément transformés par l'avènement de la </a:t>
          </a:r>
          <a:r>
            <a:rPr lang="fr-FR" sz="1400" b="1" dirty="0" smtClean="0"/>
            <a:t>conteneurisation</a:t>
          </a:r>
          <a:r>
            <a:rPr lang="fr-FR" sz="1400" dirty="0" smtClean="0"/>
            <a:t> (notamment avec </a:t>
          </a:r>
          <a:r>
            <a:rPr lang="fr-FR" sz="1400" b="1" dirty="0" smtClean="0"/>
            <a:t>Docker</a:t>
          </a:r>
          <a:r>
            <a:rPr lang="fr-FR" sz="1400" dirty="0" smtClean="0"/>
            <a:t>) et de l'</a:t>
          </a:r>
          <a:r>
            <a:rPr lang="fr-FR" sz="1400" b="1" dirty="0" smtClean="0"/>
            <a:t>orchestration</a:t>
          </a:r>
          <a:r>
            <a:rPr lang="fr-FR" sz="1400" dirty="0" smtClean="0"/>
            <a:t> (avec </a:t>
          </a:r>
          <a:r>
            <a:rPr lang="fr-FR" sz="1400" b="1" dirty="0" err="1" smtClean="0"/>
            <a:t>Kubernetes</a:t>
          </a:r>
          <a:r>
            <a:rPr lang="fr-FR" sz="1400" dirty="0" smtClean="0"/>
            <a:t>). Ces technologies offrent des avantages indéniables en terme de portabilité, de </a:t>
          </a:r>
          <a:r>
            <a:rPr lang="fr-FR" sz="1400" dirty="0" err="1" smtClean="0"/>
            <a:t>scalabilité</a:t>
          </a:r>
          <a:r>
            <a:rPr lang="fr-FR" sz="1400" dirty="0" smtClean="0"/>
            <a:t>, d'isolation et d'efficacité des ressources.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600" dirty="0" smtClean="0"/>
            <a:t>Cependant, le passage des applications web existantes, souvent conçues avec des architectures monolithiques et des dépendances complexes, vers cet environnement conteneurisé représente un défi significatif. </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600" dirty="0" smtClean="0"/>
            <a:t>Au Cameroun, la migration des applications web existantes demeure un défi majeur pour de nombreuses entités publiques, parapublique</a:t>
          </a:r>
          <a:r>
            <a:rPr lang="fr-CM" sz="1600" dirty="0" smtClean="0"/>
            <a:t>s </a:t>
          </a:r>
          <a:r>
            <a:rPr lang="fr-FR" sz="1600" dirty="0" smtClean="0"/>
            <a:t>et privée</a:t>
          </a:r>
          <a:r>
            <a:rPr lang="fr-CM" sz="1600" dirty="0" smtClean="0"/>
            <a:t>s</a:t>
          </a:r>
          <a:endParaRPr lang="fr-FR" sz="1600" dirty="0">
            <a:latin typeface="Century Gothic" panose="020B0502020202020204" pitchFamily="34" charset="0"/>
          </a:endParaRPr>
        </a:p>
      </dgm:t>
    </dgm:pt>
    <dgm:pt modelId="{A4FB0CBE-ED7D-4295-BEB0-883608397777}" type="sibTrans" cxnId="{30A2B294-49FF-479E-B3FF-3FF3076F7EB5}">
      <dgm:prSet/>
      <dgm:spPr/>
      <dgm:t>
        <a:bodyPr/>
        <a:lstStyle/>
        <a:p>
          <a:endParaRPr lang="fr-FR"/>
        </a:p>
      </dgm:t>
    </dgm:pt>
    <dgm:pt modelId="{14FF457F-763A-460A-B471-3BA2C0231FAC}" type="par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87321">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20962" custLinFactNeighborY="7792">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55907">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solidFill>
                <a:schemeClr val="bg1"/>
              </a:solidFill>
              <a:effectLst/>
              <a:latin typeface="+mn-lt"/>
              <a:ea typeface="+mn-ea"/>
              <a:cs typeface="+mn-cs"/>
            </a:rPr>
            <a:t>Bien qu’il existe des outils comme « Docker » pour assurer cette migration et malgré les avantages indéniables offerts par la conteneurisation, ces entreprises peinent à effectuer cette transition par manque d’expertise </a:t>
          </a:r>
          <a:r>
            <a:rPr lang="fr-FR" sz="1400" dirty="0" err="1" smtClean="0">
              <a:solidFill>
                <a:schemeClr val="bg1"/>
              </a:solidFill>
              <a:effectLst/>
              <a:latin typeface="+mn-lt"/>
              <a:ea typeface="+mn-ea"/>
              <a:cs typeface="+mn-cs"/>
            </a:rPr>
            <a:t>DevOps</a:t>
          </a:r>
          <a:r>
            <a:rPr lang="fr-FR" sz="1400" dirty="0" smtClean="0">
              <a:solidFill>
                <a:schemeClr val="tx1"/>
              </a:solidFill>
              <a:effectLst/>
              <a:latin typeface="+mn-lt"/>
              <a:ea typeface="+mn-ea"/>
              <a:cs typeface="+mn-cs"/>
            </a:rPr>
            <a:t>. </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400" dirty="0" smtClean="0"/>
            <a:t>Le choix de ce thème se justifie pour plusieurs raisons à savoir :</a:t>
          </a:r>
          <a:endParaRPr lang="en-US" sz="1400" dirty="0" smtClean="0"/>
        </a:p>
        <a:p>
          <a:r>
            <a:rPr lang="fr-FR" sz="1200" b="1" dirty="0" smtClean="0"/>
            <a:t>Actualité technologique :</a:t>
          </a:r>
          <a:r>
            <a:rPr lang="fr-FR" sz="1200" dirty="0" smtClean="0"/>
            <a:t> La conteneurisation est au cœur des architectures logicielles modernes (</a:t>
          </a:r>
          <a:r>
            <a:rPr lang="fr-FR" sz="1200" dirty="0" err="1" smtClean="0"/>
            <a:t>DevOps</a:t>
          </a:r>
          <a:r>
            <a:rPr lang="fr-FR" sz="1200" dirty="0" smtClean="0"/>
            <a:t>, Cloud-Native).</a:t>
          </a:r>
        </a:p>
        <a:p>
          <a:r>
            <a:rPr lang="fr-FR" sz="1200" b="1" dirty="0" smtClean="0"/>
            <a:t>Demande du marché :</a:t>
          </a:r>
          <a:r>
            <a:rPr lang="fr-FR" sz="1200" dirty="0" smtClean="0"/>
            <a:t> Les entreprises cherchent activement des experts capables de gérer la transition vers des environnements conteneurisés.</a:t>
          </a:r>
          <a:endParaRPr lang="fr-FR" sz="12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400" dirty="0" smtClean="0"/>
            <a:t>C’est dans cet ordre d’idée que nous nous sommes intéressés à informatiser une solution pour permettre à toutes les structures souhaitant accélérer la transition vers des architectures modernes sans nécessité de compétences </a:t>
          </a:r>
          <a:r>
            <a:rPr lang="fr-FR" sz="1400" dirty="0" err="1" smtClean="0"/>
            <a:t>DevOps</a:t>
          </a:r>
          <a:r>
            <a:rPr lang="fr-FR" sz="1400" dirty="0" smtClean="0"/>
            <a:t>.</a:t>
          </a:r>
          <a:endParaRPr lang="fr-FR" sz="14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80743"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2">
            <a:lumMod val="50000"/>
          </a:schemeClr>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t>Au Cameroun, une grande partie du patrimoine applicatif est constituée d'applications web développées sur des architectures plus traditionnelles (monolithique ou 3-tiers), souvent déployées directement sur des serveurs physiques ou des machines virtuelles, avec des dépendances complexes et des configurations spécifiques à leur environnement d'origine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100" dirty="0" smtClean="0"/>
            <a:t>En effet, ces infrastructures traditionnelles présentent plusieurs limitations à savoir :</a:t>
          </a:r>
          <a:endParaRPr lang="en-US" sz="1100" dirty="0" smtClean="0"/>
        </a:p>
        <a:p>
          <a:r>
            <a:rPr lang="fr-FR" sz="1100" b="1" dirty="0" smtClean="0"/>
            <a:t>- Problèmes de portabilité</a:t>
          </a:r>
          <a:r>
            <a:rPr lang="fr-FR" sz="1100" dirty="0" smtClean="0"/>
            <a:t> entre environnements (développement, test, production) </a:t>
          </a:r>
          <a:endParaRPr lang="en-US" sz="1100" dirty="0" smtClean="0"/>
        </a:p>
        <a:p>
          <a:r>
            <a:rPr lang="fr-FR" sz="1100" b="1" dirty="0" smtClean="0"/>
            <a:t>- Dépendances système</a:t>
          </a:r>
          <a:r>
            <a:rPr lang="fr-FR" sz="1100" dirty="0" smtClean="0"/>
            <a:t> complexes et difficiles à reproduire</a:t>
          </a:r>
          <a:endParaRPr lang="en-US" sz="1100" dirty="0" smtClean="0"/>
        </a:p>
        <a:p>
          <a:r>
            <a:rPr lang="fr-FR" sz="1100" b="1" dirty="0" smtClean="0"/>
            <a:t>- </a:t>
          </a:r>
          <a:r>
            <a:rPr lang="fr-FR" sz="1100" b="1" dirty="0" err="1" smtClean="0"/>
            <a:t>Scalabilité</a:t>
          </a:r>
          <a:r>
            <a:rPr lang="fr-FR" sz="1100" dirty="0" smtClean="0"/>
            <a:t> coûteuse (ajout de ressources matérielles)</a:t>
          </a:r>
          <a:endParaRPr lang="fr-FR" sz="11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100" b="1" dirty="0" smtClean="0"/>
            <a:t>-Problème de la Cohabitation</a:t>
          </a:r>
          <a:r>
            <a:rPr lang="fr-FR" sz="1100" dirty="0" smtClean="0"/>
            <a:t> entre Applications déployées</a:t>
          </a:r>
          <a:endParaRPr lang="en-US" sz="1100" dirty="0" smtClean="0"/>
        </a:p>
        <a:p>
          <a:r>
            <a:rPr lang="fr-FR" sz="1100" b="1" dirty="0" smtClean="0"/>
            <a:t>-Temps de déploiement</a:t>
          </a:r>
          <a:r>
            <a:rPr lang="fr-FR" sz="1100" dirty="0" smtClean="0"/>
            <a:t> longs pour les nouvelles versions</a:t>
          </a:r>
          <a:endParaRPr lang="en-US" sz="1100" dirty="0" smtClean="0"/>
        </a:p>
        <a:p>
          <a:r>
            <a:rPr lang="fr-FR" sz="1100" b="1" dirty="0" smtClean="0"/>
            <a:t>-Problème d’optimisation des ressources utilisés.</a:t>
          </a:r>
        </a:p>
        <a:p>
          <a:r>
            <a:rPr lang="fr-FR" sz="1100" dirty="0" smtClean="0"/>
            <a:t>Cette problématique nous amène a formuler les questions de recherche suivant:</a:t>
          </a:r>
          <a:endParaRPr lang="fr-FR" sz="11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47512"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2">
            <a:lumMod val="50000"/>
          </a:schemeClr>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Objectifs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t>L’objectif principal est de permette à toute structure souhaitant faire une migration d’une application web existant vers un environnement conteneurisé sans exiger de compétences techniques avancées.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100" dirty="0" smtClean="0"/>
            <a:t>Les objectifs spécifiques sont les suivants:</a:t>
          </a:r>
          <a:endParaRPr lang="en-US" sz="1100" dirty="0" smtClean="0"/>
        </a:p>
        <a:p>
          <a:r>
            <a:rPr lang="fr-FR" sz="1100" dirty="0" smtClean="0"/>
            <a:t>Réduire le temps et la complexité de la containerisation d’une application web ; </a:t>
          </a:r>
          <a:endParaRPr lang="en-US" sz="1100" dirty="0" smtClean="0"/>
        </a:p>
        <a:p>
          <a:r>
            <a:rPr lang="fr-FR" sz="1100" dirty="0" smtClean="0"/>
            <a:t>Réduire le temps de déploiement et de redéploiement ;</a:t>
          </a:r>
          <a:endParaRPr lang="en-US" sz="1100" dirty="0" smtClean="0"/>
        </a:p>
        <a:p>
          <a:r>
            <a:rPr lang="fr-FR" sz="1100" dirty="0" smtClean="0"/>
            <a:t>Résoudre le problème de portabilité entre les environnements ;</a:t>
          </a:r>
          <a:endParaRPr lang="en-US" sz="1100" dirty="0" smtClean="0"/>
        </a:p>
        <a:p>
          <a:r>
            <a:rPr lang="fr-FR" sz="1100" dirty="0" smtClean="0"/>
            <a:t>Résoudre le problème de cohabitation des applications sur le même serveur ;</a:t>
          </a:r>
          <a:endParaRPr lang="fr-FR" sz="11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100" dirty="0" smtClean="0"/>
            <a:t>Optimiser les processus de migration en réduisant les erreurs humaines, en accélérant les délais et en libérant des ressources humaines pour des tâches à plus forte valeur ajoutée ;</a:t>
          </a:r>
          <a:endParaRPr lang="en-US" sz="1100" dirty="0" smtClean="0"/>
        </a:p>
        <a:p>
          <a:r>
            <a:rPr lang="fr-FR" sz="1100" dirty="0" smtClean="0"/>
            <a:t>Optimiser l’utilisation des ressources ;</a:t>
          </a:r>
          <a:endParaRPr lang="en-US" sz="1100" dirty="0" smtClean="0"/>
        </a:p>
        <a:p>
          <a:r>
            <a:rPr lang="fr-FR" sz="1100" dirty="0" smtClean="0"/>
            <a:t>Permettre une transition fluide vers des orchestrateurs comme </a:t>
          </a:r>
          <a:r>
            <a:rPr lang="fr-FR" sz="1100" dirty="0" err="1" smtClean="0"/>
            <a:t>Kubernetes</a:t>
          </a:r>
          <a:r>
            <a:rPr lang="fr-FR" sz="1100" dirty="0" smtClean="0"/>
            <a:t> pour pallier au problème de monté en charge. </a:t>
          </a:r>
          <a:endParaRPr lang="fr-FR" sz="11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47512"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454D4FFF-BB2E-44B2-90D6-7EB6372F8CE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A245D709-19D6-4B68-A885-60CDF244931F}" type="parTrans" cxnId="{209D407C-CDA2-49FF-9665-0E65ADC61366}">
      <dgm:prSet/>
      <dgm:spPr/>
      <dgm:t>
        <a:bodyPr/>
        <a:lstStyle/>
        <a:p>
          <a:endParaRPr lang="fr-FR"/>
        </a:p>
      </dgm:t>
    </dgm:pt>
    <dgm:pt modelId="{C71591DF-9B37-4E5A-88B4-BB9D27E842E1}" type="sibTrans" cxnId="{209D407C-CDA2-49FF-9665-0E65ADC61366}">
      <dgm:prSet/>
      <dgm:spPr/>
      <dgm:t>
        <a:bodyPr/>
        <a:lstStyle/>
        <a:p>
          <a:endParaRPr lang="fr-FR"/>
        </a:p>
      </dgm:t>
    </dgm:pt>
    <dgm:pt modelId="{E480B8BC-CEAC-4275-BB9C-DF84147738E7}">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1259B184-B504-499C-8A0D-650635CD10A3}" type="parTrans" cxnId="{A65104EB-3030-40A6-A62E-E13B14470619}">
      <dgm:prSet/>
      <dgm:spPr/>
      <dgm:t>
        <a:bodyPr/>
        <a:lstStyle/>
        <a:p>
          <a:endParaRPr lang="fr-FR"/>
        </a:p>
      </dgm:t>
    </dgm:pt>
    <dgm:pt modelId="{D1DC1EDB-C356-4D98-9922-CF31B3F63BD5}" type="sibTrans" cxnId="{A65104EB-3030-40A6-A62E-E13B14470619}">
      <dgm:prSet/>
      <dgm:spPr/>
      <dgm:t>
        <a:bodyPr/>
        <a:lstStyle/>
        <a:p>
          <a:endParaRPr lang="fr-FR"/>
        </a:p>
      </dgm:t>
    </dgm:pt>
    <dgm:pt modelId="{6D8DCA49-8AEC-4018-9248-50CC482CEEA9}">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C3D88A48-D4C0-4ABC-A701-AC64DEEA8D35}" type="parTrans" cxnId="{C7ED0363-6555-4AAE-A81D-CD30A96ECECA}">
      <dgm:prSet/>
      <dgm:spPr/>
      <dgm:t>
        <a:bodyPr/>
        <a:lstStyle/>
        <a:p>
          <a:endParaRPr lang="fr-FR"/>
        </a:p>
      </dgm:t>
    </dgm:pt>
    <dgm:pt modelId="{5C4400B2-2480-4621-8A22-D01CCF4FE754}" type="sibTrans" cxnId="{C7ED0363-6555-4AAE-A81D-CD30A96ECECA}">
      <dgm:prSet/>
      <dgm:spPr/>
      <dgm:t>
        <a:bodyPr/>
        <a:lstStyle/>
        <a:p>
          <a:endParaRPr lang="fr-FR"/>
        </a:p>
      </dgm:t>
    </dgm:pt>
    <dgm:pt modelId="{640ACCD9-93B3-4529-A643-83C07E52F2E7}">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2799E75-F5D6-4725-B60F-444A2B83A3B8}" type="parTrans" cxnId="{8377F9F0-88E5-4FB3-93DA-1BBEDDBF5880}">
      <dgm:prSet/>
      <dgm:spPr/>
      <dgm:t>
        <a:bodyPr/>
        <a:lstStyle/>
        <a:p>
          <a:endParaRPr lang="fr-FR"/>
        </a:p>
      </dgm:t>
    </dgm:pt>
    <dgm:pt modelId="{8A420F2C-48A0-40C0-A0E5-68DA57F986CA}" type="sibTrans" cxnId="{8377F9F0-88E5-4FB3-93DA-1BBEDDBF5880}">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E13A1D4-5EC4-45E5-AB18-4FC74C9EA35A}" type="pres">
      <dgm:prSet presAssocID="{454D4FFF-BB2E-44B2-90D6-7EB6372F8CE1}" presName="textNode" presStyleLbl="node1" presStyleIdx="0" presStyleCnt="4">
        <dgm:presLayoutVars>
          <dgm:bulletEnabled val="1"/>
        </dgm:presLayoutVars>
      </dgm:prSet>
      <dgm:spPr/>
      <dgm:t>
        <a:bodyPr/>
        <a:lstStyle/>
        <a:p>
          <a:endParaRPr lang="fr-FR"/>
        </a:p>
      </dgm:t>
    </dgm:pt>
    <dgm:pt modelId="{03E0B86B-2754-4451-8D85-A88C57750CB2}" type="pres">
      <dgm:prSet presAssocID="{C71591DF-9B37-4E5A-88B4-BB9D27E842E1}" presName="sibTrans" presStyleCnt="0"/>
      <dgm:spPr/>
    </dgm:pt>
    <dgm:pt modelId="{5F394919-D831-42AB-963C-0CE06D87EC96}" type="pres">
      <dgm:prSet presAssocID="{E480B8BC-CEAC-4275-BB9C-DF84147738E7}" presName="textNode" presStyleLbl="node1" presStyleIdx="1" presStyleCnt="4">
        <dgm:presLayoutVars>
          <dgm:bulletEnabled val="1"/>
        </dgm:presLayoutVars>
      </dgm:prSet>
      <dgm:spPr/>
      <dgm:t>
        <a:bodyPr/>
        <a:lstStyle/>
        <a:p>
          <a:endParaRPr lang="fr-FR"/>
        </a:p>
      </dgm:t>
    </dgm:pt>
    <dgm:pt modelId="{6CEEE07D-25F2-4512-AE30-B352B53C720A}" type="pres">
      <dgm:prSet presAssocID="{D1DC1EDB-C356-4D98-9922-CF31B3F63BD5}" presName="sibTrans" presStyleCnt="0"/>
      <dgm:spPr/>
    </dgm:pt>
    <dgm:pt modelId="{4FC4F54B-9C40-470C-8E3C-D032989E9BAE}" type="pres">
      <dgm:prSet presAssocID="{6D8DCA49-8AEC-4018-9248-50CC482CEEA9}" presName="textNode" presStyleLbl="node1" presStyleIdx="2" presStyleCnt="4">
        <dgm:presLayoutVars>
          <dgm:bulletEnabled val="1"/>
        </dgm:presLayoutVars>
      </dgm:prSet>
      <dgm:spPr/>
      <dgm:t>
        <a:bodyPr/>
        <a:lstStyle/>
        <a:p>
          <a:endParaRPr lang="fr-FR"/>
        </a:p>
      </dgm:t>
    </dgm:pt>
    <dgm:pt modelId="{D44571F7-8911-41D2-AA47-A25B59981800}" type="pres">
      <dgm:prSet presAssocID="{5C4400B2-2480-4621-8A22-D01CCF4FE754}" presName="sibTrans" presStyleCnt="0"/>
      <dgm:spPr/>
    </dgm:pt>
    <dgm:pt modelId="{6F472B61-C1BF-42A1-A9B7-51EFB594C58F}" type="pres">
      <dgm:prSet presAssocID="{640ACCD9-93B3-4529-A643-83C07E52F2E7}" presName="textNode" presStyleLbl="node1" presStyleIdx="3" presStyleCnt="4">
        <dgm:presLayoutVars>
          <dgm:bulletEnabled val="1"/>
        </dgm:presLayoutVars>
      </dgm:prSet>
      <dgm:spPr/>
      <dgm:t>
        <a:bodyPr/>
        <a:lstStyle/>
        <a:p>
          <a:endParaRPr lang="fr-FR"/>
        </a:p>
      </dgm:t>
    </dgm:pt>
  </dgm:ptLst>
  <dgm:cxnLst>
    <dgm:cxn modelId="{43AF5F7E-4068-415D-80D9-5476C9BF667C}" type="presOf" srcId="{640ACCD9-93B3-4529-A643-83C07E52F2E7}" destId="{6F472B61-C1BF-42A1-A9B7-51EFB594C58F}" srcOrd="0" destOrd="0" presId="urn:microsoft.com/office/officeart/2005/8/layout/hProcess9"/>
    <dgm:cxn modelId="{2DA3B416-AF72-455F-B810-3FB8E3105426}" type="presOf" srcId="{E480B8BC-CEAC-4275-BB9C-DF84147738E7}" destId="{5F394919-D831-42AB-963C-0CE06D87EC96}" srcOrd="0" destOrd="0" presId="urn:microsoft.com/office/officeart/2005/8/layout/hProcess9"/>
    <dgm:cxn modelId="{8377F9F0-88E5-4FB3-93DA-1BBEDDBF5880}" srcId="{82DFE9FE-1687-4528-A3F2-F4F4447223BC}" destId="{640ACCD9-93B3-4529-A643-83C07E52F2E7}" srcOrd="3" destOrd="0" parTransId="{42799E75-F5D6-4725-B60F-444A2B83A3B8}" sibTransId="{8A420F2C-48A0-40C0-A0E5-68DA57F986CA}"/>
    <dgm:cxn modelId="{A27B87C8-AC21-427B-A87E-DD5CE63A4E91}" type="presOf" srcId="{82DFE9FE-1687-4528-A3F2-F4F4447223BC}" destId="{D9FA8967-E7F3-408B-BF2B-70ABFA382E15}" srcOrd="0" destOrd="0" presId="urn:microsoft.com/office/officeart/2005/8/layout/hProcess9"/>
    <dgm:cxn modelId="{C7ED0363-6555-4AAE-A81D-CD30A96ECECA}" srcId="{82DFE9FE-1687-4528-A3F2-F4F4447223BC}" destId="{6D8DCA49-8AEC-4018-9248-50CC482CEEA9}" srcOrd="2" destOrd="0" parTransId="{C3D88A48-D4C0-4ABC-A701-AC64DEEA8D35}" sibTransId="{5C4400B2-2480-4621-8A22-D01CCF4FE754}"/>
    <dgm:cxn modelId="{209D407C-CDA2-49FF-9665-0E65ADC61366}" srcId="{82DFE9FE-1687-4528-A3F2-F4F4447223BC}" destId="{454D4FFF-BB2E-44B2-90D6-7EB6372F8CE1}" srcOrd="0" destOrd="0" parTransId="{A245D709-19D6-4B68-A885-60CDF244931F}" sibTransId="{C71591DF-9B37-4E5A-88B4-BB9D27E842E1}"/>
    <dgm:cxn modelId="{A65104EB-3030-40A6-A62E-E13B14470619}" srcId="{82DFE9FE-1687-4528-A3F2-F4F4447223BC}" destId="{E480B8BC-CEAC-4275-BB9C-DF84147738E7}" srcOrd="1" destOrd="0" parTransId="{1259B184-B504-499C-8A0D-650635CD10A3}" sibTransId="{D1DC1EDB-C356-4D98-9922-CF31B3F63BD5}"/>
    <dgm:cxn modelId="{AFCF8BFA-05B9-4746-8D39-57533440BE7F}" type="presOf" srcId="{454D4FFF-BB2E-44B2-90D6-7EB6372F8CE1}" destId="{4E13A1D4-5EC4-45E5-AB18-4FC74C9EA35A}" srcOrd="0" destOrd="0" presId="urn:microsoft.com/office/officeart/2005/8/layout/hProcess9"/>
    <dgm:cxn modelId="{7554719B-B1FC-4A84-8273-4FBC09FD6499}" type="presOf" srcId="{6D8DCA49-8AEC-4018-9248-50CC482CEEA9}" destId="{4FC4F54B-9C40-470C-8E3C-D032989E9BAE}"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E45ACCB4-52A6-42C9-A556-89F25A2894BC}" type="presParOf" srcId="{545BDE8F-985A-4B6C-B5FD-A65F9E8FC166}" destId="{4E13A1D4-5EC4-45E5-AB18-4FC74C9EA35A}" srcOrd="0" destOrd="0" presId="urn:microsoft.com/office/officeart/2005/8/layout/hProcess9"/>
    <dgm:cxn modelId="{2A9ADC45-79A8-467C-A057-95F7CB25418C}" type="presParOf" srcId="{545BDE8F-985A-4B6C-B5FD-A65F9E8FC166}" destId="{03E0B86B-2754-4451-8D85-A88C57750CB2}" srcOrd="1" destOrd="0" presId="urn:microsoft.com/office/officeart/2005/8/layout/hProcess9"/>
    <dgm:cxn modelId="{9732A966-CA7B-4E3C-B52C-183B7B1E5F27}" type="presParOf" srcId="{545BDE8F-985A-4B6C-B5FD-A65F9E8FC166}" destId="{5F394919-D831-42AB-963C-0CE06D87EC96}" srcOrd="2" destOrd="0" presId="urn:microsoft.com/office/officeart/2005/8/layout/hProcess9"/>
    <dgm:cxn modelId="{47ECE42E-285A-43A4-946D-E8EE815F5437}" type="presParOf" srcId="{545BDE8F-985A-4B6C-B5FD-A65F9E8FC166}" destId="{6CEEE07D-25F2-4512-AE30-B352B53C720A}" srcOrd="3" destOrd="0" presId="urn:microsoft.com/office/officeart/2005/8/layout/hProcess9"/>
    <dgm:cxn modelId="{56B6F552-B0F0-4A81-8822-FBB4E0CDCB5C}" type="presParOf" srcId="{545BDE8F-985A-4B6C-B5FD-A65F9E8FC166}" destId="{4FC4F54B-9C40-470C-8E3C-D032989E9BAE}" srcOrd="4" destOrd="0" presId="urn:microsoft.com/office/officeart/2005/8/layout/hProcess9"/>
    <dgm:cxn modelId="{DAB673FD-21C7-4028-B747-8E44FA283622}" type="presParOf" srcId="{545BDE8F-985A-4B6C-B5FD-A65F9E8FC166}" destId="{D44571F7-8911-41D2-AA47-A25B59981800}" srcOrd="5" destOrd="0" presId="urn:microsoft.com/office/officeart/2005/8/layout/hProcess9"/>
    <dgm:cxn modelId="{F7F3ACAA-419B-4D6E-BECF-3AA2C0A2E714}" type="presParOf" srcId="{545BDE8F-985A-4B6C-B5FD-A65F9E8FC166}" destId="{6F472B61-C1BF-42A1-A9B7-51EFB594C58F}"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55BB7923-80BE-4184-86BB-E5DF90343EDB}">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BCE07F2-E8ED-4DF2-AB83-AFA908D86E74}" type="parTrans" cxnId="{E6E78F7F-2D31-44D5-AED8-228EB8A88D37}">
      <dgm:prSet/>
      <dgm:spPr/>
      <dgm:t>
        <a:bodyPr/>
        <a:lstStyle/>
        <a:p>
          <a:endParaRPr lang="fr-FR"/>
        </a:p>
      </dgm:t>
    </dgm:pt>
    <dgm:pt modelId="{91AEAA19-5D72-435C-A8D8-6FEB15B17F62}" type="sibTrans" cxnId="{E6E78F7F-2D31-44D5-AED8-228EB8A88D37}">
      <dgm:prSet/>
      <dgm:spPr/>
      <dgm:t>
        <a:bodyPr/>
        <a:lstStyle/>
        <a:p>
          <a:endParaRPr lang="fr-FR"/>
        </a:p>
      </dgm:t>
    </dgm:pt>
    <dgm:pt modelId="{7B71CA89-2FC0-4A6B-A34C-BAC6B814C35F}">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F79D789-7B77-4E07-B7F8-8421AD214088}" type="parTrans" cxnId="{E3D388C1-4A5A-449B-9E0B-86C8FD0D893B}">
      <dgm:prSet/>
      <dgm:spPr/>
      <dgm:t>
        <a:bodyPr/>
        <a:lstStyle/>
        <a:p>
          <a:endParaRPr lang="fr-FR"/>
        </a:p>
      </dgm:t>
    </dgm:pt>
    <dgm:pt modelId="{809AA4AF-7ECD-4242-A7D6-F0CB82EF8E46}" type="sibTrans" cxnId="{E3D388C1-4A5A-449B-9E0B-86C8FD0D893B}">
      <dgm:prSet/>
      <dgm:spPr/>
      <dgm:t>
        <a:bodyPr/>
        <a:lstStyle/>
        <a:p>
          <a:endParaRPr lang="fr-FR"/>
        </a:p>
      </dgm:t>
    </dgm:pt>
    <dgm:pt modelId="{B519142F-63F8-496D-BDD2-3653CECCC30E}">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Outils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21FF3BD1-A6A0-496C-B428-4C00B348EE51}" type="parTrans" cxnId="{7F6304F7-E9E2-4E87-9820-277553B31D5C}">
      <dgm:prSet/>
      <dgm:spPr/>
      <dgm:t>
        <a:bodyPr/>
        <a:lstStyle/>
        <a:p>
          <a:endParaRPr lang="fr-FR"/>
        </a:p>
      </dgm:t>
    </dgm:pt>
    <dgm:pt modelId="{C11C6FBD-0122-4393-A887-66DD70AFD56A}" type="sibTrans" cxnId="{7F6304F7-E9E2-4E87-9820-277553B31D5C}">
      <dgm:prSet/>
      <dgm:spPr/>
      <dgm:t>
        <a:bodyPr/>
        <a:lstStyle/>
        <a:p>
          <a:endParaRPr lang="fr-FR"/>
        </a:p>
      </dgm:t>
    </dgm:pt>
    <dgm:pt modelId="{82B52DE6-2B6D-4C63-B6D1-8FF5CA0D95F4}">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37BE435-AFC0-46D6-ADE7-15762215CBE3}" type="parTrans" cxnId="{B3260043-6AA0-4ADB-B42B-F7F75096D0CF}">
      <dgm:prSet/>
      <dgm:spPr/>
      <dgm:t>
        <a:bodyPr/>
        <a:lstStyle/>
        <a:p>
          <a:endParaRPr lang="fr-FR"/>
        </a:p>
      </dgm:t>
    </dgm:pt>
    <dgm:pt modelId="{8C2C24ED-ACF4-4861-9087-41547E359E7E}" type="sibTrans" cxnId="{B3260043-6AA0-4ADB-B42B-F7F75096D0CF}">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23D0E6B2-4535-4EEC-8CEB-5A5B0F2BE6BC}" type="pres">
      <dgm:prSet presAssocID="{55BB7923-80BE-4184-86BB-E5DF90343EDB}" presName="textNode" presStyleLbl="node1" presStyleIdx="0" presStyleCnt="4">
        <dgm:presLayoutVars>
          <dgm:bulletEnabled val="1"/>
        </dgm:presLayoutVars>
      </dgm:prSet>
      <dgm:spPr/>
      <dgm:t>
        <a:bodyPr/>
        <a:lstStyle/>
        <a:p>
          <a:endParaRPr lang="fr-FR"/>
        </a:p>
      </dgm:t>
    </dgm:pt>
    <dgm:pt modelId="{387713FF-7355-4056-BDD9-12BAB2852A05}" type="pres">
      <dgm:prSet presAssocID="{91AEAA19-5D72-435C-A8D8-6FEB15B17F62}" presName="sibTrans" presStyleCnt="0"/>
      <dgm:spPr/>
    </dgm:pt>
    <dgm:pt modelId="{025425B7-F0F9-46F0-90B9-8FE8060FFFF1}" type="pres">
      <dgm:prSet presAssocID="{7B71CA89-2FC0-4A6B-A34C-BAC6B814C35F}" presName="textNode" presStyleLbl="node1" presStyleIdx="1" presStyleCnt="4">
        <dgm:presLayoutVars>
          <dgm:bulletEnabled val="1"/>
        </dgm:presLayoutVars>
      </dgm:prSet>
      <dgm:spPr/>
      <dgm:t>
        <a:bodyPr/>
        <a:lstStyle/>
        <a:p>
          <a:endParaRPr lang="fr-FR"/>
        </a:p>
      </dgm:t>
    </dgm:pt>
    <dgm:pt modelId="{096E4C5E-F114-4F83-A21F-91FB7315D335}" type="pres">
      <dgm:prSet presAssocID="{809AA4AF-7ECD-4242-A7D6-F0CB82EF8E46}" presName="sibTrans" presStyleCnt="0"/>
      <dgm:spPr/>
    </dgm:pt>
    <dgm:pt modelId="{7D61442E-64A6-4A50-BE40-30100C118867}" type="pres">
      <dgm:prSet presAssocID="{B519142F-63F8-496D-BDD2-3653CECCC30E}" presName="textNode" presStyleLbl="node1" presStyleIdx="2" presStyleCnt="4">
        <dgm:presLayoutVars>
          <dgm:bulletEnabled val="1"/>
        </dgm:presLayoutVars>
      </dgm:prSet>
      <dgm:spPr/>
      <dgm:t>
        <a:bodyPr/>
        <a:lstStyle/>
        <a:p>
          <a:endParaRPr lang="fr-FR"/>
        </a:p>
      </dgm:t>
    </dgm:pt>
    <dgm:pt modelId="{99CBF64D-6351-4587-95FB-A1167F7D0979}" type="pres">
      <dgm:prSet presAssocID="{C11C6FBD-0122-4393-A887-66DD70AFD56A}" presName="sibTrans" presStyleCnt="0"/>
      <dgm:spPr/>
    </dgm:pt>
    <dgm:pt modelId="{1E465EEE-1A41-4A94-B6A8-59EF8B504F3E}" type="pres">
      <dgm:prSet presAssocID="{82B52DE6-2B6D-4C63-B6D1-8FF5CA0D95F4}" presName="textNode" presStyleLbl="node1" presStyleIdx="3" presStyleCnt="4">
        <dgm:presLayoutVars>
          <dgm:bulletEnabled val="1"/>
        </dgm:presLayoutVars>
      </dgm:prSet>
      <dgm:spPr/>
      <dgm:t>
        <a:bodyPr/>
        <a:lstStyle/>
        <a:p>
          <a:endParaRPr lang="fr-FR"/>
        </a:p>
      </dgm:t>
    </dgm:pt>
  </dgm:ptLst>
  <dgm:cxnLst>
    <dgm:cxn modelId="{E6E78F7F-2D31-44D5-AED8-228EB8A88D37}" srcId="{82DFE9FE-1687-4528-A3F2-F4F4447223BC}" destId="{55BB7923-80BE-4184-86BB-E5DF90343EDB}" srcOrd="0" destOrd="0" parTransId="{9BCE07F2-E8ED-4DF2-AB83-AFA908D86E74}" sibTransId="{91AEAA19-5D72-435C-A8D8-6FEB15B17F62}"/>
    <dgm:cxn modelId="{B93CF8EA-EC33-454C-AD11-5242FFC62123}" type="presOf" srcId="{7B71CA89-2FC0-4A6B-A34C-BAC6B814C35F}" destId="{025425B7-F0F9-46F0-90B9-8FE8060FFFF1}" srcOrd="0" destOrd="0" presId="urn:microsoft.com/office/officeart/2005/8/layout/hProcess9"/>
    <dgm:cxn modelId="{4CA27ED7-B65E-4751-A947-52183446E4BC}" type="presOf" srcId="{82B52DE6-2B6D-4C63-B6D1-8FF5CA0D95F4}" destId="{1E465EEE-1A41-4A94-B6A8-59EF8B504F3E}" srcOrd="0" destOrd="0" presId="urn:microsoft.com/office/officeart/2005/8/layout/hProcess9"/>
    <dgm:cxn modelId="{7F6304F7-E9E2-4E87-9820-277553B31D5C}" srcId="{82DFE9FE-1687-4528-A3F2-F4F4447223BC}" destId="{B519142F-63F8-496D-BDD2-3653CECCC30E}" srcOrd="2" destOrd="0" parTransId="{21FF3BD1-A6A0-496C-B428-4C00B348EE51}" sibTransId="{C11C6FBD-0122-4393-A887-66DD70AFD56A}"/>
    <dgm:cxn modelId="{E3D388C1-4A5A-449B-9E0B-86C8FD0D893B}" srcId="{82DFE9FE-1687-4528-A3F2-F4F4447223BC}" destId="{7B71CA89-2FC0-4A6B-A34C-BAC6B814C35F}" srcOrd="1" destOrd="0" parTransId="{5F79D789-7B77-4E07-B7F8-8421AD214088}" sibTransId="{809AA4AF-7ECD-4242-A7D6-F0CB82EF8E46}"/>
    <dgm:cxn modelId="{9E1B5BF6-74FA-4D0F-B3FA-7C71A14907D0}" type="presOf" srcId="{55BB7923-80BE-4184-86BB-E5DF90343EDB}" destId="{23D0E6B2-4535-4EEC-8CEB-5A5B0F2BE6BC}" srcOrd="0" destOrd="0" presId="urn:microsoft.com/office/officeart/2005/8/layout/hProcess9"/>
    <dgm:cxn modelId="{A27B87C8-AC21-427B-A87E-DD5CE63A4E91}" type="presOf" srcId="{82DFE9FE-1687-4528-A3F2-F4F4447223BC}" destId="{D9FA8967-E7F3-408B-BF2B-70ABFA382E15}" srcOrd="0" destOrd="0" presId="urn:microsoft.com/office/officeart/2005/8/layout/hProcess9"/>
    <dgm:cxn modelId="{2BDE6CDC-B32D-4C58-B46E-44E5E4C66055}" type="presOf" srcId="{B519142F-63F8-496D-BDD2-3653CECCC30E}" destId="{7D61442E-64A6-4A50-BE40-30100C118867}" srcOrd="0" destOrd="0" presId="urn:microsoft.com/office/officeart/2005/8/layout/hProcess9"/>
    <dgm:cxn modelId="{B3260043-6AA0-4ADB-B42B-F7F75096D0CF}" srcId="{82DFE9FE-1687-4528-A3F2-F4F4447223BC}" destId="{82B52DE6-2B6D-4C63-B6D1-8FF5CA0D95F4}" srcOrd="3" destOrd="0" parTransId="{037BE435-AFC0-46D6-ADE7-15762215CBE3}" sibTransId="{8C2C24ED-ACF4-4861-9087-41547E359E7E}"/>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C5AA076-CD97-4237-B0B6-5A6DC029FF00}" type="presParOf" srcId="{545BDE8F-985A-4B6C-B5FD-A65F9E8FC166}" destId="{23D0E6B2-4535-4EEC-8CEB-5A5B0F2BE6BC}" srcOrd="0" destOrd="0" presId="urn:microsoft.com/office/officeart/2005/8/layout/hProcess9"/>
    <dgm:cxn modelId="{091D58FC-4B63-49C3-B596-20E727369427}" type="presParOf" srcId="{545BDE8F-985A-4B6C-B5FD-A65F9E8FC166}" destId="{387713FF-7355-4056-BDD9-12BAB2852A05}" srcOrd="1" destOrd="0" presId="urn:microsoft.com/office/officeart/2005/8/layout/hProcess9"/>
    <dgm:cxn modelId="{BD608F71-594F-4B61-B0DD-C98D94110460}" type="presParOf" srcId="{545BDE8F-985A-4B6C-B5FD-A65F9E8FC166}" destId="{025425B7-F0F9-46F0-90B9-8FE8060FFFF1}" srcOrd="2" destOrd="0" presId="urn:microsoft.com/office/officeart/2005/8/layout/hProcess9"/>
    <dgm:cxn modelId="{74F0A39E-0458-4483-97E8-C1438F88A5F2}" type="presParOf" srcId="{545BDE8F-985A-4B6C-B5FD-A65F9E8FC166}" destId="{096E4C5E-F114-4F83-A21F-91FB7315D335}" srcOrd="3" destOrd="0" presId="urn:microsoft.com/office/officeart/2005/8/layout/hProcess9"/>
    <dgm:cxn modelId="{ED4D6892-4A22-487D-89B0-3347CEEB8A75}" type="presParOf" srcId="{545BDE8F-985A-4B6C-B5FD-A65F9E8FC166}" destId="{7D61442E-64A6-4A50-BE40-30100C118867}" srcOrd="4" destOrd="0" presId="urn:microsoft.com/office/officeart/2005/8/layout/hProcess9"/>
    <dgm:cxn modelId="{B1329E91-EAC6-422D-9080-DA9F3A882706}" type="presParOf" srcId="{545BDE8F-985A-4B6C-B5FD-A65F9E8FC166}" destId="{99CBF64D-6351-4587-95FB-A1167F7D0979}" srcOrd="5" destOrd="0" presId="urn:microsoft.com/office/officeart/2005/8/layout/hProcess9"/>
    <dgm:cxn modelId="{80BDD5D2-8D80-420D-899B-0409DD30F304}" type="presParOf" srcId="{545BDE8F-985A-4B6C-B5FD-A65F9E8FC166}" destId="{1E465EEE-1A41-4A94-B6A8-59EF8B504F3E}"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CEF63013-9765-4F45-821F-0EDEE6D7F92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60EADC0-E8D0-4F1E-ABB3-EE6640017E6D}" type="parTrans" cxnId="{59338AA1-85BC-43C2-AEFE-868F2408194E}">
      <dgm:prSet/>
      <dgm:spPr/>
      <dgm:t>
        <a:bodyPr/>
        <a:lstStyle/>
        <a:p>
          <a:endParaRPr lang="fr-FR"/>
        </a:p>
      </dgm:t>
    </dgm:pt>
    <dgm:pt modelId="{C6A8197A-2CCB-40B9-BD47-D1409980CBFD}" type="sibTrans" cxnId="{59338AA1-85BC-43C2-AEFE-868F2408194E}">
      <dgm:prSet/>
      <dgm:spPr/>
      <dgm:t>
        <a:bodyPr/>
        <a:lstStyle/>
        <a:p>
          <a:endParaRPr lang="fr-FR"/>
        </a:p>
      </dgm:t>
    </dgm:pt>
    <dgm:pt modelId="{42CFC585-14F1-4C59-8161-F90686F766F0}">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9ECD96E-8E74-4028-81AF-FDD4B00270AC}" type="parTrans" cxnId="{043CD0D4-481B-4521-84CC-E5F67B6E2A14}">
      <dgm:prSet/>
      <dgm:spPr/>
      <dgm:t>
        <a:bodyPr/>
        <a:lstStyle/>
        <a:p>
          <a:endParaRPr lang="fr-FR"/>
        </a:p>
      </dgm:t>
    </dgm:pt>
    <dgm:pt modelId="{4257AD2D-465D-450C-95AE-0A314EEDD086}" type="sibTrans" cxnId="{043CD0D4-481B-4521-84CC-E5F67B6E2A14}">
      <dgm:prSet/>
      <dgm:spPr/>
      <dgm:t>
        <a:bodyPr/>
        <a:lstStyle/>
        <a:p>
          <a:endParaRPr lang="fr-FR"/>
        </a:p>
      </dgm:t>
    </dgm:pt>
    <dgm:pt modelId="{7C934B67-2DC6-4813-AA8A-2E3949370792}">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Scripts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74239D4-8596-43C4-BBA7-B84B770FB7C8}" type="parTrans" cxnId="{A28A41D5-022F-47EF-A345-B90B4542544E}">
      <dgm:prSet/>
      <dgm:spPr/>
      <dgm:t>
        <a:bodyPr/>
        <a:lstStyle/>
        <a:p>
          <a:endParaRPr lang="fr-FR"/>
        </a:p>
      </dgm:t>
    </dgm:pt>
    <dgm:pt modelId="{D21A1AEF-6D25-43E9-82DB-1EF8C3E0E045}" type="sibTrans" cxnId="{A28A41D5-022F-47EF-A345-B90B4542544E}">
      <dgm:prSet/>
      <dgm:spPr/>
      <dgm:t>
        <a:bodyPr/>
        <a:lstStyle/>
        <a:p>
          <a:endParaRPr lang="fr-FR"/>
        </a:p>
      </dgm:t>
    </dgm:pt>
    <dgm:pt modelId="{B8782A0F-378C-4330-AC2F-7728CF6153F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1ED7D48-19FD-4224-986C-D2B4EDC8632E}" type="parTrans" cxnId="{856CA523-7958-4213-A316-C4F1AA866A29}">
      <dgm:prSet/>
      <dgm:spPr/>
      <dgm:t>
        <a:bodyPr/>
        <a:lstStyle/>
        <a:p>
          <a:endParaRPr lang="fr-FR"/>
        </a:p>
      </dgm:t>
    </dgm:pt>
    <dgm:pt modelId="{FB55E2AB-7B12-4FC9-AF5F-5F8C8561447F}" type="sibTrans" cxnId="{856CA523-7958-4213-A316-C4F1AA866A29}">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B895EE-C1F4-43CB-968B-BA42B8605317}" type="pres">
      <dgm:prSet presAssocID="{CEF63013-9765-4F45-821F-0EDEE6D7F921}" presName="textNode" presStyleLbl="node1" presStyleIdx="0" presStyleCnt="4">
        <dgm:presLayoutVars>
          <dgm:bulletEnabled val="1"/>
        </dgm:presLayoutVars>
      </dgm:prSet>
      <dgm:spPr/>
      <dgm:t>
        <a:bodyPr/>
        <a:lstStyle/>
        <a:p>
          <a:endParaRPr lang="fr-FR"/>
        </a:p>
      </dgm:t>
    </dgm:pt>
    <dgm:pt modelId="{A458C540-BCB7-47CE-B02C-F034045DD989}" type="pres">
      <dgm:prSet presAssocID="{C6A8197A-2CCB-40B9-BD47-D1409980CBFD}" presName="sibTrans" presStyleCnt="0"/>
      <dgm:spPr/>
    </dgm:pt>
    <dgm:pt modelId="{7AAE63A7-A9AE-4083-8689-982F7A229645}" type="pres">
      <dgm:prSet presAssocID="{42CFC585-14F1-4C59-8161-F90686F766F0}" presName="textNode" presStyleLbl="node1" presStyleIdx="1" presStyleCnt="4">
        <dgm:presLayoutVars>
          <dgm:bulletEnabled val="1"/>
        </dgm:presLayoutVars>
      </dgm:prSet>
      <dgm:spPr/>
      <dgm:t>
        <a:bodyPr/>
        <a:lstStyle/>
        <a:p>
          <a:endParaRPr lang="fr-FR"/>
        </a:p>
      </dgm:t>
    </dgm:pt>
    <dgm:pt modelId="{E4216668-36B3-4104-9442-A01F9E2966FD}" type="pres">
      <dgm:prSet presAssocID="{4257AD2D-465D-450C-95AE-0A314EEDD086}" presName="sibTrans" presStyleCnt="0"/>
      <dgm:spPr/>
    </dgm:pt>
    <dgm:pt modelId="{08D8B165-E880-417D-91C4-8F45546C23D4}" type="pres">
      <dgm:prSet presAssocID="{7C934B67-2DC6-4813-AA8A-2E3949370792}" presName="textNode" presStyleLbl="node1" presStyleIdx="2" presStyleCnt="4">
        <dgm:presLayoutVars>
          <dgm:bulletEnabled val="1"/>
        </dgm:presLayoutVars>
      </dgm:prSet>
      <dgm:spPr/>
      <dgm:t>
        <a:bodyPr/>
        <a:lstStyle/>
        <a:p>
          <a:endParaRPr lang="fr-FR"/>
        </a:p>
      </dgm:t>
    </dgm:pt>
    <dgm:pt modelId="{0BAEFC37-09DF-4B8E-A20C-8B16AFB1FBAC}" type="pres">
      <dgm:prSet presAssocID="{D21A1AEF-6D25-43E9-82DB-1EF8C3E0E045}" presName="sibTrans" presStyleCnt="0"/>
      <dgm:spPr/>
    </dgm:pt>
    <dgm:pt modelId="{3D1E52B4-FA47-47D3-A792-2C71301513A4}" type="pres">
      <dgm:prSet presAssocID="{B8782A0F-378C-4330-AC2F-7728CF6153FC}" presName="textNode" presStyleLbl="node1" presStyleIdx="3" presStyleCnt="4">
        <dgm:presLayoutVars>
          <dgm:bulletEnabled val="1"/>
        </dgm:presLayoutVars>
      </dgm:prSet>
      <dgm:spPr/>
      <dgm:t>
        <a:bodyPr/>
        <a:lstStyle/>
        <a:p>
          <a:endParaRPr lang="fr-FR"/>
        </a:p>
      </dgm:t>
    </dgm:pt>
  </dgm:ptLst>
  <dgm:cxnLst>
    <dgm:cxn modelId="{357D8B1F-1719-4366-A995-C43CE638F9BB}" type="presOf" srcId="{42CFC585-14F1-4C59-8161-F90686F766F0}" destId="{7AAE63A7-A9AE-4083-8689-982F7A229645}" srcOrd="0" destOrd="0" presId="urn:microsoft.com/office/officeart/2005/8/layout/hProcess9"/>
    <dgm:cxn modelId="{D475E35E-E21F-4BE2-AA2C-A5332D1F5900}" type="presOf" srcId="{7C934B67-2DC6-4813-AA8A-2E3949370792}" destId="{08D8B165-E880-417D-91C4-8F45546C23D4}" srcOrd="0" destOrd="0" presId="urn:microsoft.com/office/officeart/2005/8/layout/hProcess9"/>
    <dgm:cxn modelId="{043CD0D4-481B-4521-84CC-E5F67B6E2A14}" srcId="{82DFE9FE-1687-4528-A3F2-F4F4447223BC}" destId="{42CFC585-14F1-4C59-8161-F90686F766F0}" srcOrd="1" destOrd="0" parTransId="{59ECD96E-8E74-4028-81AF-FDD4B00270AC}" sibTransId="{4257AD2D-465D-450C-95AE-0A314EEDD086}"/>
    <dgm:cxn modelId="{9F72FDFC-12DD-417A-B406-EE941E2706E7}" type="presOf" srcId="{CEF63013-9765-4F45-821F-0EDEE6D7F921}" destId="{4AB895EE-C1F4-43CB-968B-BA42B8605317}" srcOrd="0" destOrd="0" presId="urn:microsoft.com/office/officeart/2005/8/layout/hProcess9"/>
    <dgm:cxn modelId="{856CA523-7958-4213-A316-C4F1AA866A29}" srcId="{82DFE9FE-1687-4528-A3F2-F4F4447223BC}" destId="{B8782A0F-378C-4330-AC2F-7728CF6153FC}" srcOrd="3" destOrd="0" parTransId="{91ED7D48-19FD-4224-986C-D2B4EDC8632E}" sibTransId="{FB55E2AB-7B12-4FC9-AF5F-5F8C8561447F}"/>
    <dgm:cxn modelId="{59338AA1-85BC-43C2-AEFE-868F2408194E}" srcId="{82DFE9FE-1687-4528-A3F2-F4F4447223BC}" destId="{CEF63013-9765-4F45-821F-0EDEE6D7F921}" srcOrd="0" destOrd="0" parTransId="{060EADC0-E8D0-4F1E-ABB3-EE6640017E6D}" sibTransId="{C6A8197A-2CCB-40B9-BD47-D1409980CBFD}"/>
    <dgm:cxn modelId="{A28A41D5-022F-47EF-A345-B90B4542544E}" srcId="{82DFE9FE-1687-4528-A3F2-F4F4447223BC}" destId="{7C934B67-2DC6-4813-AA8A-2E3949370792}" srcOrd="2" destOrd="0" parTransId="{E74239D4-8596-43C4-BBA7-B84B770FB7C8}" sibTransId="{D21A1AEF-6D25-43E9-82DB-1EF8C3E0E045}"/>
    <dgm:cxn modelId="{A27B87C8-AC21-427B-A87E-DD5CE63A4E91}" type="presOf" srcId="{82DFE9FE-1687-4528-A3F2-F4F4447223BC}" destId="{D9FA8967-E7F3-408B-BF2B-70ABFA382E15}" srcOrd="0" destOrd="0" presId="urn:microsoft.com/office/officeart/2005/8/layout/hProcess9"/>
    <dgm:cxn modelId="{4A89D8FB-5C76-4E06-9E56-475BDA9D1C6E}" type="presOf" srcId="{B8782A0F-378C-4330-AC2F-7728CF6153FC}" destId="{3D1E52B4-FA47-47D3-A792-2C71301513A4}"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AC8BCA5-D99B-4759-8671-E5F8F660AFF3}" type="presParOf" srcId="{545BDE8F-985A-4B6C-B5FD-A65F9E8FC166}" destId="{4AB895EE-C1F4-43CB-968B-BA42B8605317}" srcOrd="0" destOrd="0" presId="urn:microsoft.com/office/officeart/2005/8/layout/hProcess9"/>
    <dgm:cxn modelId="{6943000F-C1AA-4BCF-AF47-EE5859C37DC8}" type="presParOf" srcId="{545BDE8F-985A-4B6C-B5FD-A65F9E8FC166}" destId="{A458C540-BCB7-47CE-B02C-F034045DD989}" srcOrd="1" destOrd="0" presId="urn:microsoft.com/office/officeart/2005/8/layout/hProcess9"/>
    <dgm:cxn modelId="{5AFF063B-AAC8-4337-AFB6-0FCD3E5DB091}" type="presParOf" srcId="{545BDE8F-985A-4B6C-B5FD-A65F9E8FC166}" destId="{7AAE63A7-A9AE-4083-8689-982F7A229645}" srcOrd="2" destOrd="0" presId="urn:microsoft.com/office/officeart/2005/8/layout/hProcess9"/>
    <dgm:cxn modelId="{3C408CF5-5445-4EB0-9EEF-13060215D680}" type="presParOf" srcId="{545BDE8F-985A-4B6C-B5FD-A65F9E8FC166}" destId="{E4216668-36B3-4104-9442-A01F9E2966FD}" srcOrd="3" destOrd="0" presId="urn:microsoft.com/office/officeart/2005/8/layout/hProcess9"/>
    <dgm:cxn modelId="{456CACC5-C1F3-4145-A9A0-AB19DECF1154}" type="presParOf" srcId="{545BDE8F-985A-4B6C-B5FD-A65F9E8FC166}" destId="{08D8B165-E880-417D-91C4-8F45546C23D4}" srcOrd="4" destOrd="0" presId="urn:microsoft.com/office/officeart/2005/8/layout/hProcess9"/>
    <dgm:cxn modelId="{12F6B246-AFAE-41B3-B4E6-78A74D5297D2}" type="presParOf" srcId="{545BDE8F-985A-4B6C-B5FD-A65F9E8FC166}" destId="{0BAEFC37-09DF-4B8E-A20C-8B16AFB1FBAC}" srcOrd="5" destOrd="0" presId="urn:microsoft.com/office/officeart/2005/8/layout/hProcess9"/>
    <dgm:cxn modelId="{C0D0918C-F831-4C3F-9C3A-8C57AA5DAF28}" type="presParOf" srcId="{545BDE8F-985A-4B6C-B5FD-A65F9E8FC166}" destId="{3D1E52B4-FA47-47D3-A792-2C71301513A4}"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CEF63013-9765-4F45-821F-0EDEE6D7F92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60EADC0-E8D0-4F1E-ABB3-EE6640017E6D}" type="parTrans" cxnId="{59338AA1-85BC-43C2-AEFE-868F2408194E}">
      <dgm:prSet/>
      <dgm:spPr/>
      <dgm:t>
        <a:bodyPr/>
        <a:lstStyle/>
        <a:p>
          <a:endParaRPr lang="fr-FR"/>
        </a:p>
      </dgm:t>
    </dgm:pt>
    <dgm:pt modelId="{C6A8197A-2CCB-40B9-BD47-D1409980CBFD}" type="sibTrans" cxnId="{59338AA1-85BC-43C2-AEFE-868F2408194E}">
      <dgm:prSet/>
      <dgm:spPr/>
      <dgm:t>
        <a:bodyPr/>
        <a:lstStyle/>
        <a:p>
          <a:endParaRPr lang="fr-FR"/>
        </a:p>
      </dgm:t>
    </dgm:pt>
    <dgm:pt modelId="{42CFC585-14F1-4C59-8161-F90686F766F0}">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9ECD96E-8E74-4028-81AF-FDD4B00270AC}" type="parTrans" cxnId="{043CD0D4-481B-4521-84CC-E5F67B6E2A14}">
      <dgm:prSet/>
      <dgm:spPr/>
      <dgm:t>
        <a:bodyPr/>
        <a:lstStyle/>
        <a:p>
          <a:endParaRPr lang="fr-FR"/>
        </a:p>
      </dgm:t>
    </dgm:pt>
    <dgm:pt modelId="{4257AD2D-465D-450C-95AE-0A314EEDD086}" type="sibTrans" cxnId="{043CD0D4-481B-4521-84CC-E5F67B6E2A14}">
      <dgm:prSet/>
      <dgm:spPr/>
      <dgm:t>
        <a:bodyPr/>
        <a:lstStyle/>
        <a:p>
          <a:endParaRPr lang="fr-FR"/>
        </a:p>
      </dgm:t>
    </dgm:pt>
    <dgm:pt modelId="{7C934B67-2DC6-4813-AA8A-2E3949370792}">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Scripts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74239D4-8596-43C4-BBA7-B84B770FB7C8}" type="parTrans" cxnId="{A28A41D5-022F-47EF-A345-B90B4542544E}">
      <dgm:prSet/>
      <dgm:spPr/>
      <dgm:t>
        <a:bodyPr/>
        <a:lstStyle/>
        <a:p>
          <a:endParaRPr lang="fr-FR"/>
        </a:p>
      </dgm:t>
    </dgm:pt>
    <dgm:pt modelId="{D21A1AEF-6D25-43E9-82DB-1EF8C3E0E045}" type="sibTrans" cxnId="{A28A41D5-022F-47EF-A345-B90B4542544E}">
      <dgm:prSet/>
      <dgm:spPr/>
      <dgm:t>
        <a:bodyPr/>
        <a:lstStyle/>
        <a:p>
          <a:endParaRPr lang="fr-FR"/>
        </a:p>
      </dgm:t>
    </dgm:pt>
    <dgm:pt modelId="{B8782A0F-378C-4330-AC2F-7728CF6153F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1ED7D48-19FD-4224-986C-D2B4EDC8632E}" type="parTrans" cxnId="{856CA523-7958-4213-A316-C4F1AA866A29}">
      <dgm:prSet/>
      <dgm:spPr/>
      <dgm:t>
        <a:bodyPr/>
        <a:lstStyle/>
        <a:p>
          <a:endParaRPr lang="fr-FR"/>
        </a:p>
      </dgm:t>
    </dgm:pt>
    <dgm:pt modelId="{FB55E2AB-7B12-4FC9-AF5F-5F8C8561447F}" type="sibTrans" cxnId="{856CA523-7958-4213-A316-C4F1AA866A29}">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B895EE-C1F4-43CB-968B-BA42B8605317}" type="pres">
      <dgm:prSet presAssocID="{CEF63013-9765-4F45-821F-0EDEE6D7F921}" presName="textNode" presStyleLbl="node1" presStyleIdx="0" presStyleCnt="4">
        <dgm:presLayoutVars>
          <dgm:bulletEnabled val="1"/>
        </dgm:presLayoutVars>
      </dgm:prSet>
      <dgm:spPr/>
      <dgm:t>
        <a:bodyPr/>
        <a:lstStyle/>
        <a:p>
          <a:endParaRPr lang="fr-FR"/>
        </a:p>
      </dgm:t>
    </dgm:pt>
    <dgm:pt modelId="{A458C540-BCB7-47CE-B02C-F034045DD989}" type="pres">
      <dgm:prSet presAssocID="{C6A8197A-2CCB-40B9-BD47-D1409980CBFD}" presName="sibTrans" presStyleCnt="0"/>
      <dgm:spPr/>
    </dgm:pt>
    <dgm:pt modelId="{7AAE63A7-A9AE-4083-8689-982F7A229645}" type="pres">
      <dgm:prSet presAssocID="{42CFC585-14F1-4C59-8161-F90686F766F0}" presName="textNode" presStyleLbl="node1" presStyleIdx="1" presStyleCnt="4">
        <dgm:presLayoutVars>
          <dgm:bulletEnabled val="1"/>
        </dgm:presLayoutVars>
      </dgm:prSet>
      <dgm:spPr/>
      <dgm:t>
        <a:bodyPr/>
        <a:lstStyle/>
        <a:p>
          <a:endParaRPr lang="fr-FR"/>
        </a:p>
      </dgm:t>
    </dgm:pt>
    <dgm:pt modelId="{E4216668-36B3-4104-9442-A01F9E2966FD}" type="pres">
      <dgm:prSet presAssocID="{4257AD2D-465D-450C-95AE-0A314EEDD086}" presName="sibTrans" presStyleCnt="0"/>
      <dgm:spPr/>
    </dgm:pt>
    <dgm:pt modelId="{08D8B165-E880-417D-91C4-8F45546C23D4}" type="pres">
      <dgm:prSet presAssocID="{7C934B67-2DC6-4813-AA8A-2E3949370792}" presName="textNode" presStyleLbl="node1" presStyleIdx="2" presStyleCnt="4">
        <dgm:presLayoutVars>
          <dgm:bulletEnabled val="1"/>
        </dgm:presLayoutVars>
      </dgm:prSet>
      <dgm:spPr/>
      <dgm:t>
        <a:bodyPr/>
        <a:lstStyle/>
        <a:p>
          <a:endParaRPr lang="fr-FR"/>
        </a:p>
      </dgm:t>
    </dgm:pt>
    <dgm:pt modelId="{0BAEFC37-09DF-4B8E-A20C-8B16AFB1FBAC}" type="pres">
      <dgm:prSet presAssocID="{D21A1AEF-6D25-43E9-82DB-1EF8C3E0E045}" presName="sibTrans" presStyleCnt="0"/>
      <dgm:spPr/>
    </dgm:pt>
    <dgm:pt modelId="{3D1E52B4-FA47-47D3-A792-2C71301513A4}" type="pres">
      <dgm:prSet presAssocID="{B8782A0F-378C-4330-AC2F-7728CF6153FC}" presName="textNode" presStyleLbl="node1" presStyleIdx="3" presStyleCnt="4">
        <dgm:presLayoutVars>
          <dgm:bulletEnabled val="1"/>
        </dgm:presLayoutVars>
      </dgm:prSet>
      <dgm:spPr/>
      <dgm:t>
        <a:bodyPr/>
        <a:lstStyle/>
        <a:p>
          <a:endParaRPr lang="fr-FR"/>
        </a:p>
      </dgm:t>
    </dgm:pt>
  </dgm:ptLst>
  <dgm:cxnLst>
    <dgm:cxn modelId="{357D8B1F-1719-4366-A995-C43CE638F9BB}" type="presOf" srcId="{42CFC585-14F1-4C59-8161-F90686F766F0}" destId="{7AAE63A7-A9AE-4083-8689-982F7A229645}" srcOrd="0" destOrd="0" presId="urn:microsoft.com/office/officeart/2005/8/layout/hProcess9"/>
    <dgm:cxn modelId="{D475E35E-E21F-4BE2-AA2C-A5332D1F5900}" type="presOf" srcId="{7C934B67-2DC6-4813-AA8A-2E3949370792}" destId="{08D8B165-E880-417D-91C4-8F45546C23D4}" srcOrd="0" destOrd="0" presId="urn:microsoft.com/office/officeart/2005/8/layout/hProcess9"/>
    <dgm:cxn modelId="{043CD0D4-481B-4521-84CC-E5F67B6E2A14}" srcId="{82DFE9FE-1687-4528-A3F2-F4F4447223BC}" destId="{42CFC585-14F1-4C59-8161-F90686F766F0}" srcOrd="1" destOrd="0" parTransId="{59ECD96E-8E74-4028-81AF-FDD4B00270AC}" sibTransId="{4257AD2D-465D-450C-95AE-0A314EEDD086}"/>
    <dgm:cxn modelId="{9F72FDFC-12DD-417A-B406-EE941E2706E7}" type="presOf" srcId="{CEF63013-9765-4F45-821F-0EDEE6D7F921}" destId="{4AB895EE-C1F4-43CB-968B-BA42B8605317}" srcOrd="0" destOrd="0" presId="urn:microsoft.com/office/officeart/2005/8/layout/hProcess9"/>
    <dgm:cxn modelId="{856CA523-7958-4213-A316-C4F1AA866A29}" srcId="{82DFE9FE-1687-4528-A3F2-F4F4447223BC}" destId="{B8782A0F-378C-4330-AC2F-7728CF6153FC}" srcOrd="3" destOrd="0" parTransId="{91ED7D48-19FD-4224-986C-D2B4EDC8632E}" sibTransId="{FB55E2AB-7B12-4FC9-AF5F-5F8C8561447F}"/>
    <dgm:cxn modelId="{59338AA1-85BC-43C2-AEFE-868F2408194E}" srcId="{82DFE9FE-1687-4528-A3F2-F4F4447223BC}" destId="{CEF63013-9765-4F45-821F-0EDEE6D7F921}" srcOrd="0" destOrd="0" parTransId="{060EADC0-E8D0-4F1E-ABB3-EE6640017E6D}" sibTransId="{C6A8197A-2CCB-40B9-BD47-D1409980CBFD}"/>
    <dgm:cxn modelId="{A28A41D5-022F-47EF-A345-B90B4542544E}" srcId="{82DFE9FE-1687-4528-A3F2-F4F4447223BC}" destId="{7C934B67-2DC6-4813-AA8A-2E3949370792}" srcOrd="2" destOrd="0" parTransId="{E74239D4-8596-43C4-BBA7-B84B770FB7C8}" sibTransId="{D21A1AEF-6D25-43E9-82DB-1EF8C3E0E045}"/>
    <dgm:cxn modelId="{A27B87C8-AC21-427B-A87E-DD5CE63A4E91}" type="presOf" srcId="{82DFE9FE-1687-4528-A3F2-F4F4447223BC}" destId="{D9FA8967-E7F3-408B-BF2B-70ABFA382E15}" srcOrd="0" destOrd="0" presId="urn:microsoft.com/office/officeart/2005/8/layout/hProcess9"/>
    <dgm:cxn modelId="{4A89D8FB-5C76-4E06-9E56-475BDA9D1C6E}" type="presOf" srcId="{B8782A0F-378C-4330-AC2F-7728CF6153FC}" destId="{3D1E52B4-FA47-47D3-A792-2C71301513A4}"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AC8BCA5-D99B-4759-8671-E5F8F660AFF3}" type="presParOf" srcId="{545BDE8F-985A-4B6C-B5FD-A65F9E8FC166}" destId="{4AB895EE-C1F4-43CB-968B-BA42B8605317}" srcOrd="0" destOrd="0" presId="urn:microsoft.com/office/officeart/2005/8/layout/hProcess9"/>
    <dgm:cxn modelId="{6943000F-C1AA-4BCF-AF47-EE5859C37DC8}" type="presParOf" srcId="{545BDE8F-985A-4B6C-B5FD-A65F9E8FC166}" destId="{A458C540-BCB7-47CE-B02C-F034045DD989}" srcOrd="1" destOrd="0" presId="urn:microsoft.com/office/officeart/2005/8/layout/hProcess9"/>
    <dgm:cxn modelId="{5AFF063B-AAC8-4337-AFB6-0FCD3E5DB091}" type="presParOf" srcId="{545BDE8F-985A-4B6C-B5FD-A65F9E8FC166}" destId="{7AAE63A7-A9AE-4083-8689-982F7A229645}" srcOrd="2" destOrd="0" presId="urn:microsoft.com/office/officeart/2005/8/layout/hProcess9"/>
    <dgm:cxn modelId="{3C408CF5-5445-4EB0-9EEF-13060215D680}" type="presParOf" srcId="{545BDE8F-985A-4B6C-B5FD-A65F9E8FC166}" destId="{E4216668-36B3-4104-9442-A01F9E2966FD}" srcOrd="3" destOrd="0" presId="urn:microsoft.com/office/officeart/2005/8/layout/hProcess9"/>
    <dgm:cxn modelId="{456CACC5-C1F3-4145-A9A0-AB19DECF1154}" type="presParOf" srcId="{545BDE8F-985A-4B6C-B5FD-A65F9E8FC166}" destId="{08D8B165-E880-417D-91C4-8F45546C23D4}" srcOrd="4" destOrd="0" presId="urn:microsoft.com/office/officeart/2005/8/layout/hProcess9"/>
    <dgm:cxn modelId="{12F6B246-AFAE-41B3-B4E6-78A74D5297D2}" type="presParOf" srcId="{545BDE8F-985A-4B6C-B5FD-A65F9E8FC166}" destId="{0BAEFC37-09DF-4B8E-A20C-8B16AFB1FBAC}" srcOrd="5" destOrd="0" presId="urn:microsoft.com/office/officeart/2005/8/layout/hProcess9"/>
    <dgm:cxn modelId="{C0D0918C-F831-4C3F-9C3A-8C57AA5DAF28}" type="presParOf" srcId="{545BDE8F-985A-4B6C-B5FD-A65F9E8FC166}" destId="{3D1E52B4-FA47-47D3-A792-2C71301513A4}"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4C0446D5-37C4-4B06-9391-05CB3A073AC8}">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65682A9-365F-481E-8845-A1D798186D8B}" type="parTrans" cxnId="{C92AD36F-D376-4AA3-B098-C91A50DAE19E}">
      <dgm:prSet/>
      <dgm:spPr/>
      <dgm:t>
        <a:bodyPr/>
        <a:lstStyle/>
        <a:p>
          <a:endParaRPr lang="fr-FR"/>
        </a:p>
      </dgm:t>
    </dgm:pt>
    <dgm:pt modelId="{B0FD7054-A45D-4E54-9267-C67EE1AEF0DB}" type="sibTrans" cxnId="{C92AD36F-D376-4AA3-B098-C91A50DAE19E}">
      <dgm:prSet/>
      <dgm:spPr/>
      <dgm:t>
        <a:bodyPr/>
        <a:lstStyle/>
        <a:p>
          <a:endParaRPr lang="fr-FR"/>
        </a:p>
      </dgm:t>
    </dgm:pt>
    <dgm:pt modelId="{479A38C8-3574-4B1F-A815-A583A42F0258}">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E1D8F68-824D-41E8-97FA-A163F046C725}" type="parTrans" cxnId="{F6D5C4F1-50B9-426E-8C3C-7D7822A049BE}">
      <dgm:prSet/>
      <dgm:spPr/>
      <dgm:t>
        <a:bodyPr/>
        <a:lstStyle/>
        <a:p>
          <a:endParaRPr lang="fr-FR"/>
        </a:p>
      </dgm:t>
    </dgm:pt>
    <dgm:pt modelId="{CF1C89FC-034D-413D-A242-07EA3B003FB7}" type="sibTrans" cxnId="{F6D5C4F1-50B9-426E-8C3C-7D7822A049BE}">
      <dgm:prSet/>
      <dgm:spPr/>
      <dgm:t>
        <a:bodyPr/>
        <a:lstStyle/>
        <a:p>
          <a:endParaRPr lang="fr-FR"/>
        </a:p>
      </dgm:t>
    </dgm:pt>
    <dgm:pt modelId="{DCCCEE77-5CC7-4196-A83F-6118A634B3FB}">
      <dgm:prSet/>
      <dgm:spPr>
        <a:solidFill>
          <a:schemeClr val="accent1"/>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Scripts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2BD15845-B120-4858-A86B-BC96214E1EE0}" type="parTrans" cxnId="{D6E7C48F-3106-494D-8A1D-6A91C6288210}">
      <dgm:prSet/>
      <dgm:spPr/>
      <dgm:t>
        <a:bodyPr/>
        <a:lstStyle/>
        <a:p>
          <a:endParaRPr lang="fr-FR"/>
        </a:p>
      </dgm:t>
    </dgm:pt>
    <dgm:pt modelId="{92F4E380-F12D-4896-9792-F73C0A10674B}" type="sibTrans" cxnId="{D6E7C48F-3106-494D-8A1D-6A91C6288210}">
      <dgm:prSet/>
      <dgm:spPr/>
      <dgm:t>
        <a:bodyPr/>
        <a:lstStyle/>
        <a:p>
          <a:endParaRPr lang="fr-FR"/>
        </a:p>
      </dgm:t>
    </dgm:pt>
    <dgm:pt modelId="{7F27417C-CB18-4170-A236-7017DA84EF88}">
      <dgm:prSet/>
      <dgm:spPr>
        <a:solidFill>
          <a:srgbClr val="FF0000"/>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79F0295-01C1-4A5D-B671-82F60C6023EB}" type="parTrans" cxnId="{75F2EB77-DB76-461D-824E-324312760DF4}">
      <dgm:prSet/>
      <dgm:spPr/>
      <dgm:t>
        <a:bodyPr/>
        <a:lstStyle/>
        <a:p>
          <a:endParaRPr lang="fr-FR"/>
        </a:p>
      </dgm:t>
    </dgm:pt>
    <dgm:pt modelId="{EB815B76-178C-4C4F-B5D8-B5E7D1BD8CF4}" type="sibTrans" cxnId="{75F2EB77-DB76-461D-824E-324312760DF4}">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F5777EAB-19ED-4CA7-812E-7412AA54D0BA}" type="pres">
      <dgm:prSet presAssocID="{4C0446D5-37C4-4B06-9391-05CB3A073AC8}" presName="textNode" presStyleLbl="node1" presStyleIdx="0" presStyleCnt="4">
        <dgm:presLayoutVars>
          <dgm:bulletEnabled val="1"/>
        </dgm:presLayoutVars>
      </dgm:prSet>
      <dgm:spPr/>
      <dgm:t>
        <a:bodyPr/>
        <a:lstStyle/>
        <a:p>
          <a:endParaRPr lang="fr-FR"/>
        </a:p>
      </dgm:t>
    </dgm:pt>
    <dgm:pt modelId="{C09F40AF-7A35-4C01-A9BE-AC89794671D9}" type="pres">
      <dgm:prSet presAssocID="{B0FD7054-A45D-4E54-9267-C67EE1AEF0DB}" presName="sibTrans" presStyleCnt="0"/>
      <dgm:spPr/>
    </dgm:pt>
    <dgm:pt modelId="{A17E91FA-ED37-4EA2-B47B-11D546785BC6}" type="pres">
      <dgm:prSet presAssocID="{479A38C8-3574-4B1F-A815-A583A42F0258}" presName="textNode" presStyleLbl="node1" presStyleIdx="1" presStyleCnt="4">
        <dgm:presLayoutVars>
          <dgm:bulletEnabled val="1"/>
        </dgm:presLayoutVars>
      </dgm:prSet>
      <dgm:spPr/>
      <dgm:t>
        <a:bodyPr/>
        <a:lstStyle/>
        <a:p>
          <a:endParaRPr lang="fr-FR"/>
        </a:p>
      </dgm:t>
    </dgm:pt>
    <dgm:pt modelId="{3BA8C002-4A24-4AF1-A9DB-92139E2E78CA}" type="pres">
      <dgm:prSet presAssocID="{CF1C89FC-034D-413D-A242-07EA3B003FB7}" presName="sibTrans" presStyleCnt="0"/>
      <dgm:spPr/>
    </dgm:pt>
    <dgm:pt modelId="{95893FBE-42F8-460F-AF46-03E416CA7714}" type="pres">
      <dgm:prSet presAssocID="{DCCCEE77-5CC7-4196-A83F-6118A634B3FB}" presName="textNode" presStyleLbl="node1" presStyleIdx="2" presStyleCnt="4">
        <dgm:presLayoutVars>
          <dgm:bulletEnabled val="1"/>
        </dgm:presLayoutVars>
      </dgm:prSet>
      <dgm:spPr/>
      <dgm:t>
        <a:bodyPr/>
        <a:lstStyle/>
        <a:p>
          <a:endParaRPr lang="fr-FR"/>
        </a:p>
      </dgm:t>
    </dgm:pt>
    <dgm:pt modelId="{697008DE-A32E-4CCE-A162-4BBE71DFB76F}" type="pres">
      <dgm:prSet presAssocID="{92F4E380-F12D-4896-9792-F73C0A10674B}" presName="sibTrans" presStyleCnt="0"/>
      <dgm:spPr/>
    </dgm:pt>
    <dgm:pt modelId="{D25EB52D-7898-4476-88B0-8F15AF0A6F82}" type="pres">
      <dgm:prSet presAssocID="{7F27417C-CB18-4170-A236-7017DA84EF88}" presName="textNode" presStyleLbl="node1" presStyleIdx="3" presStyleCnt="4">
        <dgm:presLayoutVars>
          <dgm:bulletEnabled val="1"/>
        </dgm:presLayoutVars>
      </dgm:prSet>
      <dgm:spPr/>
      <dgm:t>
        <a:bodyPr/>
        <a:lstStyle/>
        <a:p>
          <a:endParaRPr lang="fr-FR"/>
        </a:p>
      </dgm:t>
    </dgm:pt>
  </dgm:ptLst>
  <dgm:cxnLst>
    <dgm:cxn modelId="{6AE1EC52-ABAD-4DB7-843B-8B748BBEAB2E}" type="presOf" srcId="{7F27417C-CB18-4170-A236-7017DA84EF88}" destId="{D25EB52D-7898-4476-88B0-8F15AF0A6F82}" srcOrd="0" destOrd="0" presId="urn:microsoft.com/office/officeart/2005/8/layout/hProcess9"/>
    <dgm:cxn modelId="{C92AD36F-D376-4AA3-B098-C91A50DAE19E}" srcId="{82DFE9FE-1687-4528-A3F2-F4F4447223BC}" destId="{4C0446D5-37C4-4B06-9391-05CB3A073AC8}" srcOrd="0" destOrd="0" parTransId="{E65682A9-365F-481E-8845-A1D798186D8B}" sibTransId="{B0FD7054-A45D-4E54-9267-C67EE1AEF0DB}"/>
    <dgm:cxn modelId="{DEC6FB29-FEDE-4F96-A32C-27C9CB085183}" type="presOf" srcId="{479A38C8-3574-4B1F-A815-A583A42F0258}" destId="{A17E91FA-ED37-4EA2-B47B-11D546785BC6}" srcOrd="0" destOrd="0" presId="urn:microsoft.com/office/officeart/2005/8/layout/hProcess9"/>
    <dgm:cxn modelId="{A2618AAF-FC03-4E38-984C-4643224882EB}" type="presOf" srcId="{4C0446D5-37C4-4B06-9391-05CB3A073AC8}" destId="{F5777EAB-19ED-4CA7-812E-7412AA54D0BA}" srcOrd="0" destOrd="0" presId="urn:microsoft.com/office/officeart/2005/8/layout/hProcess9"/>
    <dgm:cxn modelId="{F6D5C4F1-50B9-426E-8C3C-7D7822A049BE}" srcId="{82DFE9FE-1687-4528-A3F2-F4F4447223BC}" destId="{479A38C8-3574-4B1F-A815-A583A42F0258}" srcOrd="1" destOrd="0" parTransId="{4E1D8F68-824D-41E8-97FA-A163F046C725}" sibTransId="{CF1C89FC-034D-413D-A242-07EA3B003FB7}"/>
    <dgm:cxn modelId="{75F2EB77-DB76-461D-824E-324312760DF4}" srcId="{82DFE9FE-1687-4528-A3F2-F4F4447223BC}" destId="{7F27417C-CB18-4170-A236-7017DA84EF88}" srcOrd="3" destOrd="0" parTransId="{479F0295-01C1-4A5D-B671-82F60C6023EB}" sibTransId="{EB815B76-178C-4C4F-B5D8-B5E7D1BD8CF4}"/>
    <dgm:cxn modelId="{A27B87C8-AC21-427B-A87E-DD5CE63A4E91}" type="presOf" srcId="{82DFE9FE-1687-4528-A3F2-F4F4447223BC}" destId="{D9FA8967-E7F3-408B-BF2B-70ABFA382E15}" srcOrd="0" destOrd="0" presId="urn:microsoft.com/office/officeart/2005/8/layout/hProcess9"/>
    <dgm:cxn modelId="{226F5829-7254-4B01-8C7D-A14AA17D346E}" type="presOf" srcId="{DCCCEE77-5CC7-4196-A83F-6118A634B3FB}" destId="{95893FBE-42F8-460F-AF46-03E416CA7714}" srcOrd="0" destOrd="0" presId="urn:microsoft.com/office/officeart/2005/8/layout/hProcess9"/>
    <dgm:cxn modelId="{D6E7C48F-3106-494D-8A1D-6A91C6288210}" srcId="{82DFE9FE-1687-4528-A3F2-F4F4447223BC}" destId="{DCCCEE77-5CC7-4196-A83F-6118A634B3FB}" srcOrd="2" destOrd="0" parTransId="{2BD15845-B120-4858-A86B-BC96214E1EE0}" sibTransId="{92F4E380-F12D-4896-9792-F73C0A10674B}"/>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EC8C5163-3C6A-48FC-AC95-BD2F15D04FFC}" type="presParOf" srcId="{545BDE8F-985A-4B6C-B5FD-A65F9E8FC166}" destId="{F5777EAB-19ED-4CA7-812E-7412AA54D0BA}" srcOrd="0" destOrd="0" presId="urn:microsoft.com/office/officeart/2005/8/layout/hProcess9"/>
    <dgm:cxn modelId="{E5986BD6-F591-4C45-9918-254607B8373C}" type="presParOf" srcId="{545BDE8F-985A-4B6C-B5FD-A65F9E8FC166}" destId="{C09F40AF-7A35-4C01-A9BE-AC89794671D9}" srcOrd="1" destOrd="0" presId="urn:microsoft.com/office/officeart/2005/8/layout/hProcess9"/>
    <dgm:cxn modelId="{7CBDE3FC-B34C-4FD2-B9AC-FCF42B479B35}" type="presParOf" srcId="{545BDE8F-985A-4B6C-B5FD-A65F9E8FC166}" destId="{A17E91FA-ED37-4EA2-B47B-11D546785BC6}" srcOrd="2" destOrd="0" presId="urn:microsoft.com/office/officeart/2005/8/layout/hProcess9"/>
    <dgm:cxn modelId="{352A5B3E-37D8-4B97-8DB6-A406C266E536}" type="presParOf" srcId="{545BDE8F-985A-4B6C-B5FD-A65F9E8FC166}" destId="{3BA8C002-4A24-4AF1-A9DB-92139E2E78CA}" srcOrd="3" destOrd="0" presId="urn:microsoft.com/office/officeart/2005/8/layout/hProcess9"/>
    <dgm:cxn modelId="{50AFA52C-94EF-440C-A156-F7778A38A800}" type="presParOf" srcId="{545BDE8F-985A-4B6C-B5FD-A65F9E8FC166}" destId="{95893FBE-42F8-460F-AF46-03E416CA7714}" srcOrd="4" destOrd="0" presId="urn:microsoft.com/office/officeart/2005/8/layout/hProcess9"/>
    <dgm:cxn modelId="{4F283223-BC05-44CA-A5B7-4FF6D0DE1BAB}" type="presParOf" srcId="{545BDE8F-985A-4B6C-B5FD-A65F9E8FC166}" destId="{697008DE-A32E-4CCE-A162-4BBE71DFB76F}" srcOrd="5" destOrd="0" presId="urn:microsoft.com/office/officeart/2005/8/layout/hProcess9"/>
    <dgm:cxn modelId="{959DDDFD-028E-4C34-808E-858AD51416B7}" type="presParOf" srcId="{545BDE8F-985A-4B6C-B5FD-A65F9E8FC166}" destId="{D25EB52D-7898-4476-88B0-8F15AF0A6F8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74509"/>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65599"/>
          <a:ext cx="6078190" cy="149043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just" defTabSz="622300">
            <a:lnSpc>
              <a:spcPct val="90000"/>
            </a:lnSpc>
            <a:spcBef>
              <a:spcPct val="0"/>
            </a:spcBef>
            <a:spcAft>
              <a:spcPct val="35000"/>
            </a:spcAft>
          </a:pPr>
          <a:r>
            <a:rPr lang="fr-CM" sz="1400" kern="1200" dirty="0" smtClean="0"/>
            <a:t>Au Cameroun des nombreuses entités public, parapublic et privée disposent encore applications web traditionnelles qui sont déployé sur des serveurs physiques créant ainsi un faussé technologique majeur en termes de </a:t>
          </a:r>
          <a:r>
            <a:rPr lang="fr-CM" sz="1400" b="1" kern="1200" dirty="0" smtClean="0"/>
            <a:t>portabilité</a:t>
          </a:r>
          <a:r>
            <a:rPr lang="fr-CM" sz="1400" kern="1200" dirty="0" smtClean="0"/>
            <a:t>, de </a:t>
          </a:r>
          <a:r>
            <a:rPr lang="fr-CM" sz="1400" b="1" kern="1200" dirty="0" err="1" smtClean="0"/>
            <a:t>scalabilité</a:t>
          </a:r>
          <a:r>
            <a:rPr lang="fr-CM" sz="1400" kern="1200" dirty="0" smtClean="0"/>
            <a:t>, </a:t>
          </a:r>
          <a:r>
            <a:rPr lang="fr-CM" sz="1400" b="1" kern="1200" dirty="0" smtClean="0"/>
            <a:t>cohabitation</a:t>
          </a:r>
          <a:r>
            <a:rPr lang="fr-CM" sz="1400" kern="1200" dirty="0" smtClean="0"/>
            <a:t>, de </a:t>
          </a:r>
          <a:r>
            <a:rPr lang="fr-CM" sz="1400" b="1" kern="1200" dirty="0" smtClean="0"/>
            <a:t>maintenabilité</a:t>
          </a:r>
          <a:r>
            <a:rPr lang="fr-CM" sz="1400" kern="1200" dirty="0" smtClean="0"/>
            <a:t> et de </a:t>
          </a:r>
          <a:r>
            <a:rPr lang="fr-CM" sz="1400" b="1" kern="1200" dirty="0" smtClean="0"/>
            <a:t>reproductibilité</a:t>
          </a:r>
          <a:r>
            <a:rPr lang="fr-CM" sz="1400" kern="1200" dirty="0" smtClean="0"/>
            <a:t>. </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65599"/>
        <a:ext cx="6078190" cy="1490439"/>
      </dsp:txXfrm>
    </dsp:sp>
    <dsp:sp modelId="{B5CDC7D1-69AA-40BC-84B5-4B81EE15BD4F}">
      <dsp:nvSpPr>
        <dsp:cNvPr id="0" name=""/>
        <dsp:cNvSpPr/>
      </dsp:nvSpPr>
      <dsp:spPr>
        <a:xfrm>
          <a:off x="55968" y="313531"/>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85084"/>
          <a:ext cx="5788968" cy="96244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CM" sz="1600" kern="1200" dirty="0" smtClean="0"/>
            <a:t>Si la conteneurisation via Docker s’impose comme la solution indispensable pour standardiser les environnements.</a:t>
          </a:r>
        </a:p>
        <a:p>
          <a:pPr lvl="0" algn="l" defTabSz="711200">
            <a:lnSpc>
              <a:spcPct val="90000"/>
            </a:lnSpc>
            <a:spcBef>
              <a:spcPct val="0"/>
            </a:spcBef>
            <a:spcAft>
              <a:spcPct val="35000"/>
            </a:spcAft>
          </a:pPr>
          <a:r>
            <a:rPr lang="fr-CM" sz="1600" kern="1200" dirty="0" smtClean="0"/>
            <a:t>L’intérêt scientifique et technique de notre étude repose sur la conception d’un outil innovant</a:t>
          </a:r>
          <a:endParaRPr lang="fr-FR" sz="1600" kern="1200" dirty="0">
            <a:latin typeface="Century Gothic" panose="020B0502020202020204" pitchFamily="34" charset="0"/>
          </a:endParaRPr>
        </a:p>
      </dsp:txBody>
      <dsp:txXfrm>
        <a:off x="842478" y="1585084"/>
        <a:ext cx="5788968" cy="962446"/>
      </dsp:txXfrm>
    </dsp:sp>
    <dsp:sp modelId="{3E4B33B9-75EF-4867-9D98-362146DB4B6F}">
      <dsp:nvSpPr>
        <dsp:cNvPr id="0" name=""/>
        <dsp:cNvSpPr/>
      </dsp:nvSpPr>
      <dsp:spPr>
        <a:xfrm>
          <a:off x="345190" y="1507022"/>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577555"/>
          <a:ext cx="6078190" cy="124049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CM" sz="1600" kern="1200" dirty="0" smtClean="0"/>
            <a:t>Pour ancrer ce projet de recherche dans une réalité technique concrète, </a:t>
          </a:r>
          <a:r>
            <a:rPr lang="fr-CM" sz="1600" b="1" kern="1200" dirty="0" smtClean="0"/>
            <a:t>notre outil cible spécifiquement l'écosystème PHP.</a:t>
          </a:r>
        </a:p>
        <a:p>
          <a:pPr lvl="0" algn="l" defTabSz="711200">
            <a:lnSpc>
              <a:spcPct val="90000"/>
            </a:lnSpc>
            <a:spcBef>
              <a:spcPct val="0"/>
            </a:spcBef>
            <a:spcAft>
              <a:spcPct val="35000"/>
            </a:spcAft>
          </a:pPr>
          <a:r>
            <a:rPr lang="fr-FR" sz="1600" kern="1200" dirty="0" smtClean="0"/>
            <a:t>Cette démarche vise à démocratiser l’accès aux infrastructures modernes et à accélérer la transition vers </a:t>
          </a:r>
          <a:r>
            <a:rPr lang="fr-FR" sz="1600" kern="1200" smtClean="0"/>
            <a:t>le Cloud.</a:t>
          </a:r>
          <a:endParaRPr lang="fr-FR" sz="1600" kern="1200" dirty="0">
            <a:latin typeface="Century Gothic" panose="020B0502020202020204" pitchFamily="34" charset="0"/>
          </a:endParaRPr>
        </a:p>
      </dsp:txBody>
      <dsp:txXfrm>
        <a:off x="553255" y="2577555"/>
        <a:ext cx="6078190" cy="1240490"/>
      </dsp:txXfrm>
    </dsp:sp>
    <dsp:sp modelId="{8707A585-70F5-4A07-89D9-BE213FFFD9AC}">
      <dsp:nvSpPr>
        <dsp:cNvPr id="0" name=""/>
        <dsp:cNvSpPr/>
      </dsp:nvSpPr>
      <dsp:spPr>
        <a:xfrm>
          <a:off x="55968" y="2700513"/>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56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224" y="681740"/>
        <a:ext cx="2701100" cy="770117"/>
      </dsp:txXfrm>
    </dsp:sp>
    <dsp:sp modelId="{ED44B01C-63A9-44B9-BA7A-DE76B70BE5A4}">
      <dsp:nvSpPr>
        <dsp:cNvPr id="0" name=""/>
        <dsp:cNvSpPr/>
      </dsp:nvSpPr>
      <dsp:spPr>
        <a:xfrm>
          <a:off x="304881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474" y="681740"/>
        <a:ext cx="2701100" cy="770117"/>
      </dsp:txXfrm>
    </dsp:sp>
    <dsp:sp modelId="{528D78F8-ADD5-4974-AB5A-621368C1BFAD}">
      <dsp:nvSpPr>
        <dsp:cNvPr id="0" name=""/>
        <dsp:cNvSpPr/>
      </dsp:nvSpPr>
      <dsp:spPr>
        <a:xfrm>
          <a:off x="6092063" y="640079"/>
          <a:ext cx="2784422"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Approche </a:t>
          </a:r>
          <a:r>
            <a:rPr lang="fr-FR" sz="2100" kern="1200"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3724" y="681740"/>
        <a:ext cx="2701100" cy="770117"/>
      </dsp:txXfrm>
    </dsp:sp>
    <dsp:sp modelId="{4BA9EBD1-9D81-44EF-9CD6-6FFA3300A5D2}">
      <dsp:nvSpPr>
        <dsp:cNvPr id="0" name=""/>
        <dsp:cNvSpPr/>
      </dsp:nvSpPr>
      <dsp:spPr>
        <a:xfrm>
          <a:off x="9135314" y="640079"/>
          <a:ext cx="2784422"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6975" y="681740"/>
        <a:ext cx="2701100" cy="7701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56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224" y="681740"/>
        <a:ext cx="2701100" cy="770117"/>
      </dsp:txXfrm>
    </dsp:sp>
    <dsp:sp modelId="{ED44B01C-63A9-44B9-BA7A-DE76B70BE5A4}">
      <dsp:nvSpPr>
        <dsp:cNvPr id="0" name=""/>
        <dsp:cNvSpPr/>
      </dsp:nvSpPr>
      <dsp:spPr>
        <a:xfrm>
          <a:off x="304881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474" y="681740"/>
        <a:ext cx="2701100" cy="770117"/>
      </dsp:txXfrm>
    </dsp:sp>
    <dsp:sp modelId="{528D78F8-ADD5-4974-AB5A-621368C1BFAD}">
      <dsp:nvSpPr>
        <dsp:cNvPr id="0" name=""/>
        <dsp:cNvSpPr/>
      </dsp:nvSpPr>
      <dsp:spPr>
        <a:xfrm>
          <a:off x="6092063" y="640079"/>
          <a:ext cx="2784422"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3724" y="681740"/>
        <a:ext cx="2701100" cy="770117"/>
      </dsp:txXfrm>
    </dsp:sp>
    <dsp:sp modelId="{4BA9EBD1-9D81-44EF-9CD6-6FFA3300A5D2}">
      <dsp:nvSpPr>
        <dsp:cNvPr id="0" name=""/>
        <dsp:cNvSpPr/>
      </dsp:nvSpPr>
      <dsp:spPr>
        <a:xfrm>
          <a:off x="9135314" y="640079"/>
          <a:ext cx="2784422"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6975" y="681740"/>
        <a:ext cx="2701100" cy="770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10190" y="640079"/>
          <a:ext cx="2853075"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1851" y="681740"/>
        <a:ext cx="2769753" cy="770117"/>
      </dsp:txXfrm>
    </dsp:sp>
    <dsp:sp modelId="{ED44B01C-63A9-44B9-BA7A-DE76B70BE5A4}">
      <dsp:nvSpPr>
        <dsp:cNvPr id="0" name=""/>
        <dsp:cNvSpPr/>
      </dsp:nvSpPr>
      <dsp:spPr>
        <a:xfrm>
          <a:off x="3027471" y="640079"/>
          <a:ext cx="2853075"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9132" y="681740"/>
        <a:ext cx="2769753" cy="770117"/>
      </dsp:txXfrm>
    </dsp:sp>
    <dsp:sp modelId="{528D78F8-ADD5-4974-AB5A-621368C1BFAD}">
      <dsp:nvSpPr>
        <dsp:cNvPr id="0" name=""/>
        <dsp:cNvSpPr/>
      </dsp:nvSpPr>
      <dsp:spPr>
        <a:xfrm>
          <a:off x="6044752" y="640079"/>
          <a:ext cx="2853075"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86413" y="681740"/>
        <a:ext cx="2769753" cy="770117"/>
      </dsp:txXfrm>
    </dsp:sp>
    <dsp:sp modelId="{4BA9EBD1-9D81-44EF-9CD6-6FFA3300A5D2}">
      <dsp:nvSpPr>
        <dsp:cNvPr id="0" name=""/>
        <dsp:cNvSpPr/>
      </dsp:nvSpPr>
      <dsp:spPr>
        <a:xfrm>
          <a:off x="9062034" y="640079"/>
          <a:ext cx="2853075"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03695" y="681740"/>
        <a:ext cx="2769753" cy="770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AE082-C531-4072-B13D-765D81377898}">
      <dsp:nvSpPr>
        <dsp:cNvPr id="0" name=""/>
        <dsp:cNvSpPr/>
      </dsp:nvSpPr>
      <dsp:spPr>
        <a:xfrm>
          <a:off x="118"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Comment planifier une migration progressive sans rupture de service, tout en garantissant la performance, la sécurité et la maintenabilité ? </a:t>
          </a:r>
          <a:r>
            <a:rPr lang="fr-FR" sz="1600" kern="1200" dirty="0" smtClean="0">
              <a:latin typeface="Century Gothic" panose="020B0502020202020204" pitchFamily="34" charset="0"/>
            </a:rPr>
            <a:t>)</a:t>
          </a:r>
          <a:endParaRPr lang="fr-FR" sz="1600" kern="1200" dirty="0">
            <a:latin typeface="Century Gothic" panose="020B0502020202020204" pitchFamily="34" charset="0"/>
            <a:ea typeface="Tahoma" panose="020B0604030504040204" pitchFamily="34" charset="0"/>
            <a:cs typeface="Tahoma" panose="020B0604030504040204" pitchFamily="34" charset="0"/>
          </a:endParaRPr>
        </a:p>
      </dsp:txBody>
      <dsp:txXfrm>
        <a:off x="118" y="1802928"/>
        <a:ext cx="1581732" cy="1802928"/>
      </dsp:txXfrm>
    </dsp:sp>
    <dsp:sp modelId="{1C208517-F4A5-4316-922B-01FEE8E87854}">
      <dsp:nvSpPr>
        <dsp:cNvPr id="0" name=""/>
        <dsp:cNvSpPr/>
      </dsp:nvSpPr>
      <dsp:spPr>
        <a:xfrm>
          <a:off x="47570"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F4DA02-DFD3-41E3-AF7A-D01CFBD6EC00}">
      <dsp:nvSpPr>
        <dsp:cNvPr id="0" name=""/>
        <dsp:cNvSpPr/>
      </dsp:nvSpPr>
      <dsp:spPr>
        <a:xfrm>
          <a:off x="1629303"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fr-FR" sz="1600" kern="1200" dirty="0" smtClean="0"/>
            <a:t>Comment adapter une application web existante monolithique/3-tiers pour les environnements containerisés ?</a:t>
          </a:r>
          <a:endParaRPr lang="fr-FR" sz="1600" kern="1200" dirty="0">
            <a:latin typeface="Century Gothic" panose="020B0502020202020204" pitchFamily="34" charset="0"/>
          </a:endParaRPr>
        </a:p>
      </dsp:txBody>
      <dsp:txXfrm>
        <a:off x="1629303" y="1802928"/>
        <a:ext cx="1581732" cy="1802928"/>
      </dsp:txXfrm>
    </dsp:sp>
    <dsp:sp modelId="{2FC96856-0A69-498E-B7C5-0B39221071A7}">
      <dsp:nvSpPr>
        <dsp:cNvPr id="0" name=""/>
        <dsp:cNvSpPr/>
      </dsp:nvSpPr>
      <dsp:spPr>
        <a:xfrm>
          <a:off x="1676755" y="372300"/>
          <a:ext cx="1486828" cy="1297215"/>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976C02-F444-4CAE-8E16-8BCD1D58D29F}">
      <dsp:nvSpPr>
        <dsp:cNvPr id="0" name=""/>
        <dsp:cNvSpPr/>
      </dsp:nvSpPr>
      <dsp:spPr>
        <a:xfrm>
          <a:off x="3258488"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fr-FR" sz="1600" kern="1200" dirty="0" smtClean="0"/>
            <a:t>Comment remédier aux problèmes de déploiement ?</a:t>
          </a:r>
          <a:endParaRPr lang="fr-FR" sz="1600" kern="1200" dirty="0">
            <a:latin typeface="Century Gothic" panose="020B0502020202020204" pitchFamily="34" charset="0"/>
          </a:endParaRPr>
        </a:p>
      </dsp:txBody>
      <dsp:txXfrm>
        <a:off x="3258488" y="1802928"/>
        <a:ext cx="1581732" cy="1802928"/>
      </dsp:txXfrm>
    </dsp:sp>
    <dsp:sp modelId="{4D4DC288-2E6A-43B4-9948-C4828B3804B8}">
      <dsp:nvSpPr>
        <dsp:cNvPr id="0" name=""/>
        <dsp:cNvSpPr/>
      </dsp:nvSpPr>
      <dsp:spPr>
        <a:xfrm>
          <a:off x="3305940" y="399587"/>
          <a:ext cx="1486828" cy="1242641"/>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9CB0F-3043-46BE-99B2-BADBD0ABDE50}">
      <dsp:nvSpPr>
        <dsp:cNvPr id="0" name=""/>
        <dsp:cNvSpPr/>
      </dsp:nvSpPr>
      <dsp:spPr>
        <a:xfrm>
          <a:off x="4887672"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Quels sont les principes conceptuels et les architectures sous-jacentes pour la migration automatisée d'applications web vers un environnement conteneurisé ?</a:t>
          </a:r>
          <a:endParaRPr lang="fr-FR" sz="1200" kern="1200" dirty="0">
            <a:latin typeface="Century Gothic" panose="020B0502020202020204" pitchFamily="34" charset="0"/>
          </a:endParaRPr>
        </a:p>
      </dsp:txBody>
      <dsp:txXfrm>
        <a:off x="4887672" y="1802928"/>
        <a:ext cx="1581732" cy="1802928"/>
      </dsp:txXfrm>
    </dsp:sp>
    <dsp:sp modelId="{D4526EF1-6E56-467F-A6CA-6648D55002C7}">
      <dsp:nvSpPr>
        <dsp:cNvPr id="0" name=""/>
        <dsp:cNvSpPr/>
      </dsp:nvSpPr>
      <dsp:spPr>
        <a:xfrm>
          <a:off x="4935124"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9E5EE1-9634-4834-AFFD-9CD7EC94C226}">
      <dsp:nvSpPr>
        <dsp:cNvPr id="0" name=""/>
        <dsp:cNvSpPr/>
      </dsp:nvSpPr>
      <dsp:spPr>
        <a:xfrm>
          <a:off x="6516857"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Comment cet outil identifie et gère-t-il les dépendances, les configurations et la persistance des données des applications web existantes pour la conteneurisation ?</a:t>
          </a:r>
          <a:endParaRPr lang="fr-FR" sz="1200" kern="1200" dirty="0">
            <a:latin typeface="Century Gothic" panose="020B0502020202020204" pitchFamily="34" charset="0"/>
          </a:endParaRPr>
        </a:p>
      </dsp:txBody>
      <dsp:txXfrm>
        <a:off x="6516857" y="1802928"/>
        <a:ext cx="1581732" cy="1802928"/>
      </dsp:txXfrm>
    </dsp:sp>
    <dsp:sp modelId="{C94E44A5-568E-4D96-B97D-FB26FD7DE399}">
      <dsp:nvSpPr>
        <dsp:cNvPr id="0" name=""/>
        <dsp:cNvSpPr/>
      </dsp:nvSpPr>
      <dsp:spPr>
        <a:xfrm>
          <a:off x="6564309"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60D73F-B009-4B28-8826-8DE5A5821CF1}">
      <dsp:nvSpPr>
        <dsp:cNvPr id="0" name=""/>
        <dsp:cNvSpPr/>
      </dsp:nvSpPr>
      <dsp:spPr>
        <a:xfrm>
          <a:off x="8146042"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latin typeface="Century Gothic" panose="020B0502020202020204" pitchFamily="34" charset="0"/>
            </a:rPr>
            <a:t>Ces questions de recherche nous ont conduit a fixer les objectifs suivant:</a:t>
          </a:r>
          <a:endParaRPr lang="fr-FR" sz="1200" kern="1200" dirty="0">
            <a:latin typeface="Century Gothic" panose="020B0502020202020204" pitchFamily="34" charset="0"/>
          </a:endParaRPr>
        </a:p>
      </dsp:txBody>
      <dsp:txXfrm>
        <a:off x="8146042" y="1802928"/>
        <a:ext cx="1581732" cy="1802928"/>
      </dsp:txXfrm>
    </dsp:sp>
    <dsp:sp modelId="{812D724E-F0DD-4D8A-9D0D-ED0EBED340E7}">
      <dsp:nvSpPr>
        <dsp:cNvPr id="0" name=""/>
        <dsp:cNvSpPr/>
      </dsp:nvSpPr>
      <dsp:spPr>
        <a:xfrm>
          <a:off x="8193494"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B0B4B4-69E8-490A-B8E6-FD0822C21E9B}">
      <dsp:nvSpPr>
        <dsp:cNvPr id="0" name=""/>
        <dsp:cNvSpPr/>
      </dsp:nvSpPr>
      <dsp:spPr>
        <a:xfrm>
          <a:off x="389115" y="3605857"/>
          <a:ext cx="8949662" cy="676098"/>
        </a:xfrm>
        <a:prstGeom prst="leftRight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189755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569267"/>
          <a:ext cx="2870689" cy="759023"/>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3020" y="606319"/>
        <a:ext cx="2796585" cy="684919"/>
      </dsp:txXfrm>
    </dsp:sp>
    <dsp:sp modelId="{ED44B01C-63A9-44B9-BA7A-DE76B70BE5A4}">
      <dsp:nvSpPr>
        <dsp:cNvPr id="0" name=""/>
        <dsp:cNvSpPr/>
      </dsp:nvSpPr>
      <dsp:spPr>
        <a:xfrm>
          <a:off x="3020192" y="569267"/>
          <a:ext cx="2870689" cy="759023"/>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57244" y="606319"/>
        <a:ext cx="2796585" cy="684919"/>
      </dsp:txXfrm>
    </dsp:sp>
    <dsp:sp modelId="{528D78F8-ADD5-4974-AB5A-621368C1BFAD}">
      <dsp:nvSpPr>
        <dsp:cNvPr id="0" name=""/>
        <dsp:cNvSpPr/>
      </dsp:nvSpPr>
      <dsp:spPr>
        <a:xfrm>
          <a:off x="6034417" y="569267"/>
          <a:ext cx="2870689" cy="759023"/>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1469" y="606319"/>
        <a:ext cx="2796585" cy="684919"/>
      </dsp:txXfrm>
    </dsp:sp>
    <dsp:sp modelId="{4BA9EBD1-9D81-44EF-9CD6-6FFA3300A5D2}">
      <dsp:nvSpPr>
        <dsp:cNvPr id="0" name=""/>
        <dsp:cNvSpPr/>
      </dsp:nvSpPr>
      <dsp:spPr>
        <a:xfrm>
          <a:off x="9048641" y="569267"/>
          <a:ext cx="2870689" cy="759023"/>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85693" y="606319"/>
        <a:ext cx="2796585" cy="68491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74509"/>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65599"/>
          <a:ext cx="6078190" cy="149043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just" defTabSz="622300">
            <a:lnSpc>
              <a:spcPct val="90000"/>
            </a:lnSpc>
            <a:spcBef>
              <a:spcPct val="0"/>
            </a:spcBef>
            <a:spcAft>
              <a:spcPct val="35000"/>
            </a:spcAft>
          </a:pPr>
          <a:r>
            <a:rPr lang="fr-FR" sz="1400" kern="1200" dirty="0" smtClean="0"/>
            <a:t>Le déploiement et la gestion d'applications ont été profondément transformés par l'avènement de la </a:t>
          </a:r>
          <a:r>
            <a:rPr lang="fr-FR" sz="1400" b="1" kern="1200" dirty="0" smtClean="0"/>
            <a:t>conteneurisation</a:t>
          </a:r>
          <a:r>
            <a:rPr lang="fr-FR" sz="1400" kern="1200" dirty="0" smtClean="0"/>
            <a:t> (notamment avec </a:t>
          </a:r>
          <a:r>
            <a:rPr lang="fr-FR" sz="1400" b="1" kern="1200" dirty="0" smtClean="0"/>
            <a:t>Docker</a:t>
          </a:r>
          <a:r>
            <a:rPr lang="fr-FR" sz="1400" kern="1200" dirty="0" smtClean="0"/>
            <a:t>) et de l'</a:t>
          </a:r>
          <a:r>
            <a:rPr lang="fr-FR" sz="1400" b="1" kern="1200" dirty="0" smtClean="0"/>
            <a:t>orchestration</a:t>
          </a:r>
          <a:r>
            <a:rPr lang="fr-FR" sz="1400" kern="1200" dirty="0" smtClean="0"/>
            <a:t> (avec </a:t>
          </a:r>
          <a:r>
            <a:rPr lang="fr-FR" sz="1400" b="1" kern="1200" dirty="0" err="1" smtClean="0"/>
            <a:t>Kubernetes</a:t>
          </a:r>
          <a:r>
            <a:rPr lang="fr-FR" sz="1400" kern="1200" dirty="0" smtClean="0"/>
            <a:t>). Ces technologies offrent des avantages indéniables en terme de portabilité, de </a:t>
          </a:r>
          <a:r>
            <a:rPr lang="fr-FR" sz="1400" kern="1200" dirty="0" err="1" smtClean="0"/>
            <a:t>scalabilité</a:t>
          </a:r>
          <a:r>
            <a:rPr lang="fr-FR" sz="1400" kern="1200" dirty="0" smtClean="0"/>
            <a:t>, d'isolation et d'efficacité des ressources.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65599"/>
        <a:ext cx="6078190" cy="1490439"/>
      </dsp:txXfrm>
    </dsp:sp>
    <dsp:sp modelId="{B5CDC7D1-69AA-40BC-84B5-4B81EE15BD4F}">
      <dsp:nvSpPr>
        <dsp:cNvPr id="0" name=""/>
        <dsp:cNvSpPr/>
      </dsp:nvSpPr>
      <dsp:spPr>
        <a:xfrm>
          <a:off x="55968" y="313531"/>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85084"/>
          <a:ext cx="5788968" cy="96244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Cependant, le passage des applications web existantes, souvent conçues avec des architectures monolithiques et des dépendances complexes, vers cet environnement conteneurisé représente un défi significatif. </a:t>
          </a:r>
          <a:endParaRPr lang="fr-FR" sz="1600" kern="1200" dirty="0">
            <a:latin typeface="Century Gothic" panose="020B0502020202020204" pitchFamily="34" charset="0"/>
          </a:endParaRPr>
        </a:p>
      </dsp:txBody>
      <dsp:txXfrm>
        <a:off x="842478" y="1585084"/>
        <a:ext cx="5788968" cy="962446"/>
      </dsp:txXfrm>
    </dsp:sp>
    <dsp:sp modelId="{3E4B33B9-75EF-4867-9D98-362146DB4B6F}">
      <dsp:nvSpPr>
        <dsp:cNvPr id="0" name=""/>
        <dsp:cNvSpPr/>
      </dsp:nvSpPr>
      <dsp:spPr>
        <a:xfrm>
          <a:off x="345190" y="1507022"/>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577555"/>
          <a:ext cx="6078190" cy="124049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Au Cameroun, la migration des applications web existantes demeure un défi majeur pour de nombreuses entités publiques, parapublique</a:t>
          </a:r>
          <a:r>
            <a:rPr lang="fr-CM" sz="1600" kern="1200" dirty="0" smtClean="0"/>
            <a:t>s </a:t>
          </a:r>
          <a:r>
            <a:rPr lang="fr-FR" sz="1600" kern="1200" dirty="0" smtClean="0"/>
            <a:t>et privée</a:t>
          </a:r>
          <a:r>
            <a:rPr lang="fr-CM" sz="1600" kern="1200" dirty="0" smtClean="0"/>
            <a:t>s</a:t>
          </a:r>
          <a:endParaRPr lang="fr-FR" sz="1600" kern="1200" dirty="0">
            <a:latin typeface="Century Gothic" panose="020B0502020202020204" pitchFamily="34" charset="0"/>
          </a:endParaRPr>
        </a:p>
      </dsp:txBody>
      <dsp:txXfrm>
        <a:off x="553255" y="2577555"/>
        <a:ext cx="6078190" cy="1240490"/>
      </dsp:txXfrm>
    </dsp:sp>
    <dsp:sp modelId="{8707A585-70F5-4A07-89D9-BE213FFFD9AC}">
      <dsp:nvSpPr>
        <dsp:cNvPr id="0" name=""/>
        <dsp:cNvSpPr/>
      </dsp:nvSpPr>
      <dsp:spPr>
        <a:xfrm>
          <a:off x="55968" y="2700513"/>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solidFill>
                <a:schemeClr val="bg1"/>
              </a:solidFill>
              <a:effectLst/>
              <a:latin typeface="+mn-lt"/>
              <a:ea typeface="+mn-ea"/>
              <a:cs typeface="+mn-cs"/>
            </a:rPr>
            <a:t>Bien qu’il existe des outils comme « Docker » pour assurer cette migration et malgré les avantages indéniables offerts par la conteneurisation, ces entreprises peinent à effectuer cette transition par manque d’expertise </a:t>
          </a:r>
          <a:r>
            <a:rPr lang="fr-FR" sz="1400" kern="1200" dirty="0" err="1" smtClean="0">
              <a:solidFill>
                <a:schemeClr val="bg1"/>
              </a:solidFill>
              <a:effectLst/>
              <a:latin typeface="+mn-lt"/>
              <a:ea typeface="+mn-ea"/>
              <a:cs typeface="+mn-cs"/>
            </a:rPr>
            <a:t>DevOps</a:t>
          </a:r>
          <a:r>
            <a:rPr lang="fr-FR" sz="1400" kern="1200" dirty="0" smtClean="0">
              <a:solidFill>
                <a:schemeClr val="tx1"/>
              </a:solidFill>
              <a:effectLst/>
              <a:latin typeface="+mn-lt"/>
              <a:ea typeface="+mn-ea"/>
              <a:cs typeface="+mn-cs"/>
            </a:rPr>
            <a:t>. </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369280"/>
          <a:ext cx="5788968" cy="143810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Le choix de ce thème se justifie pour plusieurs raisons à savoir :</a:t>
          </a:r>
          <a:endParaRPr lang="en-US" sz="1400" kern="1200" dirty="0" smtClean="0"/>
        </a:p>
        <a:p>
          <a:pPr lvl="0" algn="l" defTabSz="622300">
            <a:lnSpc>
              <a:spcPct val="90000"/>
            </a:lnSpc>
            <a:spcBef>
              <a:spcPct val="0"/>
            </a:spcBef>
            <a:spcAft>
              <a:spcPct val="35000"/>
            </a:spcAft>
          </a:pPr>
          <a:r>
            <a:rPr lang="fr-FR" sz="1200" b="1" kern="1200" dirty="0" smtClean="0"/>
            <a:t>Actualité technologique :</a:t>
          </a:r>
          <a:r>
            <a:rPr lang="fr-FR" sz="1200" kern="1200" dirty="0" smtClean="0"/>
            <a:t> La conteneurisation est au cœur des architectures logicielles modernes (</a:t>
          </a:r>
          <a:r>
            <a:rPr lang="fr-FR" sz="1200" kern="1200" dirty="0" err="1" smtClean="0"/>
            <a:t>DevOps</a:t>
          </a:r>
          <a:r>
            <a:rPr lang="fr-FR" sz="1200" kern="1200" dirty="0" smtClean="0"/>
            <a:t>, Cloud-Native).</a:t>
          </a:r>
        </a:p>
        <a:p>
          <a:pPr lvl="0" algn="l" defTabSz="622300">
            <a:lnSpc>
              <a:spcPct val="90000"/>
            </a:lnSpc>
            <a:spcBef>
              <a:spcPct val="0"/>
            </a:spcBef>
            <a:spcAft>
              <a:spcPct val="35000"/>
            </a:spcAft>
          </a:pPr>
          <a:r>
            <a:rPr lang="fr-FR" sz="1200" b="1" kern="1200" dirty="0" smtClean="0"/>
            <a:t>Demande du marché :</a:t>
          </a:r>
          <a:r>
            <a:rPr lang="fr-FR" sz="1200" kern="1200" dirty="0" smtClean="0"/>
            <a:t> Les entreprises cherchent activement des experts capables de gérer la transition vers des environnements conteneurisés.</a:t>
          </a:r>
          <a:endParaRPr lang="fr-FR" sz="1200" kern="1200" dirty="0">
            <a:latin typeface="Century Gothic" panose="020B0502020202020204" pitchFamily="34" charset="0"/>
          </a:endParaRPr>
        </a:p>
      </dsp:txBody>
      <dsp:txXfrm>
        <a:off x="842478" y="1369280"/>
        <a:ext cx="5788968" cy="1438100"/>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C’est dans cet ordre d’idée que nous nous sommes intéressés à informatiser une solution pour permettre à toutes les structures souhaitant accélérer la transition vers des architectures modernes sans nécessité de compétences </a:t>
          </a:r>
          <a:r>
            <a:rPr lang="fr-FR" sz="1400" kern="1200" dirty="0" err="1" smtClean="0"/>
            <a:t>DevOps</a:t>
          </a:r>
          <a:r>
            <a:rPr lang="fr-FR" sz="1400" kern="1200" dirty="0" smtClean="0"/>
            <a:t>.</a:t>
          </a:r>
          <a:endParaRPr lang="fr-FR" sz="14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2329" y="640079"/>
          <a:ext cx="2793900" cy="853439"/>
        </a:xfrm>
        <a:prstGeom prst="roundRect">
          <a:avLst/>
        </a:prstGeom>
        <a:solidFill>
          <a:schemeClr val="accent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3990" y="681740"/>
        <a:ext cx="2710578" cy="770117"/>
      </dsp:txXfrm>
    </dsp:sp>
    <dsp:sp modelId="{ED44B01C-63A9-44B9-BA7A-DE76B70BE5A4}">
      <dsp:nvSpPr>
        <dsp:cNvPr id="0" name=""/>
        <dsp:cNvSpPr/>
      </dsp:nvSpPr>
      <dsp:spPr>
        <a:xfrm>
          <a:off x="3044576" y="640079"/>
          <a:ext cx="2793900"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86237" y="681740"/>
        <a:ext cx="2710578" cy="770117"/>
      </dsp:txXfrm>
    </dsp:sp>
    <dsp:sp modelId="{528D78F8-ADD5-4974-AB5A-621368C1BFAD}">
      <dsp:nvSpPr>
        <dsp:cNvPr id="0" name=""/>
        <dsp:cNvSpPr/>
      </dsp:nvSpPr>
      <dsp:spPr>
        <a:xfrm>
          <a:off x="6086823" y="640079"/>
          <a:ext cx="2793900"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28484" y="681740"/>
        <a:ext cx="2710578" cy="770117"/>
      </dsp:txXfrm>
    </dsp:sp>
    <dsp:sp modelId="{4BA9EBD1-9D81-44EF-9CD6-6FFA3300A5D2}">
      <dsp:nvSpPr>
        <dsp:cNvPr id="0" name=""/>
        <dsp:cNvSpPr/>
      </dsp:nvSpPr>
      <dsp:spPr>
        <a:xfrm>
          <a:off x="9129070" y="640079"/>
          <a:ext cx="2793900"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0731" y="681740"/>
        <a:ext cx="2710578" cy="77011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Au Cameroun, une grande partie du patrimoine applicatif est constituée d'applications web développées sur des architectures plus traditionnelles (monolithique ou 3-tiers), souvent déployées directement sur des serveurs physiques ou des machines virtuelles, avec des dépendances complexes et des configurations spécifiques à leur environnement d'origine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01483"/>
          <a:ext cx="5788968" cy="117369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En effet, ces infrastructures traditionnelles présentent plusieurs limitations à savoir :</a:t>
          </a:r>
          <a:endParaRPr lang="en-US" sz="1100" kern="1200" dirty="0" smtClean="0"/>
        </a:p>
        <a:p>
          <a:pPr lvl="0" algn="l" defTabSz="488950">
            <a:lnSpc>
              <a:spcPct val="90000"/>
            </a:lnSpc>
            <a:spcBef>
              <a:spcPct val="0"/>
            </a:spcBef>
            <a:spcAft>
              <a:spcPct val="35000"/>
            </a:spcAft>
          </a:pPr>
          <a:r>
            <a:rPr lang="fr-FR" sz="1100" b="1" kern="1200" dirty="0" smtClean="0"/>
            <a:t>- Problèmes de portabilité</a:t>
          </a:r>
          <a:r>
            <a:rPr lang="fr-FR" sz="1100" kern="1200" dirty="0" smtClean="0"/>
            <a:t> entre environnements (développement, test, production) </a:t>
          </a:r>
          <a:endParaRPr lang="en-US" sz="1100" kern="1200" dirty="0" smtClean="0"/>
        </a:p>
        <a:p>
          <a:pPr lvl="0" algn="l" defTabSz="488950">
            <a:lnSpc>
              <a:spcPct val="90000"/>
            </a:lnSpc>
            <a:spcBef>
              <a:spcPct val="0"/>
            </a:spcBef>
            <a:spcAft>
              <a:spcPct val="35000"/>
            </a:spcAft>
          </a:pPr>
          <a:r>
            <a:rPr lang="fr-FR" sz="1100" b="1" kern="1200" dirty="0" smtClean="0"/>
            <a:t>- Dépendances système</a:t>
          </a:r>
          <a:r>
            <a:rPr lang="fr-FR" sz="1100" kern="1200" dirty="0" smtClean="0"/>
            <a:t> complexes et difficiles à reproduire</a:t>
          </a:r>
          <a:endParaRPr lang="en-US" sz="1100" kern="1200" dirty="0" smtClean="0"/>
        </a:p>
        <a:p>
          <a:pPr lvl="0" algn="l" defTabSz="488950">
            <a:lnSpc>
              <a:spcPct val="90000"/>
            </a:lnSpc>
            <a:spcBef>
              <a:spcPct val="0"/>
            </a:spcBef>
            <a:spcAft>
              <a:spcPct val="35000"/>
            </a:spcAft>
          </a:pPr>
          <a:r>
            <a:rPr lang="fr-FR" sz="1100" b="1" kern="1200" dirty="0" smtClean="0"/>
            <a:t>- </a:t>
          </a:r>
          <a:r>
            <a:rPr lang="fr-FR" sz="1100" b="1" kern="1200" dirty="0" err="1" smtClean="0"/>
            <a:t>Scalabilité</a:t>
          </a:r>
          <a:r>
            <a:rPr lang="fr-FR" sz="1100" kern="1200" dirty="0" smtClean="0"/>
            <a:t> coûteuse (ajout de ressources matérielles)</a:t>
          </a:r>
          <a:endParaRPr lang="fr-FR" sz="1100" kern="1200" dirty="0">
            <a:latin typeface="Century Gothic" panose="020B0502020202020204" pitchFamily="34" charset="0"/>
          </a:endParaRPr>
        </a:p>
      </dsp:txBody>
      <dsp:txXfrm>
        <a:off x="842478" y="1501483"/>
        <a:ext cx="5788968" cy="1173694"/>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b="1" kern="1200" dirty="0" smtClean="0"/>
            <a:t>-Problème de la Cohabitation</a:t>
          </a:r>
          <a:r>
            <a:rPr lang="fr-FR" sz="1100" kern="1200" dirty="0" smtClean="0"/>
            <a:t> entre Applications déployées</a:t>
          </a:r>
          <a:endParaRPr lang="en-US" sz="1100" kern="1200" dirty="0" smtClean="0"/>
        </a:p>
        <a:p>
          <a:pPr lvl="0" algn="l" defTabSz="488950">
            <a:lnSpc>
              <a:spcPct val="90000"/>
            </a:lnSpc>
            <a:spcBef>
              <a:spcPct val="0"/>
            </a:spcBef>
            <a:spcAft>
              <a:spcPct val="35000"/>
            </a:spcAft>
          </a:pPr>
          <a:r>
            <a:rPr lang="fr-FR" sz="1100" b="1" kern="1200" dirty="0" smtClean="0"/>
            <a:t>-Temps de déploiement</a:t>
          </a:r>
          <a:r>
            <a:rPr lang="fr-FR" sz="1100" kern="1200" dirty="0" smtClean="0"/>
            <a:t> longs pour les nouvelles versions</a:t>
          </a:r>
          <a:endParaRPr lang="en-US" sz="1100" kern="1200" dirty="0" smtClean="0"/>
        </a:p>
        <a:p>
          <a:pPr lvl="0" algn="l" defTabSz="488950">
            <a:lnSpc>
              <a:spcPct val="90000"/>
            </a:lnSpc>
            <a:spcBef>
              <a:spcPct val="0"/>
            </a:spcBef>
            <a:spcAft>
              <a:spcPct val="35000"/>
            </a:spcAft>
          </a:pPr>
          <a:r>
            <a:rPr lang="fr-FR" sz="1100" b="1" kern="1200" dirty="0" smtClean="0"/>
            <a:t>-Problème d’optimisation des ressources utilisés.</a:t>
          </a:r>
        </a:p>
        <a:p>
          <a:pPr lvl="0" algn="l" defTabSz="488950">
            <a:lnSpc>
              <a:spcPct val="90000"/>
            </a:lnSpc>
            <a:spcBef>
              <a:spcPct val="0"/>
            </a:spcBef>
            <a:spcAft>
              <a:spcPct val="35000"/>
            </a:spcAft>
          </a:pPr>
          <a:r>
            <a:rPr lang="fr-FR" sz="1100" kern="1200" dirty="0" smtClean="0"/>
            <a:t>Cette problématique nous amène a formuler les questions de recherche suivant:</a:t>
          </a:r>
          <a:endParaRPr lang="fr-FR" sz="11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3193" y="640079"/>
          <a:ext cx="2780803" cy="853439"/>
        </a:xfrm>
        <a:prstGeom prst="roundRect">
          <a:avLst/>
        </a:prstGeom>
        <a:solidFill>
          <a:schemeClr val="accent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4854" y="681740"/>
        <a:ext cx="2697481" cy="770117"/>
      </dsp:txXfrm>
    </dsp:sp>
    <dsp:sp modelId="{ED44B01C-63A9-44B9-BA7A-DE76B70BE5A4}">
      <dsp:nvSpPr>
        <dsp:cNvPr id="0" name=""/>
        <dsp:cNvSpPr/>
      </dsp:nvSpPr>
      <dsp:spPr>
        <a:xfrm>
          <a:off x="3049230" y="640079"/>
          <a:ext cx="2780803"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891" y="681740"/>
        <a:ext cx="2697481" cy="770117"/>
      </dsp:txXfrm>
    </dsp:sp>
    <dsp:sp modelId="{528D78F8-ADD5-4974-AB5A-621368C1BFAD}">
      <dsp:nvSpPr>
        <dsp:cNvPr id="0" name=""/>
        <dsp:cNvSpPr/>
      </dsp:nvSpPr>
      <dsp:spPr>
        <a:xfrm>
          <a:off x="6095266" y="640079"/>
          <a:ext cx="2780803"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6927" y="681740"/>
        <a:ext cx="2697481" cy="770117"/>
      </dsp:txXfrm>
    </dsp:sp>
    <dsp:sp modelId="{4BA9EBD1-9D81-44EF-9CD6-6FFA3300A5D2}">
      <dsp:nvSpPr>
        <dsp:cNvPr id="0" name=""/>
        <dsp:cNvSpPr/>
      </dsp:nvSpPr>
      <dsp:spPr>
        <a:xfrm>
          <a:off x="9141303" y="640079"/>
          <a:ext cx="2780803"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82964" y="681740"/>
        <a:ext cx="2697481" cy="77011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L’objectif principal est de permette à toute structure souhaitant faire une migration d’une application web existant vers un environnement conteneurisé sans exiger de compétences techniques avancées.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01483"/>
          <a:ext cx="5788968" cy="117369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Les objectifs spécifiques sont les suivants:</a:t>
          </a:r>
          <a:endParaRPr lang="en-US" sz="1100" kern="1200" dirty="0" smtClean="0"/>
        </a:p>
        <a:p>
          <a:pPr lvl="0" algn="l" defTabSz="488950">
            <a:lnSpc>
              <a:spcPct val="90000"/>
            </a:lnSpc>
            <a:spcBef>
              <a:spcPct val="0"/>
            </a:spcBef>
            <a:spcAft>
              <a:spcPct val="35000"/>
            </a:spcAft>
          </a:pPr>
          <a:r>
            <a:rPr lang="fr-FR" sz="1100" kern="1200" dirty="0" smtClean="0"/>
            <a:t>Réduire le temps et la complexité de la containerisation d’une application web ; </a:t>
          </a:r>
          <a:endParaRPr lang="en-US" sz="1100" kern="1200" dirty="0" smtClean="0"/>
        </a:p>
        <a:p>
          <a:pPr lvl="0" algn="l" defTabSz="488950">
            <a:lnSpc>
              <a:spcPct val="90000"/>
            </a:lnSpc>
            <a:spcBef>
              <a:spcPct val="0"/>
            </a:spcBef>
            <a:spcAft>
              <a:spcPct val="35000"/>
            </a:spcAft>
          </a:pPr>
          <a:r>
            <a:rPr lang="fr-FR" sz="1100" kern="1200" dirty="0" smtClean="0"/>
            <a:t>Réduire le temps de déploiement et de redéploiement ;</a:t>
          </a:r>
          <a:endParaRPr lang="en-US" sz="1100" kern="1200" dirty="0" smtClean="0"/>
        </a:p>
        <a:p>
          <a:pPr lvl="0" algn="l" defTabSz="488950">
            <a:lnSpc>
              <a:spcPct val="90000"/>
            </a:lnSpc>
            <a:spcBef>
              <a:spcPct val="0"/>
            </a:spcBef>
            <a:spcAft>
              <a:spcPct val="35000"/>
            </a:spcAft>
          </a:pPr>
          <a:r>
            <a:rPr lang="fr-FR" sz="1100" kern="1200" dirty="0" smtClean="0"/>
            <a:t>Résoudre le problème de portabilité entre les environnements ;</a:t>
          </a:r>
          <a:endParaRPr lang="en-US" sz="1100" kern="1200" dirty="0" smtClean="0"/>
        </a:p>
        <a:p>
          <a:pPr lvl="0" algn="l" defTabSz="488950">
            <a:lnSpc>
              <a:spcPct val="90000"/>
            </a:lnSpc>
            <a:spcBef>
              <a:spcPct val="0"/>
            </a:spcBef>
            <a:spcAft>
              <a:spcPct val="35000"/>
            </a:spcAft>
          </a:pPr>
          <a:r>
            <a:rPr lang="fr-FR" sz="1100" kern="1200" dirty="0" smtClean="0"/>
            <a:t>Résoudre le problème de cohabitation des applications sur le même serveur ;</a:t>
          </a:r>
          <a:endParaRPr lang="fr-FR" sz="1100" kern="1200" dirty="0">
            <a:latin typeface="Century Gothic" panose="020B0502020202020204" pitchFamily="34" charset="0"/>
          </a:endParaRPr>
        </a:p>
      </dsp:txBody>
      <dsp:txXfrm>
        <a:off x="842478" y="1501483"/>
        <a:ext cx="5788968" cy="1173694"/>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Optimiser les processus de migration en réduisant les erreurs humaines, en accélérant les délais et en libérant des ressources humaines pour des tâches à plus forte valeur ajoutée ;</a:t>
          </a:r>
          <a:endParaRPr lang="en-US" sz="1100" kern="1200" dirty="0" smtClean="0"/>
        </a:p>
        <a:p>
          <a:pPr lvl="0" algn="l" defTabSz="488950">
            <a:lnSpc>
              <a:spcPct val="90000"/>
            </a:lnSpc>
            <a:spcBef>
              <a:spcPct val="0"/>
            </a:spcBef>
            <a:spcAft>
              <a:spcPct val="35000"/>
            </a:spcAft>
          </a:pPr>
          <a:r>
            <a:rPr lang="fr-FR" sz="1100" kern="1200" dirty="0" smtClean="0"/>
            <a:t>Optimiser l’utilisation des ressources ;</a:t>
          </a:r>
          <a:endParaRPr lang="en-US" sz="1100" kern="1200" dirty="0" smtClean="0"/>
        </a:p>
        <a:p>
          <a:pPr lvl="0" algn="l" defTabSz="488950">
            <a:lnSpc>
              <a:spcPct val="90000"/>
            </a:lnSpc>
            <a:spcBef>
              <a:spcPct val="0"/>
            </a:spcBef>
            <a:spcAft>
              <a:spcPct val="35000"/>
            </a:spcAft>
          </a:pPr>
          <a:r>
            <a:rPr lang="fr-FR" sz="1100" kern="1200" dirty="0" smtClean="0"/>
            <a:t>Permettre une transition fluide vers des orchestrateurs comme </a:t>
          </a:r>
          <a:r>
            <a:rPr lang="fr-FR" sz="1100" kern="1200" dirty="0" err="1" smtClean="0"/>
            <a:t>Kubernetes</a:t>
          </a:r>
          <a:r>
            <a:rPr lang="fr-FR" sz="1100" kern="1200" dirty="0" smtClean="0"/>
            <a:t> pour pallier au problème de monté en charge. </a:t>
          </a:r>
          <a:endParaRPr lang="fr-FR" sz="11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ED44B01C-63A9-44B9-BA7A-DE76B70BE5A4}">
      <dsp:nvSpPr>
        <dsp:cNvPr id="0" name=""/>
        <dsp:cNvSpPr/>
      </dsp:nvSpPr>
      <dsp:spPr>
        <a:xfrm>
          <a:off x="3034404"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528D78F8-ADD5-4974-AB5A-621368C1BFAD}">
      <dsp:nvSpPr>
        <dsp:cNvPr id="0" name=""/>
        <dsp:cNvSpPr/>
      </dsp:nvSpPr>
      <dsp:spPr>
        <a:xfrm>
          <a:off x="606149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4BA9EBD1-9D81-44EF-9CD6-6FFA3300A5D2}">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6164" y="640079"/>
          <a:ext cx="2778444"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825" y="681740"/>
        <a:ext cx="2695122" cy="770117"/>
      </dsp:txXfrm>
    </dsp:sp>
    <dsp:sp modelId="{ED44B01C-63A9-44B9-BA7A-DE76B70BE5A4}">
      <dsp:nvSpPr>
        <dsp:cNvPr id="0" name=""/>
        <dsp:cNvSpPr/>
      </dsp:nvSpPr>
      <dsp:spPr>
        <a:xfrm>
          <a:off x="3051006" y="640079"/>
          <a:ext cx="2778444"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2667" y="681740"/>
        <a:ext cx="2695122" cy="770117"/>
      </dsp:txXfrm>
    </dsp:sp>
    <dsp:sp modelId="{528D78F8-ADD5-4974-AB5A-621368C1BFAD}">
      <dsp:nvSpPr>
        <dsp:cNvPr id="0" name=""/>
        <dsp:cNvSpPr/>
      </dsp:nvSpPr>
      <dsp:spPr>
        <a:xfrm>
          <a:off x="6095848" y="640079"/>
          <a:ext cx="2778444"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7509" y="681740"/>
        <a:ext cx="2695122" cy="770117"/>
      </dsp:txXfrm>
    </dsp:sp>
    <dsp:sp modelId="{4BA9EBD1-9D81-44EF-9CD6-6FFA3300A5D2}">
      <dsp:nvSpPr>
        <dsp:cNvPr id="0" name=""/>
        <dsp:cNvSpPr/>
      </dsp:nvSpPr>
      <dsp:spPr>
        <a:xfrm>
          <a:off x="9140691" y="640079"/>
          <a:ext cx="2778444"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82352" y="681740"/>
        <a:ext cx="2695122" cy="77011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E13A1D4-5EC4-45E5-AB18-4FC74C9EA35A}">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5F394919-D831-42AB-963C-0CE06D87EC96}">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4FC4F54B-9C40-470C-8E3C-D032989E9BAE}">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6F472B61-C1BF-42A1-A9B7-51EFB594C58F}">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23D0E6B2-4535-4EEC-8CEB-5A5B0F2BE6BC}">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025425B7-F0F9-46F0-90B9-8FE8060FFFF1}">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7D61442E-64A6-4A50-BE40-30100C118867}">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Outils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1E465EEE-1A41-4A94-B6A8-59EF8B504F3E}">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B895EE-C1F4-43CB-968B-BA42B8605317}">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7AAE63A7-A9AE-4083-8689-982F7A229645}">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08D8B165-E880-417D-91C4-8F45546C23D4}">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Scripts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3D1E52B4-FA47-47D3-A792-2C71301513A4}">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B895EE-C1F4-43CB-968B-BA42B8605317}">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7AAE63A7-A9AE-4083-8689-982F7A229645}">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08D8B165-E880-417D-91C4-8F45546C23D4}">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Scripts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3D1E52B4-FA47-47D3-A792-2C71301513A4}">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F5777EAB-19ED-4CA7-812E-7412AA54D0BA}">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A17E91FA-ED37-4EA2-B47B-11D546785BC6}">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95893FBE-42F8-460F-AF46-03E416CA7714}">
      <dsp:nvSpPr>
        <dsp:cNvPr id="0" name=""/>
        <dsp:cNvSpPr/>
      </dsp:nvSpPr>
      <dsp:spPr>
        <a:xfrm>
          <a:off x="6061493"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Scripts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D25EB52D-7898-4476-88B0-8F15AF0A6F82}">
      <dsp:nvSpPr>
        <dsp:cNvPr id="0" name=""/>
        <dsp:cNvSpPr/>
      </dsp:nvSpPr>
      <dsp:spPr>
        <a:xfrm>
          <a:off x="908858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image" Target="../media/image7.png"/><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785F19-8EEC-4409-8BF5-8F0031C84C63}" type="datetimeFigureOut">
              <a:rPr lang="en-US" smtClean="0"/>
              <a:pPr/>
              <a:t>7/5/2026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4B638-7586-4C6C-B8D1-4CA7ABF87AEC}" type="slidenum">
              <a:rPr lang="en-US" smtClean="0"/>
              <a:pPr/>
              <a:t>‹N°›</a:t>
            </a:fld>
            <a:endParaRPr lang="en-US" dirty="0"/>
          </a:p>
        </p:txBody>
      </p:sp>
    </p:spTree>
    <p:extLst>
      <p:ext uri="{BB962C8B-B14F-4D97-AF65-F5344CB8AC3E}">
        <p14:creationId xmlns:p14="http://schemas.microsoft.com/office/powerpoint/2010/main" val="3710343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44B638-7586-4C6C-B8D1-4CA7ABF87AEC}" type="slidenum">
              <a:rPr lang="en-US" smtClean="0"/>
              <a:pPr/>
              <a:t>1</a:t>
            </a:fld>
            <a:endParaRPr lang="en-US" dirty="0"/>
          </a:p>
        </p:txBody>
      </p:sp>
    </p:spTree>
    <p:extLst>
      <p:ext uri="{BB962C8B-B14F-4D97-AF65-F5344CB8AC3E}">
        <p14:creationId xmlns:p14="http://schemas.microsoft.com/office/powerpoint/2010/main" val="342107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3</a:t>
            </a:fld>
            <a:endParaRPr lang="en-US" dirty="0"/>
          </a:p>
        </p:txBody>
      </p:sp>
    </p:spTree>
    <p:extLst>
      <p:ext uri="{BB962C8B-B14F-4D97-AF65-F5344CB8AC3E}">
        <p14:creationId xmlns:p14="http://schemas.microsoft.com/office/powerpoint/2010/main" val="2932580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4</a:t>
            </a:fld>
            <a:endParaRPr lang="en-US" dirty="0"/>
          </a:p>
        </p:txBody>
      </p:sp>
    </p:spTree>
    <p:extLst>
      <p:ext uri="{BB962C8B-B14F-4D97-AF65-F5344CB8AC3E}">
        <p14:creationId xmlns:p14="http://schemas.microsoft.com/office/powerpoint/2010/main" val="1483655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5</a:t>
            </a:fld>
            <a:endParaRPr lang="en-US" dirty="0"/>
          </a:p>
        </p:txBody>
      </p:sp>
    </p:spTree>
    <p:extLst>
      <p:ext uri="{BB962C8B-B14F-4D97-AF65-F5344CB8AC3E}">
        <p14:creationId xmlns:p14="http://schemas.microsoft.com/office/powerpoint/2010/main" val="303285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6</a:t>
            </a:fld>
            <a:endParaRPr lang="en-US" dirty="0"/>
          </a:p>
        </p:txBody>
      </p:sp>
    </p:spTree>
    <p:extLst>
      <p:ext uri="{BB962C8B-B14F-4D97-AF65-F5344CB8AC3E}">
        <p14:creationId xmlns:p14="http://schemas.microsoft.com/office/powerpoint/2010/main" val="227424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7</a:t>
            </a:fld>
            <a:endParaRPr lang="en-US" dirty="0"/>
          </a:p>
        </p:txBody>
      </p:sp>
    </p:spTree>
    <p:extLst>
      <p:ext uri="{BB962C8B-B14F-4D97-AF65-F5344CB8AC3E}">
        <p14:creationId xmlns:p14="http://schemas.microsoft.com/office/powerpoint/2010/main" val="3873061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8</a:t>
            </a:fld>
            <a:endParaRPr lang="en-US" dirty="0"/>
          </a:p>
        </p:txBody>
      </p:sp>
    </p:spTree>
    <p:extLst>
      <p:ext uri="{BB962C8B-B14F-4D97-AF65-F5344CB8AC3E}">
        <p14:creationId xmlns:p14="http://schemas.microsoft.com/office/powerpoint/2010/main" val="2534691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9</a:t>
            </a:fld>
            <a:endParaRPr lang="en-US" dirty="0"/>
          </a:p>
        </p:txBody>
      </p:sp>
    </p:spTree>
    <p:extLst>
      <p:ext uri="{BB962C8B-B14F-4D97-AF65-F5344CB8AC3E}">
        <p14:creationId xmlns:p14="http://schemas.microsoft.com/office/powerpoint/2010/main" val="3219764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10</a:t>
            </a:fld>
            <a:endParaRPr lang="en-US" dirty="0"/>
          </a:p>
        </p:txBody>
      </p:sp>
    </p:spTree>
    <p:extLst>
      <p:ext uri="{BB962C8B-B14F-4D97-AF65-F5344CB8AC3E}">
        <p14:creationId xmlns:p14="http://schemas.microsoft.com/office/powerpoint/2010/main" val="4011226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11</a:t>
            </a:fld>
            <a:endParaRPr lang="en-US" dirty="0"/>
          </a:p>
        </p:txBody>
      </p:sp>
    </p:spTree>
    <p:extLst>
      <p:ext uri="{BB962C8B-B14F-4D97-AF65-F5344CB8AC3E}">
        <p14:creationId xmlns:p14="http://schemas.microsoft.com/office/powerpoint/2010/main" val="1385490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12</a:t>
            </a:fld>
            <a:endParaRPr lang="en-US" dirty="0"/>
          </a:p>
        </p:txBody>
      </p:sp>
    </p:spTree>
    <p:extLst>
      <p:ext uri="{BB962C8B-B14F-4D97-AF65-F5344CB8AC3E}">
        <p14:creationId xmlns:p14="http://schemas.microsoft.com/office/powerpoint/2010/main" val="1070477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13</a:t>
            </a:fld>
            <a:endParaRPr lang="en-US" dirty="0"/>
          </a:p>
        </p:txBody>
      </p:sp>
    </p:spTree>
    <p:extLst>
      <p:ext uri="{BB962C8B-B14F-4D97-AF65-F5344CB8AC3E}">
        <p14:creationId xmlns:p14="http://schemas.microsoft.com/office/powerpoint/2010/main" val="1131569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14</a:t>
            </a:fld>
            <a:endParaRPr lang="en-US" dirty="0"/>
          </a:p>
        </p:txBody>
      </p:sp>
    </p:spTree>
    <p:extLst>
      <p:ext uri="{BB962C8B-B14F-4D97-AF65-F5344CB8AC3E}">
        <p14:creationId xmlns:p14="http://schemas.microsoft.com/office/powerpoint/2010/main" val="3890384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15</a:t>
            </a:fld>
            <a:endParaRPr lang="en-US" dirty="0"/>
          </a:p>
        </p:txBody>
      </p:sp>
    </p:spTree>
    <p:extLst>
      <p:ext uri="{BB962C8B-B14F-4D97-AF65-F5344CB8AC3E}">
        <p14:creationId xmlns:p14="http://schemas.microsoft.com/office/powerpoint/2010/main" val="3034413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16</a:t>
            </a:fld>
            <a:endParaRPr lang="en-US" dirty="0"/>
          </a:p>
        </p:txBody>
      </p:sp>
    </p:spTree>
    <p:extLst>
      <p:ext uri="{BB962C8B-B14F-4D97-AF65-F5344CB8AC3E}">
        <p14:creationId xmlns:p14="http://schemas.microsoft.com/office/powerpoint/2010/main" val="1370597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17</a:t>
            </a:fld>
            <a:endParaRPr lang="en-US" dirty="0"/>
          </a:p>
        </p:txBody>
      </p:sp>
    </p:spTree>
    <p:extLst>
      <p:ext uri="{BB962C8B-B14F-4D97-AF65-F5344CB8AC3E}">
        <p14:creationId xmlns:p14="http://schemas.microsoft.com/office/powerpoint/2010/main" val="1929749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18</a:t>
            </a:fld>
            <a:endParaRPr lang="en-US" dirty="0"/>
          </a:p>
        </p:txBody>
      </p:sp>
    </p:spTree>
    <p:extLst>
      <p:ext uri="{BB962C8B-B14F-4D97-AF65-F5344CB8AC3E}">
        <p14:creationId xmlns:p14="http://schemas.microsoft.com/office/powerpoint/2010/main" val="3995349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19</a:t>
            </a:fld>
            <a:endParaRPr lang="en-US" dirty="0"/>
          </a:p>
        </p:txBody>
      </p:sp>
    </p:spTree>
    <p:extLst>
      <p:ext uri="{BB962C8B-B14F-4D97-AF65-F5344CB8AC3E}">
        <p14:creationId xmlns:p14="http://schemas.microsoft.com/office/powerpoint/2010/main" val="1602793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20</a:t>
            </a:fld>
            <a:endParaRPr lang="en-US" dirty="0"/>
          </a:p>
        </p:txBody>
      </p:sp>
    </p:spTree>
    <p:extLst>
      <p:ext uri="{BB962C8B-B14F-4D97-AF65-F5344CB8AC3E}">
        <p14:creationId xmlns:p14="http://schemas.microsoft.com/office/powerpoint/2010/main" val="3755947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21</a:t>
            </a:fld>
            <a:endParaRPr lang="en-US" dirty="0"/>
          </a:p>
        </p:txBody>
      </p:sp>
    </p:spTree>
    <p:extLst>
      <p:ext uri="{BB962C8B-B14F-4D97-AF65-F5344CB8AC3E}">
        <p14:creationId xmlns:p14="http://schemas.microsoft.com/office/powerpoint/2010/main" val="28405552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22</a:t>
            </a:fld>
            <a:endParaRPr lang="en-US" dirty="0"/>
          </a:p>
        </p:txBody>
      </p:sp>
    </p:spTree>
    <p:extLst>
      <p:ext uri="{BB962C8B-B14F-4D97-AF65-F5344CB8AC3E}">
        <p14:creationId xmlns:p14="http://schemas.microsoft.com/office/powerpoint/2010/main" val="3982308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23</a:t>
            </a:fld>
            <a:endParaRPr lang="en-US" dirty="0"/>
          </a:p>
        </p:txBody>
      </p:sp>
    </p:spTree>
    <p:extLst>
      <p:ext uri="{BB962C8B-B14F-4D97-AF65-F5344CB8AC3E}">
        <p14:creationId xmlns:p14="http://schemas.microsoft.com/office/powerpoint/2010/main" val="1947226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24</a:t>
            </a:fld>
            <a:endParaRPr lang="en-US" dirty="0"/>
          </a:p>
        </p:txBody>
      </p:sp>
    </p:spTree>
    <p:extLst>
      <p:ext uri="{BB962C8B-B14F-4D97-AF65-F5344CB8AC3E}">
        <p14:creationId xmlns:p14="http://schemas.microsoft.com/office/powerpoint/2010/main" val="1681648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25</a:t>
            </a:fld>
            <a:endParaRPr lang="en-US" dirty="0"/>
          </a:p>
        </p:txBody>
      </p:sp>
    </p:spTree>
    <p:extLst>
      <p:ext uri="{BB962C8B-B14F-4D97-AF65-F5344CB8AC3E}">
        <p14:creationId xmlns:p14="http://schemas.microsoft.com/office/powerpoint/2010/main" val="1068689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26</a:t>
            </a:fld>
            <a:endParaRPr lang="en-US" dirty="0"/>
          </a:p>
        </p:txBody>
      </p:sp>
    </p:spTree>
    <p:extLst>
      <p:ext uri="{BB962C8B-B14F-4D97-AF65-F5344CB8AC3E}">
        <p14:creationId xmlns:p14="http://schemas.microsoft.com/office/powerpoint/2010/main" val="21845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27</a:t>
            </a:fld>
            <a:endParaRPr lang="en-US" dirty="0"/>
          </a:p>
        </p:txBody>
      </p:sp>
    </p:spTree>
    <p:extLst>
      <p:ext uri="{BB962C8B-B14F-4D97-AF65-F5344CB8AC3E}">
        <p14:creationId xmlns:p14="http://schemas.microsoft.com/office/powerpoint/2010/main" val="1924784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008205"/>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869402218"/>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602CABE3-DB38-4524-AB6F-C2CED76976BA}"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62086"/>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602CABE3-DB38-4524-AB6F-C2CED76976BA}"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221898778"/>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602CABE3-DB38-4524-AB6F-C2CED76976BA}" type="datetime1">
              <a:rPr lang="en-US" smtClean="0"/>
              <a:pPr/>
              <a:t>7/5/2026</a:t>
            </a:fld>
            <a:endParaRPr lang="en-US" dirty="0"/>
          </a:p>
        </p:txBody>
      </p:sp>
      <p:sp>
        <p:nvSpPr>
          <p:cNvPr id="8" name="Footer Placeholder 7"/>
          <p:cNvSpPr>
            <a:spLocks noGrp="1"/>
          </p:cNvSpPr>
          <p:nvPr>
            <p:ph type="ftr" sz="quarter" idx="11"/>
          </p:nvPr>
        </p:nvSpPr>
        <p:spPr/>
        <p:txBody>
          <a:bodyPr/>
          <a:lstStyle/>
          <a:p>
            <a:r>
              <a:rPr lang="en-US" smtClean="0"/>
              <a:t>© 2013. ICCSOFT SA</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978311572"/>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602CABE3-DB38-4524-AB6F-C2CED76976BA}" type="datetime1">
              <a:rPr lang="en-US" smtClean="0"/>
              <a:pPr/>
              <a:t>7/5/2026</a:t>
            </a:fld>
            <a:endParaRPr lang="en-US" dirty="0"/>
          </a:p>
        </p:txBody>
      </p:sp>
      <p:sp>
        <p:nvSpPr>
          <p:cNvPr id="4" name="Footer Placeholder 3"/>
          <p:cNvSpPr>
            <a:spLocks noGrp="1"/>
          </p:cNvSpPr>
          <p:nvPr>
            <p:ph type="ftr" sz="quarter" idx="11"/>
          </p:nvPr>
        </p:nvSpPr>
        <p:spPr/>
        <p:txBody>
          <a:bodyPr/>
          <a:lstStyle/>
          <a:p>
            <a:r>
              <a:rPr lang="en-US" smtClean="0"/>
              <a:t>© 2013. ICCSOFT SA</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20917964"/>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02CABE3-DB38-4524-AB6F-C2CED76976BA}" type="datetime1">
              <a:rPr lang="en-US" smtClean="0"/>
              <a:pPr/>
              <a:t>7/5/2026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 2013. ICCSOFT SA</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55271269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02CABE3-DB38-4524-AB6F-C2CED76976BA}" type="datetime1">
              <a:rPr lang="en-US" smtClean="0"/>
              <a:pPr/>
              <a:t>7/5/2026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89321820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602CABE3-DB38-4524-AB6F-C2CED76976BA}"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56963604"/>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026341903"/>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33325002"/>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560043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870351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4004543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784401E1-CED8-4CD8-930C-5F29150EC254}" type="datetimeFigureOut">
              <a:rPr lang="fr-FR" smtClean="0"/>
              <a:t>05/07/2026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12966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784401E1-CED8-4CD8-930C-5F29150EC254}" type="datetimeFigureOut">
              <a:rPr lang="fr-FR" smtClean="0"/>
              <a:t>05/07/2026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683666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784401E1-CED8-4CD8-930C-5F29150EC254}" type="datetimeFigureOut">
              <a:rPr lang="fr-FR" smtClean="0"/>
              <a:t>05/07/2026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12801349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84401E1-CED8-4CD8-930C-5F29150EC254}" type="datetimeFigureOut">
              <a:rPr lang="fr-FR" smtClean="0"/>
              <a:t>05/07/2026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515876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84401E1-CED8-4CD8-930C-5F29150EC254}" type="datetimeFigureOut">
              <a:rPr lang="fr-FR" smtClean="0"/>
              <a:t>05/07/2026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5518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84401E1-CED8-4CD8-930C-5F29150EC254}" type="datetimeFigureOut">
              <a:rPr lang="fr-FR" smtClean="0"/>
              <a:t>05/07/2026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2752235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744252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46068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2CABE3-DB38-4524-AB6F-C2CED76976BA}" type="datetime1">
              <a:rPr lang="en-US" smtClean="0"/>
              <a:pPr/>
              <a:t>7/5/2026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 2013. ICCSOFT SA</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788452"/>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4401E1-CED8-4CD8-930C-5F29150EC254}" type="datetimeFigureOut">
              <a:rPr lang="fr-FR" smtClean="0"/>
              <a:t>05/07/2026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FA5E2-2CEC-472A-A55E-A0914EEA38E8}" type="slidenum">
              <a:rPr lang="fr-FR" smtClean="0"/>
              <a:t>‹N°›</a:t>
            </a:fld>
            <a:endParaRPr lang="fr-FR"/>
          </a:p>
        </p:txBody>
      </p:sp>
    </p:spTree>
    <p:extLst>
      <p:ext uri="{BB962C8B-B14F-4D97-AF65-F5344CB8AC3E}">
        <p14:creationId xmlns:p14="http://schemas.microsoft.com/office/powerpoint/2010/main" val="1881937403"/>
      </p:ext>
    </p:extLst>
  </p:cSld>
  <p:clrMap bg1="lt1" tx1="dk1" bg2="lt2" tx2="dk2" accent1="accent1" accent2="accent2" accent3="accent3" accent4="accent4" accent5="accent5" accent6="accent6" hlink="hlink" folHlink="folHlink"/>
  <p:sldLayoutIdLst>
    <p:sldLayoutId id="2147484219"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9.xml"/><Relationship Id="rId7" Type="http://schemas.openxmlformats.org/officeDocument/2006/relationships/diagramColors" Target="../diagrams/colors9.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image" Target="../media/image15.emf"/></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10" Type="http://schemas.openxmlformats.org/officeDocument/2006/relationships/image" Target="../media/image20.png"/><Relationship Id="rId4" Type="http://schemas.openxmlformats.org/officeDocument/2006/relationships/diagramLayout" Target="../diagrams/layout14.xml"/><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6.xml.rels><?xml version="1.0" encoding="UTF-8" standalone="yes"?>
<Relationships xmlns="http://schemas.openxmlformats.org/package/2006/relationships"><Relationship Id="rId8" Type="http://schemas.openxmlformats.org/officeDocument/2006/relationships/diagramData" Target="../diagrams/data17.xml"/><Relationship Id="rId3" Type="http://schemas.openxmlformats.org/officeDocument/2006/relationships/diagramData" Target="../diagrams/data16.xml"/><Relationship Id="rId7" Type="http://schemas.microsoft.com/office/2007/relationships/diagramDrawing" Target="../diagrams/drawing16.xml"/><Relationship Id="rId12" Type="http://schemas.microsoft.com/office/2007/relationships/diagramDrawing" Target="../diagrams/drawing1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6.xml"/><Relationship Id="rId11" Type="http://schemas.openxmlformats.org/officeDocument/2006/relationships/diagramColors" Target="../diagrams/colors17.xml"/><Relationship Id="rId5" Type="http://schemas.openxmlformats.org/officeDocument/2006/relationships/diagramQuickStyle" Target="../diagrams/quickStyle16.xml"/><Relationship Id="rId10" Type="http://schemas.openxmlformats.org/officeDocument/2006/relationships/diagramQuickStyle" Target="../diagrams/quickStyle17.xml"/><Relationship Id="rId4" Type="http://schemas.openxmlformats.org/officeDocument/2006/relationships/diagramLayout" Target="../diagrams/layout16.xml"/><Relationship Id="rId9" Type="http://schemas.openxmlformats.org/officeDocument/2006/relationships/diagramLayout" Target="../diagrams/layout17.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19.xml"/><Relationship Id="rId3" Type="http://schemas.openxmlformats.org/officeDocument/2006/relationships/diagramData" Target="../diagrams/data18.xml"/><Relationship Id="rId7" Type="http://schemas.microsoft.com/office/2007/relationships/diagramDrawing" Target="../diagrams/drawing18.xml"/><Relationship Id="rId12" Type="http://schemas.microsoft.com/office/2007/relationships/diagramDrawing" Target="../diagrams/drawing19.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8.xml"/><Relationship Id="rId11" Type="http://schemas.openxmlformats.org/officeDocument/2006/relationships/diagramColors" Target="../diagrams/colors19.xml"/><Relationship Id="rId5" Type="http://schemas.openxmlformats.org/officeDocument/2006/relationships/diagramQuickStyle" Target="../diagrams/quickStyle18.xml"/><Relationship Id="rId10" Type="http://schemas.openxmlformats.org/officeDocument/2006/relationships/diagramQuickStyle" Target="../diagrams/quickStyle19.xml"/><Relationship Id="rId4" Type="http://schemas.openxmlformats.org/officeDocument/2006/relationships/diagramLayout" Target="../diagrams/layout18.xml"/><Relationship Id="rId9" Type="http://schemas.openxmlformats.org/officeDocument/2006/relationships/diagramLayout" Target="../diagrams/layout19.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21.xml"/><Relationship Id="rId3" Type="http://schemas.openxmlformats.org/officeDocument/2006/relationships/diagramData" Target="../diagrams/data20.xml"/><Relationship Id="rId7" Type="http://schemas.microsoft.com/office/2007/relationships/diagramDrawing" Target="../diagrams/drawing20.xml"/><Relationship Id="rId12" Type="http://schemas.microsoft.com/office/2007/relationships/diagramDrawing" Target="../diagrams/drawing2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0.xml"/><Relationship Id="rId11" Type="http://schemas.openxmlformats.org/officeDocument/2006/relationships/diagramColors" Target="../diagrams/colors21.xml"/><Relationship Id="rId5" Type="http://schemas.openxmlformats.org/officeDocument/2006/relationships/diagramQuickStyle" Target="../diagrams/quickStyle20.xml"/><Relationship Id="rId10" Type="http://schemas.openxmlformats.org/officeDocument/2006/relationships/diagramQuickStyle" Target="../diagrams/quickStyle21.xml"/><Relationship Id="rId4" Type="http://schemas.openxmlformats.org/officeDocument/2006/relationships/diagramLayout" Target="../diagrams/layout20.xml"/><Relationship Id="rId9" Type="http://schemas.openxmlformats.org/officeDocument/2006/relationships/diagramLayout" Target="../diagrams/layout21.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23.xml"/><Relationship Id="rId3" Type="http://schemas.openxmlformats.org/officeDocument/2006/relationships/diagramData" Target="../diagrams/data22.xml"/><Relationship Id="rId7" Type="http://schemas.microsoft.com/office/2007/relationships/diagramDrawing" Target="../diagrams/drawing22.xml"/><Relationship Id="rId12" Type="http://schemas.microsoft.com/office/2007/relationships/diagramDrawing" Target="../diagrams/drawing2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2.xml"/><Relationship Id="rId11" Type="http://schemas.openxmlformats.org/officeDocument/2006/relationships/diagramColors" Target="../diagrams/colors23.xml"/><Relationship Id="rId5" Type="http://schemas.openxmlformats.org/officeDocument/2006/relationships/diagramQuickStyle" Target="../diagrams/quickStyle22.xml"/><Relationship Id="rId10" Type="http://schemas.openxmlformats.org/officeDocument/2006/relationships/diagramQuickStyle" Target="../diagrams/quickStyle23.xml"/><Relationship Id="rId4" Type="http://schemas.openxmlformats.org/officeDocument/2006/relationships/diagramLayout" Target="../diagrams/layout22.xml"/><Relationship Id="rId9" Type="http://schemas.openxmlformats.org/officeDocument/2006/relationships/diagramLayout" Target="../diagrams/layout2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 Id="rId9"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à coins arrondis 7"/>
          <p:cNvSpPr/>
          <p:nvPr/>
        </p:nvSpPr>
        <p:spPr>
          <a:xfrm>
            <a:off x="2238356" y="1372020"/>
            <a:ext cx="8155644" cy="1509486"/>
          </a:xfrm>
          <a:prstGeom prst="roundRect">
            <a:avLst/>
          </a:prstGeom>
          <a:ln/>
          <a:effectLst>
            <a:glow rad="228600">
              <a:schemeClr val="accent1">
                <a:satMod val="175000"/>
                <a:alpha val="40000"/>
              </a:schemeClr>
            </a:glow>
            <a:outerShdw blurRad="44450" dist="25400" dir="2700000" algn="br" rotWithShape="0">
              <a:srgbClr val="000000">
                <a:alpha val="60000"/>
              </a:srgb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fr-CM" sz="2000" b="1" dirty="0" smtClean="0">
                <a:latin typeface="Century" panose="02040604050505020304" pitchFamily="18" charset="0"/>
                <a:ea typeface="Tahoma" panose="020B0604030504040204" pitchFamily="34" charset="0"/>
                <a:cs typeface="Times New Roman" panose="02020603050405020304" pitchFamily="18" charset="0"/>
              </a:rPr>
              <a:t>MISE EN ŒUVRE D’UN OUTIL D’AIDE A LA MIGRATION POUR LES ENVIRONNEMENTS CONTENEURISES ET LEURS ADMINISTRATIONS</a:t>
            </a:r>
            <a:endParaRPr lang="en-US" sz="2000" b="1" dirty="0">
              <a:latin typeface="Century" panose="02040604050505020304" pitchFamily="18" charset="0"/>
              <a:ea typeface="Tahoma" panose="020B0604030504040204" pitchFamily="34" charset="0"/>
              <a:cs typeface="Times New Roman" panose="02020603050405020304" pitchFamily="18" charset="0"/>
            </a:endParaRPr>
          </a:p>
        </p:txBody>
      </p:sp>
      <p:sp>
        <p:nvSpPr>
          <p:cNvPr id="7" name="Titre 1">
            <a:extLst>
              <a:ext uri="{FF2B5EF4-FFF2-40B4-BE49-F238E27FC236}">
                <a16:creationId xmlns:a16="http://schemas.microsoft.com/office/drawing/2014/main" id="{009E8477-394E-4664-B468-D208DAC1A863}"/>
              </a:ext>
            </a:extLst>
          </p:cNvPr>
          <p:cNvSpPr txBox="1">
            <a:spLocks/>
          </p:cNvSpPr>
          <p:nvPr/>
        </p:nvSpPr>
        <p:spPr>
          <a:xfrm>
            <a:off x="1772214" y="166426"/>
            <a:ext cx="8755852" cy="39265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2400" b="1" dirty="0"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REPUBLIQUE DU CAMEROUN - REPUBLIC OF CAMEROON</a:t>
            </a:r>
            <a:endParaRPr lang="en-US" sz="2400" dirty="0">
              <a:latin typeface="Century Gothic" panose="020B0502020202020204" pitchFamily="34" charset="0"/>
            </a:endParaRPr>
          </a:p>
        </p:txBody>
      </p:sp>
      <p:sp>
        <p:nvSpPr>
          <p:cNvPr id="10" name="Titre 1">
            <a:extLst>
              <a:ext uri="{FF2B5EF4-FFF2-40B4-BE49-F238E27FC236}">
                <a16:creationId xmlns:a16="http://schemas.microsoft.com/office/drawing/2014/main" id="{009E8477-394E-4664-B468-D208DAC1A863}"/>
              </a:ext>
            </a:extLst>
          </p:cNvPr>
          <p:cNvSpPr txBox="1">
            <a:spLocks/>
          </p:cNvSpPr>
          <p:nvPr/>
        </p:nvSpPr>
        <p:spPr>
          <a:xfrm>
            <a:off x="1595648" y="519596"/>
            <a:ext cx="9108983" cy="39265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1800" b="1" dirty="0"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MINISTERE DE L’ENSEIGNEMENT SUPERIEUR</a:t>
            </a:r>
            <a:endParaRPr lang="en-US" sz="1800" dirty="0">
              <a:latin typeface="Century Gothic" panose="020B0502020202020204" pitchFamily="34" charset="0"/>
            </a:endParaRPr>
          </a:p>
        </p:txBody>
      </p:sp>
      <p:sp>
        <p:nvSpPr>
          <p:cNvPr id="6" name="ZoneTexte 5"/>
          <p:cNvSpPr txBox="1"/>
          <p:nvPr/>
        </p:nvSpPr>
        <p:spPr>
          <a:xfrm>
            <a:off x="1541507" y="3674070"/>
            <a:ext cx="9204960" cy="400110"/>
          </a:xfrm>
          <a:prstGeom prst="rect">
            <a:avLst/>
          </a:prstGeom>
          <a:noFill/>
        </p:spPr>
        <p:txBody>
          <a:bodyPr wrap="square" rtlCol="0">
            <a:spAutoFit/>
          </a:bodyPr>
          <a:lstStyle/>
          <a:p>
            <a:pPr lvl="0" algn="ctr"/>
            <a:r>
              <a:rPr lang="fr-FR" sz="2000" b="1" dirty="0">
                <a:latin typeface="Century Gothic" panose="020B0502020202020204" pitchFamily="34" charset="0"/>
              </a:rPr>
              <a:t>Présenté par</a:t>
            </a:r>
            <a:r>
              <a:rPr lang="fr-FR" sz="2000" dirty="0">
                <a:latin typeface="Century Gothic" panose="020B0502020202020204" pitchFamily="34" charset="0"/>
              </a:rPr>
              <a:t> : </a:t>
            </a:r>
            <a:r>
              <a:rPr lang="fr-FR" sz="2000" dirty="0" smtClean="0">
                <a:latin typeface="Century Gothic" panose="020B0502020202020204" pitchFamily="34" charset="0"/>
              </a:rPr>
              <a:t>M. MOHAMADOU DAHIROU</a:t>
            </a:r>
            <a:endParaRPr lang="fr-FR" sz="2000" dirty="0">
              <a:latin typeface="Century Gothic" panose="020B0502020202020204" pitchFamily="34" charset="0"/>
            </a:endParaRPr>
          </a:p>
        </p:txBody>
      </p:sp>
      <p:sp>
        <p:nvSpPr>
          <p:cNvPr id="15" name="Titre 1">
            <a:extLst>
              <a:ext uri="{FF2B5EF4-FFF2-40B4-BE49-F238E27FC236}">
                <a16:creationId xmlns:a16="http://schemas.microsoft.com/office/drawing/2014/main" id="{009E8477-394E-4664-B468-D208DAC1A863}"/>
              </a:ext>
            </a:extLst>
          </p:cNvPr>
          <p:cNvSpPr txBox="1">
            <a:spLocks/>
          </p:cNvSpPr>
          <p:nvPr/>
        </p:nvSpPr>
        <p:spPr>
          <a:xfrm>
            <a:off x="1552794" y="1316833"/>
            <a:ext cx="9108983" cy="43769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1400" b="1" i="1" dirty="0"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MINISTRY OF HIGHER EDUCATION</a:t>
            </a:r>
            <a:endParaRPr lang="en-GB" sz="1400" b="1" i="1" dirty="0">
              <a:solidFill>
                <a:srgbClr val="000000"/>
              </a:solidFill>
              <a:latin typeface="Century Gothic" panose="020B0502020202020204" pitchFamily="34" charset="0"/>
              <a:ea typeface="Calibri" panose="020F0502020204030204" pitchFamily="34" charset="0"/>
              <a:cs typeface="Times New Roman" panose="02020603050405020304" pitchFamily="18" charset="0"/>
            </a:endParaRPr>
          </a:p>
          <a:p>
            <a:pPr algn="ctr"/>
            <a:endParaRPr lang="en-GB" sz="1800" b="1" dirty="0">
              <a:solidFill>
                <a:srgbClr val="000000"/>
              </a:solidFill>
              <a:latin typeface="Century Gothic" panose="020B0502020202020204" pitchFamily="34" charset="0"/>
              <a:ea typeface="Calibri" panose="020F0502020204030204" pitchFamily="34" charset="0"/>
              <a:cs typeface="Times New Roman" panose="02020603050405020304" pitchFamily="18" charset="0"/>
            </a:endParaRPr>
          </a:p>
          <a:p>
            <a:pPr algn="ctr"/>
            <a:endParaRPr lang="en-US" sz="1800" dirty="0">
              <a:latin typeface="Century Gothic" panose="020B0502020202020204" pitchFamily="34" charset="0"/>
            </a:endParaRPr>
          </a:p>
        </p:txBody>
      </p:sp>
      <p:pic>
        <p:nvPicPr>
          <p:cNvPr id="11" name="Image 10" descr="C:\Users\User.DESKTOP-URS5BP5\Pictures\télécharger (1).jpg"/>
          <p:cNvPicPr/>
          <p:nvPr/>
        </p:nvPicPr>
        <p:blipFill>
          <a:blip r:embed="rId3" cstate="print"/>
          <a:srcRect/>
          <a:stretch/>
        </p:blipFill>
        <p:spPr>
          <a:xfrm>
            <a:off x="10528066" y="-3560"/>
            <a:ext cx="1539240" cy="1539240"/>
          </a:xfrm>
          <a:prstGeom prst="rect">
            <a:avLst/>
          </a:prstGeom>
          <a:ln>
            <a:noFill/>
          </a:ln>
        </p:spPr>
      </p:pic>
      <p:pic>
        <p:nvPicPr>
          <p:cNvPr id="12" name="Image 11" descr="C:\Users\User.DESKTOP-URS5BP5\Pictures\télécharger.jpg"/>
          <p:cNvPicPr/>
          <p:nvPr/>
        </p:nvPicPr>
        <p:blipFill>
          <a:blip r:embed="rId4" cstate="print"/>
          <a:srcRect/>
          <a:stretch/>
        </p:blipFill>
        <p:spPr>
          <a:xfrm>
            <a:off x="685040" y="328890"/>
            <a:ext cx="822325" cy="774065"/>
          </a:xfrm>
          <a:prstGeom prst="rect">
            <a:avLst/>
          </a:prstGeom>
          <a:ln>
            <a:noFill/>
          </a:ln>
        </p:spPr>
      </p:pic>
      <p:sp>
        <p:nvSpPr>
          <p:cNvPr id="13" name="ZoneTexte 12"/>
          <p:cNvSpPr txBox="1"/>
          <p:nvPr/>
        </p:nvSpPr>
        <p:spPr>
          <a:xfrm>
            <a:off x="3616338" y="4666689"/>
            <a:ext cx="5399680" cy="400110"/>
          </a:xfrm>
          <a:prstGeom prst="rect">
            <a:avLst/>
          </a:prstGeom>
          <a:noFill/>
        </p:spPr>
        <p:txBody>
          <a:bodyPr wrap="square" rtlCol="0">
            <a:spAutoFit/>
          </a:bodyPr>
          <a:lstStyle/>
          <a:p>
            <a:pPr lvl="0" algn="ctr"/>
            <a:r>
              <a:rPr lang="fr-FR" sz="2000" b="1" dirty="0" smtClean="0">
                <a:latin typeface="Century Gothic" panose="020B0502020202020204" pitchFamily="34" charset="0"/>
              </a:rPr>
              <a:t>Directeur de mémoire</a:t>
            </a:r>
            <a:r>
              <a:rPr lang="fr-FR" sz="2000" dirty="0" smtClean="0">
                <a:latin typeface="Century Gothic" panose="020B0502020202020204" pitchFamily="34" charset="0"/>
              </a:rPr>
              <a:t> </a:t>
            </a:r>
            <a:r>
              <a:rPr lang="fr-FR" sz="2000" dirty="0">
                <a:latin typeface="Century Gothic" panose="020B0502020202020204" pitchFamily="34" charset="0"/>
              </a:rPr>
              <a:t>: </a:t>
            </a:r>
            <a:r>
              <a:rPr lang="fr-FR" sz="2000" dirty="0" smtClean="0">
                <a:latin typeface="Century Gothic" panose="020B0502020202020204" pitchFamily="34" charset="0"/>
              </a:rPr>
              <a:t>Dr MOYOU Leonel</a:t>
            </a:r>
            <a:endParaRPr lang="fr-FR" sz="2000" dirty="0">
              <a:latin typeface="Century Gothic" panose="020B0502020202020204" pitchFamily="34" charset="0"/>
            </a:endParaRPr>
          </a:p>
        </p:txBody>
      </p:sp>
      <p:sp>
        <p:nvSpPr>
          <p:cNvPr id="14" name="ZoneTexte 13"/>
          <p:cNvSpPr txBox="1"/>
          <p:nvPr/>
        </p:nvSpPr>
        <p:spPr>
          <a:xfrm>
            <a:off x="3444147" y="5793668"/>
            <a:ext cx="5399680" cy="400110"/>
          </a:xfrm>
          <a:prstGeom prst="rect">
            <a:avLst/>
          </a:prstGeom>
          <a:noFill/>
        </p:spPr>
        <p:txBody>
          <a:bodyPr wrap="square" rtlCol="0">
            <a:spAutoFit/>
          </a:bodyPr>
          <a:lstStyle/>
          <a:p>
            <a:pPr lvl="0" algn="ctr"/>
            <a:r>
              <a:rPr lang="fr-FR" sz="20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entury Gothic" panose="020B0502020202020204" pitchFamily="34" charset="0"/>
              </a:rPr>
              <a:t>Année: 2025/2026</a:t>
            </a:r>
            <a:endParaRPr lang="fr-FR" sz="2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entury Gothic" panose="020B0502020202020204" pitchFamily="34" charset="0"/>
            </a:endParaRPr>
          </a:p>
        </p:txBody>
      </p:sp>
    </p:spTree>
    <p:extLst>
      <p:ext uri="{BB962C8B-B14F-4D97-AF65-F5344CB8AC3E}">
        <p14:creationId xmlns:p14="http://schemas.microsoft.com/office/powerpoint/2010/main" val="451720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55A31"/>
        </a:solidFill>
        <a:effectLst/>
      </p:bgPr>
    </p:bg>
    <p:spTree>
      <p:nvGrpSpPr>
        <p:cNvPr id="1" name=""/>
        <p:cNvGrpSpPr/>
        <p:nvPr/>
      </p:nvGrpSpPr>
      <p:grpSpPr>
        <a:xfrm>
          <a:off x="0" y="0"/>
          <a:ext cx="0" cy="0"/>
          <a:chOff x="0" y="0"/>
          <a:chExt cx="0" cy="0"/>
        </a:xfrm>
      </p:grpSpPr>
      <p:sp>
        <p:nvSpPr>
          <p:cNvPr id="73" name="ZoneTexte 72"/>
          <p:cNvSpPr txBox="1"/>
          <p:nvPr/>
        </p:nvSpPr>
        <p:spPr>
          <a:xfrm>
            <a:off x="5330096" y="1271691"/>
            <a:ext cx="630043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M" sz="2400" b="1" i="0" u="none" strike="noStrike" kern="1200" cap="none" spc="0" normalizeH="0" baseline="0" noProof="0" dirty="0" smtClean="0">
                <a:ln>
                  <a:noFill/>
                </a:ln>
                <a:solidFill>
                  <a:srgbClr val="F4B183"/>
                </a:solidFill>
                <a:effectLst>
                  <a:outerShdw blurRad="63500" sx="102000" sy="102000" algn="ctr" rotWithShape="0">
                    <a:prstClr val="black">
                      <a:alpha val="40000"/>
                    </a:prstClr>
                  </a:outerShdw>
                </a:effectLst>
                <a:uLnTx/>
                <a:uFillTx/>
                <a:latin typeface="Cambria" panose="02040503050406030204" pitchFamily="18" charset="0"/>
                <a:ea typeface="Cambria" panose="02040503050406030204" pitchFamily="18" charset="0"/>
                <a:cs typeface="Tahoma" panose="020B0604030504040204" pitchFamily="34" charset="0"/>
              </a:rPr>
              <a:t>MISE EN ŒUVRE D’UN OUTIL D’AIDE A LA MIGRATION POUR LES ENVIRONNEMENTS CONTENEURISES</a:t>
            </a:r>
            <a:endParaRPr kumimoji="0" lang="en-US" sz="2400" b="1" i="0" u="none" strike="noStrike" kern="1200" cap="none" spc="0" normalizeH="0" baseline="0" noProof="0" dirty="0">
              <a:ln>
                <a:noFill/>
              </a:ln>
              <a:solidFill>
                <a:srgbClr val="F4B183"/>
              </a:solidFill>
              <a:effectLst>
                <a:outerShdw blurRad="63500" sx="102000" sy="102000" algn="ctr" rotWithShape="0">
                  <a:prstClr val="black">
                    <a:alpha val="40000"/>
                  </a:prstClr>
                </a:outerShdw>
              </a:effectLst>
              <a:uLnTx/>
              <a:uFillTx/>
              <a:latin typeface="Cambria" panose="02040503050406030204" pitchFamily="18" charset="0"/>
              <a:ea typeface="Cambria" panose="02040503050406030204" pitchFamily="18" charset="0"/>
              <a:cs typeface="Tahoma" panose="020B0604030504040204" pitchFamily="34" charset="0"/>
            </a:endParaRPr>
          </a:p>
        </p:txBody>
      </p:sp>
      <p:grpSp>
        <p:nvGrpSpPr>
          <p:cNvPr id="50" name="Groupe 49"/>
          <p:cNvGrpSpPr/>
          <p:nvPr/>
        </p:nvGrpSpPr>
        <p:grpSpPr>
          <a:xfrm>
            <a:off x="-5918928" y="0"/>
            <a:ext cx="11249024" cy="6858001"/>
            <a:chOff x="770627" y="0"/>
            <a:chExt cx="11249024" cy="6858001"/>
          </a:xfrm>
        </p:grpSpPr>
        <p:grpSp>
          <p:nvGrpSpPr>
            <p:cNvPr id="41" name="Groupe 40"/>
            <p:cNvGrpSpPr/>
            <p:nvPr/>
          </p:nvGrpSpPr>
          <p:grpSpPr>
            <a:xfrm>
              <a:off x="770627" y="0"/>
              <a:ext cx="11249024" cy="6858001"/>
              <a:chOff x="0" y="0"/>
              <a:chExt cx="11249024" cy="6858001"/>
            </a:xfrm>
            <a:effectLst>
              <a:outerShdw blurRad="254000" dist="88900" algn="ctr" rotWithShape="0">
                <a:srgbClr val="000000">
                  <a:alpha val="40000"/>
                </a:srgbClr>
              </a:outerShdw>
            </a:effectLst>
          </p:grpSpPr>
          <p:sp>
            <p:nvSpPr>
              <p:cNvPr id="2" name="Rectangle 1"/>
              <p:cNvSpPr/>
              <p:nvPr/>
            </p:nvSpPr>
            <p:spPr>
              <a:xfrm>
                <a:off x="0" y="0"/>
                <a:ext cx="10477500" cy="6858001"/>
              </a:xfrm>
              <a:prstGeom prst="rect">
                <a:avLst/>
              </a:prstGeom>
              <a:solidFill>
                <a:schemeClr val="accent2">
                  <a:lumMod val="60000"/>
                  <a:lumOff val="40000"/>
                </a:schemeClr>
              </a:solidFill>
              <a:ln>
                <a:noFill/>
              </a:ln>
              <a:effectLst>
                <a:outerShdw blurRad="254000" dist="889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nvGrpSpPr>
              <p:cNvPr id="6" name="Groupe 5"/>
              <p:cNvGrpSpPr/>
              <p:nvPr/>
            </p:nvGrpSpPr>
            <p:grpSpPr>
              <a:xfrm rot="10800000">
                <a:off x="10477499" y="4467224"/>
                <a:ext cx="771525" cy="1104901"/>
                <a:chOff x="1714500" y="2981325"/>
                <a:chExt cx="809625" cy="1057275"/>
              </a:xfrm>
              <a:solidFill>
                <a:schemeClr val="accent2">
                  <a:lumMod val="60000"/>
                  <a:lumOff val="40000"/>
                </a:schemeClr>
              </a:solidFill>
            </p:grpSpPr>
            <p:sp>
              <p:nvSpPr>
                <p:cNvPr id="7" name="Rectangle avec coins arrondis du même côté 6"/>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8" name="ZoneTexte 7"/>
                <p:cNvSpPr txBox="1"/>
                <p:nvPr/>
              </p:nvSpPr>
              <p:spPr>
                <a:xfrm rot="10800000">
                  <a:off x="1866900" y="3048000"/>
                  <a:ext cx="638175" cy="83099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1</a:t>
                  </a:r>
                </a:p>
              </p:txBody>
            </p:sp>
          </p:grpSp>
        </p:grpSp>
        <p:sp>
          <p:nvSpPr>
            <p:cNvPr id="42" name="ZoneTexte 41"/>
            <p:cNvSpPr txBox="1"/>
            <p:nvPr/>
          </p:nvSpPr>
          <p:spPr>
            <a:xfrm>
              <a:off x="4209152" y="1054952"/>
              <a:ext cx="64198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black"/>
                  </a:solidFill>
                  <a:effectLst/>
                  <a:uLnTx/>
                  <a:uFillTx/>
                  <a:latin typeface="Cambria" panose="02040503050406030204" pitchFamily="18" charset="0"/>
                  <a:ea typeface="Cambria" panose="02040503050406030204" pitchFamily="18" charset="0"/>
                  <a:cs typeface="+mn-cs"/>
                </a:rPr>
                <a:t>PLAN DE TRAVAIL</a:t>
              </a:r>
            </a:p>
          </p:txBody>
        </p:sp>
        <p:pic>
          <p:nvPicPr>
            <p:cNvPr id="45" name="Imag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0362" y="2438399"/>
              <a:ext cx="2143125" cy="2143125"/>
            </a:xfrm>
            <a:prstGeom prst="rect">
              <a:avLst/>
            </a:prstGeom>
            <a:ln>
              <a:noFill/>
            </a:ln>
            <a:effectLst>
              <a:softEdge rad="112500"/>
            </a:effectLst>
          </p:spPr>
        </p:pic>
      </p:grpSp>
      <p:grpSp>
        <p:nvGrpSpPr>
          <p:cNvPr id="57" name="Groupe 56"/>
          <p:cNvGrpSpPr/>
          <p:nvPr/>
        </p:nvGrpSpPr>
        <p:grpSpPr>
          <a:xfrm>
            <a:off x="-6806865" y="-9525"/>
            <a:ext cx="11249024" cy="6858001"/>
            <a:chOff x="-305249" y="-9525"/>
            <a:chExt cx="11249024" cy="6858001"/>
          </a:xfrm>
        </p:grpSpPr>
        <p:grpSp>
          <p:nvGrpSpPr>
            <p:cNvPr id="40" name="Groupe 39"/>
            <p:cNvGrpSpPr/>
            <p:nvPr/>
          </p:nvGrpSpPr>
          <p:grpSpPr>
            <a:xfrm>
              <a:off x="-305249" y="-9525"/>
              <a:ext cx="11249024" cy="6858001"/>
              <a:chOff x="-1390650" y="9525"/>
              <a:chExt cx="11249024" cy="6858001"/>
            </a:xfrm>
            <a:effectLst>
              <a:outerShdw blurRad="254000" dist="88900" algn="ctr" rotWithShape="0">
                <a:srgbClr val="000000">
                  <a:alpha val="40000"/>
                </a:srgbClr>
              </a:outerShdw>
            </a:effectLst>
          </p:grpSpPr>
          <p:grpSp>
            <p:nvGrpSpPr>
              <p:cNvPr id="22" name="Groupe 21"/>
              <p:cNvGrpSpPr/>
              <p:nvPr/>
            </p:nvGrpSpPr>
            <p:grpSpPr>
              <a:xfrm rot="10800000">
                <a:off x="9086849" y="3543299"/>
                <a:ext cx="771525" cy="1104901"/>
                <a:chOff x="1714500" y="2981325"/>
                <a:chExt cx="809625" cy="1057275"/>
              </a:xfrm>
              <a:solidFill>
                <a:schemeClr val="accent2">
                  <a:lumMod val="40000"/>
                  <a:lumOff val="60000"/>
                </a:schemeClr>
              </a:solidFill>
            </p:grpSpPr>
            <p:sp>
              <p:nvSpPr>
                <p:cNvPr id="23" name="Rectangle avec coins arrondis du même côté 22"/>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24" name="ZoneTexte 23"/>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2</a:t>
                  </a:r>
                </a:p>
              </p:txBody>
            </p:sp>
          </p:grpSp>
          <p:sp>
            <p:nvSpPr>
              <p:cNvPr id="21" name="Rectangle 20"/>
              <p:cNvSpPr/>
              <p:nvPr/>
            </p:nvSpPr>
            <p:spPr>
              <a:xfrm>
                <a:off x="-1390650" y="9525"/>
                <a:ext cx="10477500" cy="685800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51" name="ZoneTexte 50"/>
            <p:cNvSpPr txBox="1"/>
            <p:nvPr/>
          </p:nvSpPr>
          <p:spPr>
            <a:xfrm>
              <a:off x="5590725" y="571500"/>
              <a:ext cx="2486475"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01</a:t>
              </a:r>
            </a:p>
          </p:txBody>
        </p:sp>
        <p:sp>
          <p:nvSpPr>
            <p:cNvPr id="52" name="ZoneTexte 51"/>
            <p:cNvSpPr txBox="1"/>
            <p:nvPr/>
          </p:nvSpPr>
          <p:spPr>
            <a:xfrm>
              <a:off x="4667250" y="2095500"/>
              <a:ext cx="470534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INTRODUCTION</a:t>
              </a:r>
            </a:p>
          </p:txBody>
        </p:sp>
        <p:pic>
          <p:nvPicPr>
            <p:cNvPr id="54" name="Image 5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298" y="3142351"/>
              <a:ext cx="3372302" cy="3372302"/>
            </a:xfrm>
            <a:prstGeom prst="ellipse">
              <a:avLst/>
            </a:prstGeom>
            <a:ln>
              <a:noFill/>
            </a:ln>
            <a:effectLst>
              <a:softEdge rad="112500"/>
            </a:effectLst>
          </p:spPr>
        </p:pic>
      </p:grpSp>
      <p:grpSp>
        <p:nvGrpSpPr>
          <p:cNvPr id="64" name="Groupe 63"/>
          <p:cNvGrpSpPr/>
          <p:nvPr/>
        </p:nvGrpSpPr>
        <p:grpSpPr>
          <a:xfrm>
            <a:off x="-7607871" y="-19050"/>
            <a:ext cx="11177563" cy="6858001"/>
            <a:chOff x="-1062692" y="-19050"/>
            <a:chExt cx="11177563" cy="6858001"/>
          </a:xfrm>
        </p:grpSpPr>
        <p:grpSp>
          <p:nvGrpSpPr>
            <p:cNvPr id="61" name="Groupe 60"/>
            <p:cNvGrpSpPr/>
            <p:nvPr/>
          </p:nvGrpSpPr>
          <p:grpSpPr>
            <a:xfrm>
              <a:off x="-1062692" y="-19050"/>
              <a:ext cx="11177563" cy="6858001"/>
              <a:chOff x="-8485879" y="-9525"/>
              <a:chExt cx="11177563" cy="6858001"/>
            </a:xfrm>
          </p:grpSpPr>
          <p:grpSp>
            <p:nvGrpSpPr>
              <p:cNvPr id="26" name="Groupe 25"/>
              <p:cNvGrpSpPr/>
              <p:nvPr/>
            </p:nvGrpSpPr>
            <p:grpSpPr>
              <a:xfrm rot="10800000">
                <a:off x="1912985" y="2971799"/>
                <a:ext cx="778699" cy="1104901"/>
                <a:chOff x="1866900" y="2981325"/>
                <a:chExt cx="817153" cy="1057275"/>
              </a:xfrm>
              <a:solidFill>
                <a:schemeClr val="accent2">
                  <a:lumMod val="60000"/>
                  <a:lumOff val="40000"/>
                </a:schemeClr>
              </a:solidFill>
            </p:grpSpPr>
            <p:sp>
              <p:nvSpPr>
                <p:cNvPr id="27" name="Rectangle avec coins arrondis du même côté 26"/>
                <p:cNvSpPr/>
                <p:nvPr/>
              </p:nvSpPr>
              <p:spPr>
                <a:xfrm rot="16200000">
                  <a:off x="1750603"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28" name="ZoneTexte 27"/>
                <p:cNvSpPr txBox="1"/>
                <p:nvPr/>
              </p:nvSpPr>
              <p:spPr>
                <a:xfrm rot="10800000">
                  <a:off x="1866900" y="3083820"/>
                  <a:ext cx="638173"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3</a:t>
                  </a:r>
                </a:p>
              </p:txBody>
            </p:sp>
          </p:grpSp>
          <p:sp>
            <p:nvSpPr>
              <p:cNvPr id="25" name="Rectangle 24"/>
              <p:cNvSpPr/>
              <p:nvPr/>
            </p:nvSpPr>
            <p:spPr>
              <a:xfrm>
                <a:off x="-8485879" y="-9525"/>
                <a:ext cx="10477499" cy="685800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62" name="ZoneTexte 61"/>
            <p:cNvSpPr txBox="1"/>
            <p:nvPr/>
          </p:nvSpPr>
          <p:spPr>
            <a:xfrm>
              <a:off x="4301506" y="626818"/>
              <a:ext cx="2217381"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02</a:t>
              </a:r>
            </a:p>
          </p:txBody>
        </p:sp>
        <p:sp>
          <p:nvSpPr>
            <p:cNvPr id="63" name="ZoneTexte 62"/>
            <p:cNvSpPr txBox="1"/>
            <p:nvPr/>
          </p:nvSpPr>
          <p:spPr>
            <a:xfrm>
              <a:off x="2802169" y="1771202"/>
              <a:ext cx="579708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INTERET DU SUJET</a:t>
              </a:r>
            </a:p>
          </p:txBody>
        </p:sp>
      </p:grpSp>
      <p:grpSp>
        <p:nvGrpSpPr>
          <p:cNvPr id="69" name="Groupe 68"/>
          <p:cNvGrpSpPr/>
          <p:nvPr/>
        </p:nvGrpSpPr>
        <p:grpSpPr>
          <a:xfrm>
            <a:off x="-8566833" y="-9525"/>
            <a:ext cx="11249024" cy="6858001"/>
            <a:chOff x="-2021654" y="-9525"/>
            <a:chExt cx="11249024" cy="6858001"/>
          </a:xfrm>
        </p:grpSpPr>
        <p:grpSp>
          <p:nvGrpSpPr>
            <p:cNvPr id="38" name="Groupe 37"/>
            <p:cNvGrpSpPr/>
            <p:nvPr/>
          </p:nvGrpSpPr>
          <p:grpSpPr>
            <a:xfrm>
              <a:off x="-2021654" y="-9525"/>
              <a:ext cx="11249024" cy="6858001"/>
              <a:chOff x="-3962400" y="9525"/>
              <a:chExt cx="11249024" cy="6858001"/>
            </a:xfrm>
            <a:effectLst>
              <a:outerShdw blurRad="254000" dist="88900" algn="ctr" rotWithShape="0">
                <a:srgbClr val="000000">
                  <a:alpha val="40000"/>
                </a:srgbClr>
              </a:outerShdw>
            </a:effectLst>
          </p:grpSpPr>
          <p:sp>
            <p:nvSpPr>
              <p:cNvPr id="29" name="Rectangle 28"/>
              <p:cNvSpPr/>
              <p:nvPr/>
            </p:nvSpPr>
            <p:spPr>
              <a:xfrm>
                <a:off x="-3962400" y="9525"/>
                <a:ext cx="10477500" cy="68580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nvGrpSpPr>
              <p:cNvPr id="30" name="Groupe 29"/>
              <p:cNvGrpSpPr/>
              <p:nvPr/>
            </p:nvGrpSpPr>
            <p:grpSpPr>
              <a:xfrm rot="10800000">
                <a:off x="6515099" y="1885949"/>
                <a:ext cx="771525" cy="1104901"/>
                <a:chOff x="1714500" y="2981325"/>
                <a:chExt cx="809625" cy="1057275"/>
              </a:xfrm>
              <a:solidFill>
                <a:schemeClr val="accent2">
                  <a:lumMod val="20000"/>
                  <a:lumOff val="80000"/>
                </a:schemeClr>
              </a:solidFill>
            </p:grpSpPr>
            <p:sp>
              <p:nvSpPr>
                <p:cNvPr id="31" name="Rectangle avec coins arrondis du même côté 30"/>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32" name="ZoneTexte 31"/>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4</a:t>
                  </a:r>
                </a:p>
              </p:txBody>
            </p:sp>
          </p:grpSp>
        </p:grpSp>
        <p:sp>
          <p:nvSpPr>
            <p:cNvPr id="67" name="ZoneTexte 66"/>
            <p:cNvSpPr txBox="1"/>
            <p:nvPr/>
          </p:nvSpPr>
          <p:spPr>
            <a:xfrm>
              <a:off x="3174662" y="721737"/>
              <a:ext cx="2217381"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03</a:t>
              </a:r>
            </a:p>
          </p:txBody>
        </p:sp>
        <p:sp>
          <p:nvSpPr>
            <p:cNvPr id="68" name="ZoneTexte 67"/>
            <p:cNvSpPr txBox="1"/>
            <p:nvPr/>
          </p:nvSpPr>
          <p:spPr>
            <a:xfrm>
              <a:off x="1567560" y="1922337"/>
              <a:ext cx="579708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PROBLEMATIQUE</a:t>
              </a:r>
            </a:p>
          </p:txBody>
        </p:sp>
      </p:grpSp>
      <p:grpSp>
        <p:nvGrpSpPr>
          <p:cNvPr id="72" name="Groupe 71"/>
          <p:cNvGrpSpPr/>
          <p:nvPr/>
        </p:nvGrpSpPr>
        <p:grpSpPr>
          <a:xfrm>
            <a:off x="-9486858" y="-28575"/>
            <a:ext cx="11249024" cy="6858001"/>
            <a:chOff x="-3070015" y="-28575"/>
            <a:chExt cx="11249024" cy="6858001"/>
          </a:xfrm>
        </p:grpSpPr>
        <p:grpSp>
          <p:nvGrpSpPr>
            <p:cNvPr id="37" name="Groupe 36"/>
            <p:cNvGrpSpPr/>
            <p:nvPr/>
          </p:nvGrpSpPr>
          <p:grpSpPr>
            <a:xfrm>
              <a:off x="-3070015" y="-28575"/>
              <a:ext cx="11249024" cy="6858001"/>
              <a:chOff x="-5219700" y="19050"/>
              <a:chExt cx="11249024" cy="6858001"/>
            </a:xfrm>
            <a:effectLst>
              <a:outerShdw blurRad="254000" dist="88900" algn="ctr" rotWithShape="0">
                <a:srgbClr val="000000">
                  <a:alpha val="40000"/>
                </a:srgbClr>
              </a:outerShdw>
            </a:effectLst>
          </p:grpSpPr>
          <p:grpSp>
            <p:nvGrpSpPr>
              <p:cNvPr id="34" name="Groupe 33"/>
              <p:cNvGrpSpPr/>
              <p:nvPr/>
            </p:nvGrpSpPr>
            <p:grpSpPr>
              <a:xfrm rot="10800000">
                <a:off x="5257799" y="1152524"/>
                <a:ext cx="771525" cy="1104901"/>
                <a:chOff x="1714500" y="2981325"/>
                <a:chExt cx="809625" cy="1057275"/>
              </a:xfrm>
              <a:solidFill>
                <a:schemeClr val="accent4">
                  <a:lumMod val="40000"/>
                  <a:lumOff val="60000"/>
                </a:schemeClr>
              </a:solidFill>
            </p:grpSpPr>
            <p:sp>
              <p:nvSpPr>
                <p:cNvPr id="35" name="Rectangle avec coins arrondis du même côté 34"/>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36" name="ZoneTexte 35"/>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5</a:t>
                  </a:r>
                </a:p>
              </p:txBody>
            </p:sp>
          </p:grpSp>
          <p:sp>
            <p:nvSpPr>
              <p:cNvPr id="33" name="Rectangle 32"/>
              <p:cNvSpPr/>
              <p:nvPr/>
            </p:nvSpPr>
            <p:spPr>
              <a:xfrm>
                <a:off x="-5219700" y="19050"/>
                <a:ext cx="10477500" cy="685800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70" name="ZoneTexte 69"/>
            <p:cNvSpPr txBox="1"/>
            <p:nvPr/>
          </p:nvSpPr>
          <p:spPr>
            <a:xfrm>
              <a:off x="330768" y="721737"/>
              <a:ext cx="494697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04</a:t>
              </a:r>
            </a:p>
          </p:txBody>
        </p:sp>
        <p:sp>
          <p:nvSpPr>
            <p:cNvPr id="71" name="ZoneTexte 70"/>
            <p:cNvSpPr txBox="1"/>
            <p:nvPr/>
          </p:nvSpPr>
          <p:spPr>
            <a:xfrm>
              <a:off x="330768" y="2006128"/>
              <a:ext cx="494697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TITRE 04</a:t>
              </a:r>
            </a:p>
          </p:txBody>
        </p:sp>
      </p:grpSp>
    </p:spTree>
    <p:extLst>
      <p:ext uri="{BB962C8B-B14F-4D97-AF65-F5344CB8AC3E}">
        <p14:creationId xmlns:p14="http://schemas.microsoft.com/office/powerpoint/2010/main" val="68618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45833E-6 0 L 0.56003 -0.00162 " pathEditMode="relative" rAng="0" ptsTypes="AA">
                                      <p:cBhvr>
                                        <p:cTn id="6" dur="1250" fill="hold"/>
                                        <p:tgtEl>
                                          <p:spTgt spid="50"/>
                                        </p:tgtEl>
                                        <p:attrNameLst>
                                          <p:attrName>ppt_x</p:attrName>
                                          <p:attrName>ppt_y</p:attrName>
                                        </p:attrNameLst>
                                      </p:cBhvr>
                                      <p:rCtr x="27995" y="-9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45833E-6 0 L 0.56003 -0.00162 " pathEditMode="relative" rAng="0" ptsTypes="AA">
                                      <p:cBhvr>
                                        <p:cTn id="10" dur="1250" fill="hold"/>
                                        <p:tgtEl>
                                          <p:spTgt spid="57"/>
                                        </p:tgtEl>
                                        <p:attrNameLst>
                                          <p:attrName>ppt_x</p:attrName>
                                          <p:attrName>ppt_y</p:attrName>
                                        </p:attrNameLst>
                                      </p:cBhvr>
                                      <p:rCtr x="27995" y="-93"/>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45833E-6 0 L 0.56003 -0.00162 " pathEditMode="relative" rAng="0" ptsTypes="AA">
                                      <p:cBhvr>
                                        <p:cTn id="14" dur="1250" fill="hold"/>
                                        <p:tgtEl>
                                          <p:spTgt spid="64"/>
                                        </p:tgtEl>
                                        <p:attrNameLst>
                                          <p:attrName>ppt_x</p:attrName>
                                          <p:attrName>ppt_y</p:attrName>
                                        </p:attrNameLst>
                                      </p:cBhvr>
                                      <p:rCtr x="27995" y="-93"/>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1.45833E-6 0 L 0.56003 -0.00162 " pathEditMode="relative" rAng="0" ptsTypes="AA">
                                      <p:cBhvr>
                                        <p:cTn id="18" dur="1250" fill="hold"/>
                                        <p:tgtEl>
                                          <p:spTgt spid="69"/>
                                        </p:tgtEl>
                                        <p:attrNameLst>
                                          <p:attrName>ppt_x</p:attrName>
                                          <p:attrName>ppt_y</p:attrName>
                                        </p:attrNameLst>
                                      </p:cBhvr>
                                      <p:rCtr x="27995" y="-93"/>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1.45833E-6 0 L 0.56003 -0.00162 " pathEditMode="relative" rAng="0" ptsTypes="AA">
                                      <p:cBhvr>
                                        <p:cTn id="22" dur="1250" fill="hold"/>
                                        <p:tgtEl>
                                          <p:spTgt spid="72"/>
                                        </p:tgtEl>
                                        <p:attrNameLst>
                                          <p:attrName>ppt_x</p:attrName>
                                          <p:attrName>ppt_y</p:attrName>
                                        </p:attrNameLst>
                                      </p:cBhvr>
                                      <p:rCtr x="27995"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143367450"/>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906673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404">
            <a:extLst>
              <a:ext uri="{FF2B5EF4-FFF2-40B4-BE49-F238E27FC236}">
                <a16:creationId xmlns:a16="http://schemas.microsoft.com/office/drawing/2014/main" id="{0A2E98CF-15D0-315D-B899-7EAF076858ED}"/>
              </a:ext>
            </a:extLst>
          </p:cNvPr>
          <p:cNvSpPr txBox="1"/>
          <p:nvPr/>
        </p:nvSpPr>
        <p:spPr>
          <a:xfrm>
            <a:off x="4961578" y="1713036"/>
            <a:ext cx="2054255" cy="116955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en-GB" sz="1400" dirty="0">
                <a:solidFill>
                  <a:schemeClr val="bg1"/>
                </a:solidFill>
                <a:latin typeface="Lora" pitchFamily="2" charset="0"/>
              </a:rPr>
              <a:t>Maecenas non laoreet odio. Fusce lobortis porttitor purus, vel vestibulum libero pharetra vel. </a:t>
            </a:r>
            <a:endParaRPr lang="en-GB" sz="1400" b="1" dirty="0">
              <a:solidFill>
                <a:schemeClr val="bg1"/>
              </a:solidFill>
              <a:latin typeface="Lora" pitchFamily="2" charset="0"/>
              <a:ea typeface="Fira Sans Extra Condensed Medium"/>
              <a:cs typeface="Fira Sans Extra Condensed Medium"/>
              <a:sym typeface="Fira Sans Extra Condensed Medium"/>
            </a:endParaRPr>
          </a:p>
        </p:txBody>
      </p:sp>
      <p:sp>
        <p:nvSpPr>
          <p:cNvPr id="11" name="TextBox 405">
            <a:extLst>
              <a:ext uri="{FF2B5EF4-FFF2-40B4-BE49-F238E27FC236}">
                <a16:creationId xmlns:a16="http://schemas.microsoft.com/office/drawing/2014/main" id="{08CF861C-7925-B7DB-ABB3-4BEF7CE7E9F2}"/>
              </a:ext>
            </a:extLst>
          </p:cNvPr>
          <p:cNvSpPr txBox="1"/>
          <p:nvPr/>
        </p:nvSpPr>
        <p:spPr>
          <a:xfrm>
            <a:off x="5889267" y="3138647"/>
            <a:ext cx="1992627"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en-GB" sz="1100" dirty="0">
                <a:solidFill>
                  <a:schemeClr val="bg1"/>
                </a:solidFill>
                <a:latin typeface="Lora" pitchFamily="2" charset="0"/>
              </a:rPr>
              <a:t>Maecenas non laoreet odio. Fusce lobortis porttitor purus, vel vestibulum libero pharetra vel. </a:t>
            </a:r>
            <a:endParaRPr lang="en-GB" sz="1100" b="1" dirty="0">
              <a:solidFill>
                <a:schemeClr val="bg1"/>
              </a:solidFill>
              <a:latin typeface="Lora" pitchFamily="2" charset="0"/>
              <a:ea typeface="Fira Sans Extra Condensed Medium"/>
              <a:cs typeface="Fira Sans Extra Condensed Medium"/>
              <a:sym typeface="Fira Sans Extra Condensed Medium"/>
            </a:endParaRPr>
          </a:p>
        </p:txBody>
      </p:sp>
      <p:grpSp>
        <p:nvGrpSpPr>
          <p:cNvPr id="44" name="Group 300">
            <a:extLst>
              <a:ext uri="{FF2B5EF4-FFF2-40B4-BE49-F238E27FC236}">
                <a16:creationId xmlns:a16="http://schemas.microsoft.com/office/drawing/2014/main" id="{E3B909FC-26C9-8CC9-FA4A-42D5BA3018AC}"/>
              </a:ext>
            </a:extLst>
          </p:cNvPr>
          <p:cNvGrpSpPr/>
          <p:nvPr/>
        </p:nvGrpSpPr>
        <p:grpSpPr>
          <a:xfrm>
            <a:off x="2323721" y="1713035"/>
            <a:ext cx="9325354" cy="4642938"/>
            <a:chOff x="3288277" y="1184287"/>
            <a:chExt cx="9510701" cy="5670549"/>
          </a:xfrm>
        </p:grpSpPr>
        <p:sp>
          <p:nvSpPr>
            <p:cNvPr id="45" name="Freeform: Shape 137">
              <a:extLst>
                <a:ext uri="{FF2B5EF4-FFF2-40B4-BE49-F238E27FC236}">
                  <a16:creationId xmlns:a16="http://schemas.microsoft.com/office/drawing/2014/main" id="{ECD11E5A-BD57-B6A4-E0AD-9CFB9B7BDC74}"/>
                </a:ext>
              </a:extLst>
            </p:cNvPr>
            <p:cNvSpPr/>
            <p:nvPr/>
          </p:nvSpPr>
          <p:spPr>
            <a:xfrm>
              <a:off x="6167356" y="5331550"/>
              <a:ext cx="1018803" cy="557860"/>
            </a:xfrm>
            <a:custGeom>
              <a:avLst/>
              <a:gdLst>
                <a:gd name="connsiteX0" fmla="*/ 597262 w 1069020"/>
                <a:gd name="connsiteY0" fmla="*/ -35 h 585357"/>
                <a:gd name="connsiteX1" fmla="*/ 1045813 w 1069020"/>
                <a:gd name="connsiteY1" fmla="*/ 449761 h 585357"/>
                <a:gd name="connsiteX2" fmla="*/ 1045539 w 1069020"/>
                <a:gd name="connsiteY2" fmla="*/ 562173 h 585357"/>
                <a:gd name="connsiteX3" fmla="*/ 989494 w 1069020"/>
                <a:gd name="connsiteY3" fmla="*/ 585323 h 585357"/>
                <a:gd name="connsiteX4" fmla="*/ -58 w 1069020"/>
                <a:gd name="connsiteY4" fmla="*/ 585323 h 58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9020" h="585357">
                  <a:moveTo>
                    <a:pt x="597262" y="-35"/>
                  </a:moveTo>
                  <a:lnTo>
                    <a:pt x="1045813" y="449761"/>
                  </a:lnTo>
                  <a:cubicBezTo>
                    <a:pt x="1076788" y="480886"/>
                    <a:pt x="1076663" y="531223"/>
                    <a:pt x="1045539" y="562173"/>
                  </a:cubicBezTo>
                  <a:cubicBezTo>
                    <a:pt x="1030637" y="577000"/>
                    <a:pt x="1010502" y="585323"/>
                    <a:pt x="989494" y="585323"/>
                  </a:cubicBezTo>
                  <a:lnTo>
                    <a:pt x="-58" y="585323"/>
                  </a:lnTo>
                  <a:close/>
                </a:path>
              </a:pathLst>
            </a:custGeom>
            <a:solidFill>
              <a:schemeClr val="accent5">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6" name="Freeform: Shape 138">
              <a:extLst>
                <a:ext uri="{FF2B5EF4-FFF2-40B4-BE49-F238E27FC236}">
                  <a16:creationId xmlns:a16="http://schemas.microsoft.com/office/drawing/2014/main" id="{7DF5B9DE-B5B9-1321-1606-3DD68CA1229E}"/>
                </a:ext>
              </a:extLst>
            </p:cNvPr>
            <p:cNvSpPr/>
            <p:nvPr/>
          </p:nvSpPr>
          <p:spPr>
            <a:xfrm>
              <a:off x="4057504" y="5331550"/>
              <a:ext cx="2679112" cy="932617"/>
            </a:xfrm>
            <a:custGeom>
              <a:avLst/>
              <a:gdLst>
                <a:gd name="connsiteX0" fmla="*/ 2811108 w 2811165"/>
                <a:gd name="connsiteY0" fmla="*/ -35 h 978586"/>
                <a:gd name="connsiteX1" fmla="*/ -58 w 2811165"/>
                <a:gd name="connsiteY1" fmla="*/ -35 h 978586"/>
                <a:gd name="connsiteX2" fmla="*/ -58 w 2811165"/>
                <a:gd name="connsiteY2" fmla="*/ 978552 h 978586"/>
                <a:gd name="connsiteX3" fmla="*/ 2076731 w 2811165"/>
                <a:gd name="connsiteY3" fmla="*/ 978552 h 978586"/>
                <a:gd name="connsiteX4" fmla="*/ 2360813 w 2811165"/>
                <a:gd name="connsiteY4" fmla="*/ 811093 h 978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165" h="978586">
                  <a:moveTo>
                    <a:pt x="2811108" y="-35"/>
                  </a:moveTo>
                  <a:lnTo>
                    <a:pt x="-58" y="-35"/>
                  </a:lnTo>
                  <a:lnTo>
                    <a:pt x="-58" y="978552"/>
                  </a:lnTo>
                  <a:lnTo>
                    <a:pt x="2076731" y="978552"/>
                  </a:lnTo>
                  <a:cubicBezTo>
                    <a:pt x="2194874" y="978701"/>
                    <a:pt x="2303748" y="914534"/>
                    <a:pt x="2360813" y="811093"/>
                  </a:cubicBezTo>
                  <a:close/>
                </a:path>
              </a:pathLst>
            </a:custGeom>
            <a:solidFill>
              <a:schemeClr val="accent5"/>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7" name="Freeform: Shape 140">
              <a:extLst>
                <a:ext uri="{FF2B5EF4-FFF2-40B4-BE49-F238E27FC236}">
                  <a16:creationId xmlns:a16="http://schemas.microsoft.com/office/drawing/2014/main" id="{0D4F13F0-0598-8BF6-FBD6-7A4893C110BC}"/>
                </a:ext>
              </a:extLst>
            </p:cNvPr>
            <p:cNvSpPr/>
            <p:nvPr/>
          </p:nvSpPr>
          <p:spPr>
            <a:xfrm rot="18561000">
              <a:off x="3350345" y="5170579"/>
              <a:ext cx="1537977" cy="1377259"/>
            </a:xfrm>
            <a:custGeom>
              <a:avLst/>
              <a:gdLst>
                <a:gd name="connsiteX0" fmla="*/ 1613727 w 1613784"/>
                <a:gd name="connsiteY0" fmla="*/ 806857 h 1613782"/>
                <a:gd name="connsiteX1" fmla="*/ 806835 w 1613784"/>
                <a:gd name="connsiteY1" fmla="*/ 1613748 h 1613782"/>
                <a:gd name="connsiteX2" fmla="*/ -58 w 1613784"/>
                <a:gd name="connsiteY2" fmla="*/ 806857 h 1613782"/>
                <a:gd name="connsiteX3" fmla="*/ 806835 w 1613784"/>
                <a:gd name="connsiteY3" fmla="*/ -35 h 1613782"/>
                <a:gd name="connsiteX4" fmla="*/ 1613727 w 1613784"/>
                <a:gd name="connsiteY4" fmla="*/ 806857 h 1613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2">
                  <a:moveTo>
                    <a:pt x="1613727" y="806857"/>
                  </a:moveTo>
                  <a:cubicBezTo>
                    <a:pt x="1613727" y="1252491"/>
                    <a:pt x="1252469" y="1613748"/>
                    <a:pt x="806835" y="1613748"/>
                  </a:cubicBezTo>
                  <a:cubicBezTo>
                    <a:pt x="361200" y="1613748"/>
                    <a:pt x="-58" y="1252491"/>
                    <a:pt x="-58" y="806857"/>
                  </a:cubicBezTo>
                  <a:cubicBezTo>
                    <a:pt x="-58" y="361223"/>
                    <a:pt x="361200" y="-35"/>
                    <a:pt x="806835" y="-35"/>
                  </a:cubicBezTo>
                  <a:cubicBezTo>
                    <a:pt x="1252469" y="-35"/>
                    <a:pt x="1613727" y="361223"/>
                    <a:pt x="1613727" y="806857"/>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8" name="Freeform: Shape 141">
              <a:extLst>
                <a:ext uri="{FF2B5EF4-FFF2-40B4-BE49-F238E27FC236}">
                  <a16:creationId xmlns:a16="http://schemas.microsoft.com/office/drawing/2014/main" id="{928A6696-C57E-4183-D528-1176151495F0}"/>
                </a:ext>
              </a:extLst>
            </p:cNvPr>
            <p:cNvSpPr/>
            <p:nvPr/>
          </p:nvSpPr>
          <p:spPr>
            <a:xfrm rot="18900000">
              <a:off x="3518652" y="5156017"/>
              <a:ext cx="1214993" cy="1447887"/>
            </a:xfrm>
            <a:custGeom>
              <a:avLst/>
              <a:gdLst>
                <a:gd name="connsiteX0" fmla="*/ 1274823 w 1274880"/>
                <a:gd name="connsiteY0" fmla="*/ 637405 h 1274879"/>
                <a:gd name="connsiteX1" fmla="*/ 637383 w 1274880"/>
                <a:gd name="connsiteY1" fmla="*/ 1274845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5"/>
                    <a:pt x="637383" y="1274845"/>
                  </a:cubicBezTo>
                  <a:cubicBezTo>
                    <a:pt x="285334" y="1274845"/>
                    <a:pt x="-58" y="989453"/>
                    <a:pt x="-58" y="637405"/>
                  </a:cubicBezTo>
                  <a:cubicBezTo>
                    <a:pt x="-58" y="285357"/>
                    <a:pt x="285334" y="-35"/>
                    <a:pt x="637383" y="-35"/>
                  </a:cubicBezTo>
                  <a:cubicBezTo>
                    <a:pt x="989431" y="-35"/>
                    <a:pt x="1274823" y="285357"/>
                    <a:pt x="1274823" y="637405"/>
                  </a:cubicBezTo>
                  <a:close/>
                </a:path>
              </a:pathLst>
            </a:custGeom>
            <a:solidFill>
              <a:schemeClr val="accent5"/>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9" name="Freeform: Shape 143">
              <a:extLst>
                <a:ext uri="{FF2B5EF4-FFF2-40B4-BE49-F238E27FC236}">
                  <a16:creationId xmlns:a16="http://schemas.microsoft.com/office/drawing/2014/main" id="{E3C33287-42BD-BC42-22CB-72E2195C5286}"/>
                </a:ext>
              </a:extLst>
            </p:cNvPr>
            <p:cNvSpPr/>
            <p:nvPr/>
          </p:nvSpPr>
          <p:spPr>
            <a:xfrm rot="18900000">
              <a:off x="3591199" y="5331430"/>
              <a:ext cx="932381" cy="932380"/>
            </a:xfrm>
            <a:custGeom>
              <a:avLst/>
              <a:gdLst>
                <a:gd name="connsiteX0" fmla="*/ 978281 w 978338"/>
                <a:gd name="connsiteY0" fmla="*/ 489134 h 978337"/>
                <a:gd name="connsiteX1" fmla="*/ 489112 w 978338"/>
                <a:gd name="connsiteY1" fmla="*/ 978303 h 978337"/>
                <a:gd name="connsiteX2" fmla="*/ -57 w 978338"/>
                <a:gd name="connsiteY2" fmla="*/ 489134 h 978337"/>
                <a:gd name="connsiteX3" fmla="*/ 489112 w 978338"/>
                <a:gd name="connsiteY3" fmla="*/ -35 h 978337"/>
                <a:gd name="connsiteX4" fmla="*/ 978281 w 978338"/>
                <a:gd name="connsiteY4" fmla="*/ 489134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281" y="489134"/>
                  </a:moveTo>
                  <a:cubicBezTo>
                    <a:pt x="978281" y="759295"/>
                    <a:pt x="759273" y="978303"/>
                    <a:pt x="489112" y="978303"/>
                  </a:cubicBezTo>
                  <a:cubicBezTo>
                    <a:pt x="218951" y="978303"/>
                    <a:pt x="-57" y="759295"/>
                    <a:pt x="-57" y="489134"/>
                  </a:cubicBezTo>
                  <a:cubicBezTo>
                    <a:pt x="-57" y="218974"/>
                    <a:pt x="218951" y="-35"/>
                    <a:pt x="489112" y="-35"/>
                  </a:cubicBezTo>
                  <a:cubicBezTo>
                    <a:pt x="759273" y="-35"/>
                    <a:pt x="978281" y="218974"/>
                    <a:pt x="978281" y="489134"/>
                  </a:cubicBezTo>
                  <a:close/>
                </a:path>
              </a:pathLst>
            </a:custGeom>
            <a:gradFill>
              <a:gsLst>
                <a:gs pos="0">
                  <a:srgbClr val="FFFFFF"/>
                </a:gs>
                <a:gs pos="36000">
                  <a:srgbClr val="F4F2F2"/>
                </a:gs>
                <a:gs pos="100000">
                  <a:srgbClr val="D8D2D2"/>
                </a:gs>
              </a:gsLst>
              <a:lin ang="16200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0" name="Freeform: Shape 144">
              <a:extLst>
                <a:ext uri="{FF2B5EF4-FFF2-40B4-BE49-F238E27FC236}">
                  <a16:creationId xmlns:a16="http://schemas.microsoft.com/office/drawing/2014/main" id="{B30C88C8-32D9-578F-B75E-41CC01C2D3A0}"/>
                </a:ext>
              </a:extLst>
            </p:cNvPr>
            <p:cNvSpPr/>
            <p:nvPr/>
          </p:nvSpPr>
          <p:spPr>
            <a:xfrm rot="18900000">
              <a:off x="3650781" y="5301875"/>
              <a:ext cx="932381" cy="1134190"/>
            </a:xfrm>
            <a:custGeom>
              <a:avLst/>
              <a:gdLst>
                <a:gd name="connsiteX0" fmla="*/ 978281 w 978338"/>
                <a:gd name="connsiteY0" fmla="*/ 489134 h 978337"/>
                <a:gd name="connsiteX1" fmla="*/ 489112 w 978338"/>
                <a:gd name="connsiteY1" fmla="*/ 978303 h 978337"/>
                <a:gd name="connsiteX2" fmla="*/ -57 w 978338"/>
                <a:gd name="connsiteY2" fmla="*/ 489134 h 978337"/>
                <a:gd name="connsiteX3" fmla="*/ 489112 w 978338"/>
                <a:gd name="connsiteY3" fmla="*/ -35 h 978337"/>
                <a:gd name="connsiteX4" fmla="*/ 978281 w 978338"/>
                <a:gd name="connsiteY4" fmla="*/ 489134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281" y="489134"/>
                  </a:moveTo>
                  <a:cubicBezTo>
                    <a:pt x="978281" y="759295"/>
                    <a:pt x="759273" y="978303"/>
                    <a:pt x="489112" y="978303"/>
                  </a:cubicBezTo>
                  <a:cubicBezTo>
                    <a:pt x="218951" y="978303"/>
                    <a:pt x="-57" y="759295"/>
                    <a:pt x="-57" y="489134"/>
                  </a:cubicBezTo>
                  <a:cubicBezTo>
                    <a:pt x="-57" y="218974"/>
                    <a:pt x="218951" y="-35"/>
                    <a:pt x="489112" y="-35"/>
                  </a:cubicBezTo>
                  <a:cubicBezTo>
                    <a:pt x="759273" y="-35"/>
                    <a:pt x="978281" y="218974"/>
                    <a:pt x="978281" y="489134"/>
                  </a:cubicBezTo>
                  <a:close/>
                </a:path>
              </a:pathLst>
            </a:custGeom>
            <a:gradFill>
              <a:gsLst>
                <a:gs pos="0">
                  <a:srgbClr val="FFFFFF"/>
                </a:gs>
                <a:gs pos="36000">
                  <a:srgbClr val="F4F2F2"/>
                </a:gs>
                <a:gs pos="100000">
                  <a:srgbClr val="D8D2D2"/>
                </a:gs>
              </a:gsLst>
              <a:lin ang="16200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1" name="Freeform: Shape 145">
              <a:extLst>
                <a:ext uri="{FF2B5EF4-FFF2-40B4-BE49-F238E27FC236}">
                  <a16:creationId xmlns:a16="http://schemas.microsoft.com/office/drawing/2014/main" id="{725379D8-AD02-BF7F-A583-3CB5E471AD74}"/>
                </a:ext>
              </a:extLst>
            </p:cNvPr>
            <p:cNvSpPr/>
            <p:nvPr/>
          </p:nvSpPr>
          <p:spPr>
            <a:xfrm>
              <a:off x="3691296" y="5410804"/>
              <a:ext cx="798765" cy="359570"/>
            </a:xfrm>
            <a:custGeom>
              <a:avLst/>
              <a:gdLst>
                <a:gd name="connsiteX0" fmla="*/ 768210 w 768267"/>
                <a:gd name="connsiteY0" fmla="*/ 316014 h 316048"/>
                <a:gd name="connsiteX1" fmla="*/ 308565 w 768267"/>
                <a:gd name="connsiteY1" fmla="*/ 7387 h 316048"/>
                <a:gd name="connsiteX2" fmla="*/ -58 w 768267"/>
                <a:gd name="connsiteY2" fmla="*/ 316014 h 316048"/>
              </a:gdLst>
              <a:ahLst/>
              <a:cxnLst>
                <a:cxn ang="0">
                  <a:pos x="connsiteX0" y="connsiteY0"/>
                </a:cxn>
                <a:cxn ang="0">
                  <a:pos x="connsiteX1" y="connsiteY1"/>
                </a:cxn>
                <a:cxn ang="0">
                  <a:pos x="connsiteX2" y="connsiteY2"/>
                </a:cxn>
              </a:cxnLst>
              <a:rect l="l" t="t" r="r" b="b"/>
              <a:pathLst>
                <a:path w="768267" h="316048">
                  <a:moveTo>
                    <a:pt x="768210" y="316014"/>
                  </a:moveTo>
                  <a:cubicBezTo>
                    <a:pt x="726495" y="103874"/>
                    <a:pt x="520717" y="-34304"/>
                    <a:pt x="308565" y="7387"/>
                  </a:cubicBezTo>
                  <a:cubicBezTo>
                    <a:pt x="152569" y="38062"/>
                    <a:pt x="30608" y="160018"/>
                    <a:pt x="-58" y="316014"/>
                  </a:cubicBezTo>
                  <a:close/>
                </a:path>
              </a:pathLst>
            </a:custGeom>
            <a:solidFill>
              <a:schemeClr val="accent5"/>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2" name="TextBox 146">
              <a:extLst>
                <a:ext uri="{FF2B5EF4-FFF2-40B4-BE49-F238E27FC236}">
                  <a16:creationId xmlns:a16="http://schemas.microsoft.com/office/drawing/2014/main" id="{97534E9A-5146-9061-180E-D36FFEAFCB7D}"/>
                </a:ext>
              </a:extLst>
            </p:cNvPr>
            <p:cNvSpPr txBox="1"/>
            <p:nvPr/>
          </p:nvSpPr>
          <p:spPr>
            <a:xfrm>
              <a:off x="3763031" y="5713320"/>
              <a:ext cx="620553" cy="54838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a:ln/>
                  <a:latin typeface="Lora" pitchFamily="2" charset="0"/>
                  <a:cs typeface="Arial"/>
                  <a:sym typeface="Arial"/>
                  <a:rtl val="0"/>
                </a:rPr>
                <a:t>04</a:t>
              </a:r>
            </a:p>
          </p:txBody>
        </p:sp>
        <p:sp>
          <p:nvSpPr>
            <p:cNvPr id="53" name="TextBox 147">
              <a:extLst>
                <a:ext uri="{FF2B5EF4-FFF2-40B4-BE49-F238E27FC236}">
                  <a16:creationId xmlns:a16="http://schemas.microsoft.com/office/drawing/2014/main" id="{C031186D-73B2-E48F-6607-C2058D416CD0}"/>
                </a:ext>
              </a:extLst>
            </p:cNvPr>
            <p:cNvSpPr txBox="1"/>
            <p:nvPr/>
          </p:nvSpPr>
          <p:spPr>
            <a:xfrm>
              <a:off x="3823115" y="5425909"/>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smtClean="0">
                  <a:ln/>
                  <a:solidFill>
                    <a:schemeClr val="bg1"/>
                  </a:solidFill>
                  <a:latin typeface="Lora" pitchFamily="2" charset="0"/>
                  <a:cs typeface="Arial"/>
                  <a:sym typeface="Arial"/>
                  <a:rtl val="0"/>
                </a:rPr>
                <a:t>Pb</a:t>
              </a:r>
              <a:endParaRPr lang="en-US" sz="1177" b="1" i="1" spc="0" baseline="0" dirty="0">
                <a:ln/>
                <a:solidFill>
                  <a:schemeClr val="bg1"/>
                </a:solidFill>
                <a:latin typeface="Lora" pitchFamily="2" charset="0"/>
                <a:cs typeface="Arial"/>
                <a:sym typeface="Arial"/>
                <a:rtl val="0"/>
              </a:endParaRPr>
            </a:p>
          </p:txBody>
        </p:sp>
        <p:sp>
          <p:nvSpPr>
            <p:cNvPr id="54" name="Freeform: Shape 170">
              <a:extLst>
                <a:ext uri="{FF2B5EF4-FFF2-40B4-BE49-F238E27FC236}">
                  <a16:creationId xmlns:a16="http://schemas.microsoft.com/office/drawing/2014/main" id="{F70D5EAE-11FB-FA5C-8AFE-1ED3DF3D643B}"/>
                </a:ext>
              </a:extLst>
            </p:cNvPr>
            <p:cNvSpPr/>
            <p:nvPr/>
          </p:nvSpPr>
          <p:spPr>
            <a:xfrm>
              <a:off x="6671544" y="4049586"/>
              <a:ext cx="1021028" cy="556674"/>
            </a:xfrm>
            <a:custGeom>
              <a:avLst/>
              <a:gdLst>
                <a:gd name="connsiteX0" fmla="*/ 598010 w 1071354"/>
                <a:gd name="connsiteY0" fmla="*/ -35 h 584112"/>
                <a:gd name="connsiteX1" fmla="*/ 1047806 w 1071354"/>
                <a:gd name="connsiteY1" fmla="*/ 448515 h 584112"/>
                <a:gd name="connsiteX2" fmla="*/ 1048379 w 1071354"/>
                <a:gd name="connsiteY2" fmla="*/ 560578 h 584112"/>
                <a:gd name="connsiteX3" fmla="*/ 991737 w 1071354"/>
                <a:gd name="connsiteY3" fmla="*/ 584077 h 584112"/>
                <a:gd name="connsiteX4" fmla="*/ -58 w 1071354"/>
                <a:gd name="connsiteY4" fmla="*/ 584077 h 58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354" h="584112">
                  <a:moveTo>
                    <a:pt x="598010" y="-35"/>
                  </a:moveTo>
                  <a:lnTo>
                    <a:pt x="1047806" y="448515"/>
                  </a:lnTo>
                  <a:cubicBezTo>
                    <a:pt x="1078906" y="479316"/>
                    <a:pt x="1079155" y="529478"/>
                    <a:pt x="1048379" y="560578"/>
                  </a:cubicBezTo>
                  <a:cubicBezTo>
                    <a:pt x="1033428" y="575704"/>
                    <a:pt x="1012994" y="584152"/>
                    <a:pt x="991737" y="584077"/>
                  </a:cubicBezTo>
                  <a:lnTo>
                    <a:pt x="-58" y="584077"/>
                  </a:lnTo>
                  <a:close/>
                </a:path>
              </a:pathLst>
            </a:custGeom>
            <a:solidFill>
              <a:schemeClr val="accent3">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5" name="Freeform: Shape 171">
              <a:extLst>
                <a:ext uri="{FF2B5EF4-FFF2-40B4-BE49-F238E27FC236}">
                  <a16:creationId xmlns:a16="http://schemas.microsoft.com/office/drawing/2014/main" id="{4BEAE1C6-61EF-9289-D60E-0FF166F77100}"/>
                </a:ext>
              </a:extLst>
            </p:cNvPr>
            <p:cNvSpPr/>
            <p:nvPr/>
          </p:nvSpPr>
          <p:spPr>
            <a:xfrm>
              <a:off x="4562642" y="4049586"/>
              <a:ext cx="2678875" cy="932620"/>
            </a:xfrm>
            <a:custGeom>
              <a:avLst/>
              <a:gdLst>
                <a:gd name="connsiteX0" fmla="*/ 2810859 w 2810916"/>
                <a:gd name="connsiteY0" fmla="*/ -35 h 978589"/>
                <a:gd name="connsiteX1" fmla="*/ -58 w 2810916"/>
                <a:gd name="connsiteY1" fmla="*/ -35 h 978589"/>
                <a:gd name="connsiteX2" fmla="*/ -58 w 2810916"/>
                <a:gd name="connsiteY2" fmla="*/ 978552 h 978589"/>
                <a:gd name="connsiteX3" fmla="*/ 2076731 w 2810916"/>
                <a:gd name="connsiteY3" fmla="*/ 978552 h 978589"/>
                <a:gd name="connsiteX4" fmla="*/ 2362308 w 2810916"/>
                <a:gd name="connsiteY4" fmla="*/ 811342 h 978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0916" h="978589">
                  <a:moveTo>
                    <a:pt x="2810859" y="-35"/>
                  </a:moveTo>
                  <a:lnTo>
                    <a:pt x="-58" y="-35"/>
                  </a:lnTo>
                  <a:lnTo>
                    <a:pt x="-58" y="978552"/>
                  </a:lnTo>
                  <a:lnTo>
                    <a:pt x="2076731" y="978552"/>
                  </a:lnTo>
                  <a:cubicBezTo>
                    <a:pt x="2195298" y="979050"/>
                    <a:pt x="2304719" y="914957"/>
                    <a:pt x="2362308" y="811342"/>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6" name="Freeform: Shape 173">
              <a:extLst>
                <a:ext uri="{FF2B5EF4-FFF2-40B4-BE49-F238E27FC236}">
                  <a16:creationId xmlns:a16="http://schemas.microsoft.com/office/drawing/2014/main" id="{9531D3EA-AECF-CC30-AA46-C431BA448108}"/>
                </a:ext>
              </a:extLst>
            </p:cNvPr>
            <p:cNvSpPr/>
            <p:nvPr/>
          </p:nvSpPr>
          <p:spPr>
            <a:xfrm>
              <a:off x="3793654" y="3746788"/>
              <a:ext cx="1537978" cy="1537976"/>
            </a:xfrm>
            <a:custGeom>
              <a:avLst/>
              <a:gdLst>
                <a:gd name="connsiteX0" fmla="*/ 1613785 w 1613784"/>
                <a:gd name="connsiteY0" fmla="*/ 806892 h 1613783"/>
                <a:gd name="connsiteX1" fmla="*/ 806892 w 1613784"/>
                <a:gd name="connsiteY1" fmla="*/ 1613783 h 1613783"/>
                <a:gd name="connsiteX2" fmla="*/ 0 w 1613784"/>
                <a:gd name="connsiteY2" fmla="*/ 806892 h 1613783"/>
                <a:gd name="connsiteX3" fmla="*/ 806892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5"/>
                    <a:pt x="1252527" y="1613783"/>
                    <a:pt x="806892" y="1613783"/>
                  </a:cubicBezTo>
                  <a:cubicBezTo>
                    <a:pt x="361258" y="1613783"/>
                    <a:pt x="0" y="1252525"/>
                    <a:pt x="0" y="806892"/>
                  </a:cubicBezTo>
                  <a:cubicBezTo>
                    <a:pt x="0" y="361258"/>
                    <a:pt x="361258" y="0"/>
                    <a:pt x="806892"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7" name="Freeform: Shape 174">
              <a:extLst>
                <a:ext uri="{FF2B5EF4-FFF2-40B4-BE49-F238E27FC236}">
                  <a16:creationId xmlns:a16="http://schemas.microsoft.com/office/drawing/2014/main" id="{61384BC2-922D-A083-EBB9-1AE2DDFE7437}"/>
                </a:ext>
              </a:extLst>
            </p:cNvPr>
            <p:cNvSpPr/>
            <p:nvPr/>
          </p:nvSpPr>
          <p:spPr>
            <a:xfrm rot="18900000">
              <a:off x="3955212" y="3908571"/>
              <a:ext cx="1214993" cy="1214992"/>
            </a:xfrm>
            <a:custGeom>
              <a:avLst/>
              <a:gdLst>
                <a:gd name="connsiteX0" fmla="*/ 1274823 w 1274880"/>
                <a:gd name="connsiteY0" fmla="*/ 637405 h 1274879"/>
                <a:gd name="connsiteX1" fmla="*/ 637383 w 1274880"/>
                <a:gd name="connsiteY1" fmla="*/ 1274845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5"/>
                    <a:pt x="637383" y="1274845"/>
                  </a:cubicBezTo>
                  <a:cubicBezTo>
                    <a:pt x="285334" y="1274845"/>
                    <a:pt x="-58" y="989453"/>
                    <a:pt x="-58" y="637405"/>
                  </a:cubicBezTo>
                  <a:cubicBezTo>
                    <a:pt x="-58" y="285357"/>
                    <a:pt x="285334" y="-35"/>
                    <a:pt x="637383" y="-35"/>
                  </a:cubicBezTo>
                  <a:cubicBezTo>
                    <a:pt x="989431" y="-35"/>
                    <a:pt x="1274823" y="285357"/>
                    <a:pt x="1274823" y="637405"/>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8" name="Freeform: Shape 176">
              <a:extLst>
                <a:ext uri="{FF2B5EF4-FFF2-40B4-BE49-F238E27FC236}">
                  <a16:creationId xmlns:a16="http://schemas.microsoft.com/office/drawing/2014/main" id="{7F39372D-5504-C7A9-768F-7EA0C7036E77}"/>
                </a:ext>
              </a:extLst>
            </p:cNvPr>
            <p:cNvSpPr/>
            <p:nvPr/>
          </p:nvSpPr>
          <p:spPr>
            <a:xfrm>
              <a:off x="4096452" y="4049586"/>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9" name="Freeform: Shape 177">
              <a:extLst>
                <a:ext uri="{FF2B5EF4-FFF2-40B4-BE49-F238E27FC236}">
                  <a16:creationId xmlns:a16="http://schemas.microsoft.com/office/drawing/2014/main" id="{9D1FF0EC-111B-2808-4168-B6AFE6B72C88}"/>
                </a:ext>
              </a:extLst>
            </p:cNvPr>
            <p:cNvSpPr/>
            <p:nvPr/>
          </p:nvSpPr>
          <p:spPr>
            <a:xfrm>
              <a:off x="4096452" y="4049586"/>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0" name="Freeform: Shape 178">
              <a:extLst>
                <a:ext uri="{FF2B5EF4-FFF2-40B4-BE49-F238E27FC236}">
                  <a16:creationId xmlns:a16="http://schemas.microsoft.com/office/drawing/2014/main" id="{60EF6E7B-5285-E63B-120B-F436B237B171}"/>
                </a:ext>
              </a:extLst>
            </p:cNvPr>
            <p:cNvSpPr/>
            <p:nvPr/>
          </p:nvSpPr>
          <p:spPr>
            <a:xfrm>
              <a:off x="4196435" y="4129217"/>
              <a:ext cx="732415" cy="300825"/>
            </a:xfrm>
            <a:custGeom>
              <a:avLst/>
              <a:gdLst>
                <a:gd name="connsiteX0" fmla="*/ 768459 w 768516"/>
                <a:gd name="connsiteY0" fmla="*/ 315619 h 315653"/>
                <a:gd name="connsiteX1" fmla="*/ 308047 w 768516"/>
                <a:gd name="connsiteY1" fmla="*/ 7515 h 315653"/>
                <a:gd name="connsiteX2" fmla="*/ -58 w 768516"/>
                <a:gd name="connsiteY2" fmla="*/ 315619 h 315653"/>
              </a:gdLst>
              <a:ahLst/>
              <a:cxnLst>
                <a:cxn ang="0">
                  <a:pos x="connsiteX0" y="connsiteY0"/>
                </a:cxn>
                <a:cxn ang="0">
                  <a:pos x="connsiteX1" y="connsiteY1"/>
                </a:cxn>
                <a:cxn ang="0">
                  <a:pos x="connsiteX2" y="connsiteY2"/>
                </a:cxn>
              </a:cxnLst>
              <a:rect l="l" t="t" r="r" b="b"/>
              <a:pathLst>
                <a:path w="768516" h="315653">
                  <a:moveTo>
                    <a:pt x="768459" y="315619"/>
                  </a:moveTo>
                  <a:cubicBezTo>
                    <a:pt x="726395" y="103405"/>
                    <a:pt x="520261" y="-34549"/>
                    <a:pt x="308047" y="7515"/>
                  </a:cubicBezTo>
                  <a:cubicBezTo>
                    <a:pt x="152425" y="38365"/>
                    <a:pt x="30785" y="160022"/>
                    <a:pt x="-58" y="315619"/>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1" name="TextBox 179">
              <a:extLst>
                <a:ext uri="{FF2B5EF4-FFF2-40B4-BE49-F238E27FC236}">
                  <a16:creationId xmlns:a16="http://schemas.microsoft.com/office/drawing/2014/main" id="{CAC50E3A-8FC5-A5BE-E651-07C12995D99F}"/>
                </a:ext>
              </a:extLst>
            </p:cNvPr>
            <p:cNvSpPr txBox="1"/>
            <p:nvPr/>
          </p:nvSpPr>
          <p:spPr>
            <a:xfrm>
              <a:off x="4268407" y="4431356"/>
              <a:ext cx="625136" cy="54838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a:ln/>
                  <a:latin typeface="Lora" pitchFamily="2" charset="0"/>
                  <a:cs typeface="Arial"/>
                  <a:sym typeface="Arial"/>
                  <a:rtl val="0"/>
                </a:rPr>
                <a:t>03</a:t>
              </a:r>
            </a:p>
          </p:txBody>
        </p:sp>
        <p:sp>
          <p:nvSpPr>
            <p:cNvPr id="62" name="TextBox 180">
              <a:extLst>
                <a:ext uri="{FF2B5EF4-FFF2-40B4-BE49-F238E27FC236}">
                  <a16:creationId xmlns:a16="http://schemas.microsoft.com/office/drawing/2014/main" id="{A45AE0A6-1F6E-B0C9-C839-7A9F6B2C532B}"/>
                </a:ext>
              </a:extLst>
            </p:cNvPr>
            <p:cNvSpPr txBox="1"/>
            <p:nvPr/>
          </p:nvSpPr>
          <p:spPr>
            <a:xfrm>
              <a:off x="4328255" y="4143946"/>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smtClean="0">
                  <a:ln/>
                  <a:solidFill>
                    <a:schemeClr val="bg1"/>
                  </a:solidFill>
                  <a:latin typeface="Lora" pitchFamily="2" charset="0"/>
                  <a:cs typeface="Arial"/>
                  <a:sym typeface="Arial"/>
                  <a:rtl val="0"/>
                </a:rPr>
                <a:t>Pb</a:t>
              </a:r>
              <a:endParaRPr lang="en-US" sz="1177" b="1" i="1" spc="0" baseline="0" dirty="0">
                <a:ln/>
                <a:solidFill>
                  <a:schemeClr val="bg1"/>
                </a:solidFill>
                <a:latin typeface="Lora" pitchFamily="2" charset="0"/>
                <a:cs typeface="Arial"/>
                <a:sym typeface="Arial"/>
                <a:rtl val="0"/>
              </a:endParaRPr>
            </a:p>
          </p:txBody>
        </p:sp>
        <p:sp>
          <p:nvSpPr>
            <p:cNvPr id="63" name="Freeform: Shape 207">
              <a:extLst>
                <a:ext uri="{FF2B5EF4-FFF2-40B4-BE49-F238E27FC236}">
                  <a16:creationId xmlns:a16="http://schemas.microsoft.com/office/drawing/2014/main" id="{53AD1A34-8EEE-E6B9-B095-82FF0EAF7328}"/>
                </a:ext>
              </a:extLst>
            </p:cNvPr>
            <p:cNvSpPr/>
            <p:nvPr/>
          </p:nvSpPr>
          <p:spPr>
            <a:xfrm rot="18900000">
              <a:off x="3449968" y="2627697"/>
              <a:ext cx="1214993" cy="1214992"/>
            </a:xfrm>
            <a:custGeom>
              <a:avLst/>
              <a:gdLst>
                <a:gd name="connsiteX0" fmla="*/ 1274823 w 1274880"/>
                <a:gd name="connsiteY0" fmla="*/ 637405 h 1274879"/>
                <a:gd name="connsiteX1" fmla="*/ 637383 w 1274880"/>
                <a:gd name="connsiteY1" fmla="*/ 1274844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4"/>
                    <a:pt x="637383" y="1274844"/>
                  </a:cubicBezTo>
                  <a:cubicBezTo>
                    <a:pt x="285334" y="1274844"/>
                    <a:pt x="-58" y="989453"/>
                    <a:pt x="-58" y="637405"/>
                  </a:cubicBezTo>
                  <a:cubicBezTo>
                    <a:pt x="-58" y="285357"/>
                    <a:pt x="285334" y="-35"/>
                    <a:pt x="637383" y="-35"/>
                  </a:cubicBezTo>
                  <a:cubicBezTo>
                    <a:pt x="989431" y="-35"/>
                    <a:pt x="1274823" y="285356"/>
                    <a:pt x="1274823" y="637405"/>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4" name="Freeform: Shape 240">
              <a:extLst>
                <a:ext uri="{FF2B5EF4-FFF2-40B4-BE49-F238E27FC236}">
                  <a16:creationId xmlns:a16="http://schemas.microsoft.com/office/drawing/2014/main" id="{6E10AA0A-7D69-63B8-1ED4-18A40FFFD567}"/>
                </a:ext>
              </a:extLst>
            </p:cNvPr>
            <p:cNvSpPr/>
            <p:nvPr/>
          </p:nvSpPr>
          <p:spPr>
            <a:xfrm rot="18900000">
              <a:off x="3955119" y="1345738"/>
              <a:ext cx="1214993" cy="1214992"/>
            </a:xfrm>
            <a:custGeom>
              <a:avLst/>
              <a:gdLst>
                <a:gd name="connsiteX0" fmla="*/ 1274823 w 1274880"/>
                <a:gd name="connsiteY0" fmla="*/ 637405 h 1274879"/>
                <a:gd name="connsiteX1" fmla="*/ 637383 w 1274880"/>
                <a:gd name="connsiteY1" fmla="*/ 1274844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4"/>
                    <a:pt x="637383" y="1274844"/>
                  </a:cubicBezTo>
                  <a:cubicBezTo>
                    <a:pt x="285334" y="1274844"/>
                    <a:pt x="-58" y="989453"/>
                    <a:pt x="-58" y="637405"/>
                  </a:cubicBezTo>
                  <a:cubicBezTo>
                    <a:pt x="-58" y="285357"/>
                    <a:pt x="285334" y="-35"/>
                    <a:pt x="637383" y="-35"/>
                  </a:cubicBezTo>
                  <a:cubicBezTo>
                    <a:pt x="989431" y="-35"/>
                    <a:pt x="1274823" y="285357"/>
                    <a:pt x="1274823" y="637405"/>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grpSp>
          <p:nvGrpSpPr>
            <p:cNvPr id="65" name="Group 284">
              <a:extLst>
                <a:ext uri="{FF2B5EF4-FFF2-40B4-BE49-F238E27FC236}">
                  <a16:creationId xmlns:a16="http://schemas.microsoft.com/office/drawing/2014/main" id="{E0CAC03E-5D09-7716-518F-F8A7B364D22B}"/>
                </a:ext>
              </a:extLst>
            </p:cNvPr>
            <p:cNvGrpSpPr/>
            <p:nvPr/>
          </p:nvGrpSpPr>
          <p:grpSpPr>
            <a:xfrm>
              <a:off x="3793654" y="1184287"/>
              <a:ext cx="3898918" cy="1537976"/>
              <a:chOff x="3793654" y="1184287"/>
              <a:chExt cx="3898918" cy="1537976"/>
            </a:xfrm>
          </p:grpSpPr>
          <p:sp>
            <p:nvSpPr>
              <p:cNvPr id="82" name="Freeform: Shape 236">
                <a:extLst>
                  <a:ext uri="{FF2B5EF4-FFF2-40B4-BE49-F238E27FC236}">
                    <a16:creationId xmlns:a16="http://schemas.microsoft.com/office/drawing/2014/main" id="{6CA5C497-5BE2-134A-1B15-54D50E6A99EC}"/>
                  </a:ext>
                </a:extLst>
              </p:cNvPr>
              <p:cNvSpPr/>
              <p:nvPr/>
            </p:nvSpPr>
            <p:spPr>
              <a:xfrm>
                <a:off x="6671544" y="1487084"/>
                <a:ext cx="1021028" cy="556674"/>
              </a:xfrm>
              <a:custGeom>
                <a:avLst/>
                <a:gdLst>
                  <a:gd name="connsiteX0" fmla="*/ 598010 w 1071354"/>
                  <a:gd name="connsiteY0" fmla="*/ -35 h 584112"/>
                  <a:gd name="connsiteX1" fmla="*/ 1047806 w 1071354"/>
                  <a:gd name="connsiteY1" fmla="*/ 448515 h 584112"/>
                  <a:gd name="connsiteX2" fmla="*/ 1048379 w 1071354"/>
                  <a:gd name="connsiteY2" fmla="*/ 560581 h 584112"/>
                  <a:gd name="connsiteX3" fmla="*/ 991737 w 1071354"/>
                  <a:gd name="connsiteY3" fmla="*/ 584077 h 584112"/>
                  <a:gd name="connsiteX4" fmla="*/ -58 w 1071354"/>
                  <a:gd name="connsiteY4" fmla="*/ 584077 h 58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354" h="584112">
                    <a:moveTo>
                      <a:pt x="598010" y="-35"/>
                    </a:moveTo>
                    <a:lnTo>
                      <a:pt x="1047806" y="448515"/>
                    </a:lnTo>
                    <a:cubicBezTo>
                      <a:pt x="1078906" y="479303"/>
                      <a:pt x="1079155" y="529479"/>
                      <a:pt x="1048379" y="560581"/>
                    </a:cubicBezTo>
                    <a:cubicBezTo>
                      <a:pt x="1033428" y="575697"/>
                      <a:pt x="1012994" y="584164"/>
                      <a:pt x="991737" y="584077"/>
                    </a:cubicBezTo>
                    <a:lnTo>
                      <a:pt x="-58" y="584077"/>
                    </a:lnTo>
                    <a:close/>
                  </a:path>
                </a:pathLst>
              </a:custGeom>
              <a:solidFill>
                <a:schemeClr val="accent2">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3" name="Freeform: Shape 237">
                <a:extLst>
                  <a:ext uri="{FF2B5EF4-FFF2-40B4-BE49-F238E27FC236}">
                    <a16:creationId xmlns:a16="http://schemas.microsoft.com/office/drawing/2014/main" id="{37322D0A-68A2-6DFE-5803-602B1699BDC5}"/>
                  </a:ext>
                </a:extLst>
              </p:cNvPr>
              <p:cNvSpPr/>
              <p:nvPr/>
            </p:nvSpPr>
            <p:spPr>
              <a:xfrm>
                <a:off x="4562642" y="1487084"/>
                <a:ext cx="2678875" cy="932384"/>
              </a:xfrm>
              <a:custGeom>
                <a:avLst/>
                <a:gdLst>
                  <a:gd name="connsiteX0" fmla="*/ 2810859 w 2810916"/>
                  <a:gd name="connsiteY0" fmla="*/ -35 h 978341"/>
                  <a:gd name="connsiteX1" fmla="*/ -58 w 2810916"/>
                  <a:gd name="connsiteY1" fmla="*/ -35 h 978341"/>
                  <a:gd name="connsiteX2" fmla="*/ -58 w 2810916"/>
                  <a:gd name="connsiteY2" fmla="*/ 978303 h 978341"/>
                  <a:gd name="connsiteX3" fmla="*/ 2076731 w 2810916"/>
                  <a:gd name="connsiteY3" fmla="*/ 978303 h 978341"/>
                  <a:gd name="connsiteX4" fmla="*/ 2362308 w 2810916"/>
                  <a:gd name="connsiteY4" fmla="*/ 811592 h 978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0916" h="978341">
                    <a:moveTo>
                      <a:pt x="2810859" y="-35"/>
                    </a:moveTo>
                    <a:lnTo>
                      <a:pt x="-58" y="-35"/>
                    </a:lnTo>
                    <a:lnTo>
                      <a:pt x="-58" y="978303"/>
                    </a:lnTo>
                    <a:lnTo>
                      <a:pt x="2076731" y="978303"/>
                    </a:lnTo>
                    <a:cubicBezTo>
                      <a:pt x="2195174" y="978888"/>
                      <a:pt x="2304570" y="915025"/>
                      <a:pt x="2362308" y="811592"/>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4" name="Freeform: Shape 239">
                <a:extLst>
                  <a:ext uri="{FF2B5EF4-FFF2-40B4-BE49-F238E27FC236}">
                    <a16:creationId xmlns:a16="http://schemas.microsoft.com/office/drawing/2014/main" id="{9972018C-EB78-9B44-A6E6-5A8F9E12E5D8}"/>
                  </a:ext>
                </a:extLst>
              </p:cNvPr>
              <p:cNvSpPr/>
              <p:nvPr/>
            </p:nvSpPr>
            <p:spPr>
              <a:xfrm>
                <a:off x="3793654" y="1184287"/>
                <a:ext cx="1537978" cy="1537976"/>
              </a:xfrm>
              <a:custGeom>
                <a:avLst/>
                <a:gdLst>
                  <a:gd name="connsiteX0" fmla="*/ 1613785 w 1613784"/>
                  <a:gd name="connsiteY0" fmla="*/ 806892 h 1613783"/>
                  <a:gd name="connsiteX1" fmla="*/ 806892 w 1613784"/>
                  <a:gd name="connsiteY1" fmla="*/ 1613783 h 1613783"/>
                  <a:gd name="connsiteX2" fmla="*/ 0 w 1613784"/>
                  <a:gd name="connsiteY2" fmla="*/ 806892 h 1613783"/>
                  <a:gd name="connsiteX3" fmla="*/ 806892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6"/>
                      <a:pt x="1252527" y="1613783"/>
                      <a:pt x="806892" y="1613783"/>
                    </a:cubicBezTo>
                    <a:cubicBezTo>
                      <a:pt x="361258" y="1613783"/>
                      <a:pt x="0" y="1252526"/>
                      <a:pt x="0" y="806892"/>
                    </a:cubicBezTo>
                    <a:cubicBezTo>
                      <a:pt x="0" y="361258"/>
                      <a:pt x="361258" y="0"/>
                      <a:pt x="806892"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5" name="Freeform: Shape 242">
                <a:extLst>
                  <a:ext uri="{FF2B5EF4-FFF2-40B4-BE49-F238E27FC236}">
                    <a16:creationId xmlns:a16="http://schemas.microsoft.com/office/drawing/2014/main" id="{83EDC5EF-CAED-A445-D6E8-41B8C7D93155}"/>
                  </a:ext>
                </a:extLst>
              </p:cNvPr>
              <p:cNvSpPr/>
              <p:nvPr/>
            </p:nvSpPr>
            <p:spPr>
              <a:xfrm>
                <a:off x="4096452" y="1487084"/>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6" name="Freeform: Shape 243">
                <a:extLst>
                  <a:ext uri="{FF2B5EF4-FFF2-40B4-BE49-F238E27FC236}">
                    <a16:creationId xmlns:a16="http://schemas.microsoft.com/office/drawing/2014/main" id="{3A4F3066-07A9-76DF-F593-701D06C2F170}"/>
                  </a:ext>
                </a:extLst>
              </p:cNvPr>
              <p:cNvSpPr/>
              <p:nvPr/>
            </p:nvSpPr>
            <p:spPr>
              <a:xfrm>
                <a:off x="4096452" y="1487084"/>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7" name="Freeform: Shape 244">
                <a:extLst>
                  <a:ext uri="{FF2B5EF4-FFF2-40B4-BE49-F238E27FC236}">
                    <a16:creationId xmlns:a16="http://schemas.microsoft.com/office/drawing/2014/main" id="{8A59E625-04EA-6F06-318C-0BCF5520C449}"/>
                  </a:ext>
                </a:extLst>
              </p:cNvPr>
              <p:cNvSpPr/>
              <p:nvPr/>
            </p:nvSpPr>
            <p:spPr>
              <a:xfrm>
                <a:off x="4196435" y="1566726"/>
                <a:ext cx="732415" cy="300815"/>
              </a:xfrm>
              <a:custGeom>
                <a:avLst/>
                <a:gdLst>
                  <a:gd name="connsiteX0" fmla="*/ 768459 w 768516"/>
                  <a:gd name="connsiteY0" fmla="*/ 315608 h 315642"/>
                  <a:gd name="connsiteX1" fmla="*/ 308047 w 768516"/>
                  <a:gd name="connsiteY1" fmla="*/ 7516 h 315642"/>
                  <a:gd name="connsiteX2" fmla="*/ -58 w 768516"/>
                  <a:gd name="connsiteY2" fmla="*/ 315608 h 315642"/>
                </a:gdLst>
                <a:ahLst/>
                <a:cxnLst>
                  <a:cxn ang="0">
                    <a:pos x="connsiteX0" y="connsiteY0"/>
                  </a:cxn>
                  <a:cxn ang="0">
                    <a:pos x="connsiteX1" y="connsiteY1"/>
                  </a:cxn>
                  <a:cxn ang="0">
                    <a:pos x="connsiteX2" y="connsiteY2"/>
                  </a:cxn>
                </a:cxnLst>
                <a:rect l="l" t="t" r="r" b="b"/>
                <a:pathLst>
                  <a:path w="768516" h="315642">
                    <a:moveTo>
                      <a:pt x="768459" y="315608"/>
                    </a:moveTo>
                    <a:cubicBezTo>
                      <a:pt x="726395" y="103389"/>
                      <a:pt x="520261" y="-34550"/>
                      <a:pt x="308047" y="7516"/>
                    </a:cubicBezTo>
                    <a:cubicBezTo>
                      <a:pt x="152425" y="38359"/>
                      <a:pt x="30785" y="160003"/>
                      <a:pt x="-58" y="315608"/>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8" name="TextBox 245">
                <a:extLst>
                  <a:ext uri="{FF2B5EF4-FFF2-40B4-BE49-F238E27FC236}">
                    <a16:creationId xmlns:a16="http://schemas.microsoft.com/office/drawing/2014/main" id="{A745307B-DE0A-472D-A0ED-23912CFDE99B}"/>
                  </a:ext>
                </a:extLst>
              </p:cNvPr>
              <p:cNvSpPr txBox="1"/>
              <p:nvPr/>
            </p:nvSpPr>
            <p:spPr>
              <a:xfrm>
                <a:off x="4268407" y="1868855"/>
                <a:ext cx="568611" cy="54838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a:ln/>
                    <a:latin typeface="Lora" pitchFamily="2" charset="0"/>
                    <a:cs typeface="Arial"/>
                    <a:sym typeface="Arial"/>
                    <a:rtl val="0"/>
                  </a:rPr>
                  <a:t>01</a:t>
                </a:r>
              </a:p>
            </p:txBody>
          </p:sp>
          <p:sp>
            <p:nvSpPr>
              <p:cNvPr id="89" name="TextBox 246">
                <a:extLst>
                  <a:ext uri="{FF2B5EF4-FFF2-40B4-BE49-F238E27FC236}">
                    <a16:creationId xmlns:a16="http://schemas.microsoft.com/office/drawing/2014/main" id="{D5CB80FA-2A52-A4AD-A668-040D49791A2B}"/>
                  </a:ext>
                </a:extLst>
              </p:cNvPr>
              <p:cNvSpPr txBox="1"/>
              <p:nvPr/>
            </p:nvSpPr>
            <p:spPr>
              <a:xfrm>
                <a:off x="4328255" y="1581443"/>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a:ln/>
                    <a:solidFill>
                      <a:schemeClr val="bg1"/>
                    </a:solidFill>
                    <a:latin typeface="Lora" pitchFamily="2" charset="0"/>
                    <a:cs typeface="Arial"/>
                    <a:sym typeface="Arial"/>
                    <a:rtl val="0"/>
                  </a:rPr>
                  <a:t>P</a:t>
                </a:r>
                <a:r>
                  <a:rPr lang="en-US" sz="1177" b="1" i="1" dirty="0" err="1" smtClean="0">
                    <a:ln/>
                    <a:solidFill>
                      <a:schemeClr val="bg1"/>
                    </a:solidFill>
                    <a:latin typeface="Lora" pitchFamily="2" charset="0"/>
                    <a:cs typeface="Arial"/>
                    <a:sym typeface="Arial"/>
                    <a:rtl val="0"/>
                  </a:rPr>
                  <a:t>b</a:t>
                </a:r>
                <a:endParaRPr lang="en-US" sz="1177" b="1" i="1" spc="0" baseline="0" dirty="0">
                  <a:ln/>
                  <a:solidFill>
                    <a:schemeClr val="bg1"/>
                  </a:solidFill>
                  <a:latin typeface="Lora" pitchFamily="2" charset="0"/>
                  <a:cs typeface="Arial"/>
                  <a:sym typeface="Arial"/>
                  <a:rtl val="0"/>
                </a:endParaRPr>
              </a:p>
            </p:txBody>
          </p:sp>
          <p:sp>
            <p:nvSpPr>
              <p:cNvPr id="90" name="TextBox 275">
                <a:extLst>
                  <a:ext uri="{FF2B5EF4-FFF2-40B4-BE49-F238E27FC236}">
                    <a16:creationId xmlns:a16="http://schemas.microsoft.com/office/drawing/2014/main" id="{E29CADE7-43F8-394B-66B7-05A72C0C7BC3}"/>
                  </a:ext>
                </a:extLst>
              </p:cNvPr>
              <p:cNvSpPr txBox="1"/>
              <p:nvPr/>
            </p:nvSpPr>
            <p:spPr>
              <a:xfrm>
                <a:off x="5370326" y="1784000"/>
                <a:ext cx="1432982" cy="3758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fr-CM" sz="1400" b="1" dirty="0">
                    <a:solidFill>
                      <a:schemeClr val="bg1"/>
                    </a:solidFill>
                  </a:rPr>
                  <a:t>R</a:t>
                </a:r>
                <a:r>
                  <a:rPr lang="fr-CM" sz="1400" b="1" dirty="0" smtClean="0">
                    <a:solidFill>
                      <a:schemeClr val="bg1"/>
                    </a:solidFill>
                  </a:rPr>
                  <a:t>eproductibilité</a:t>
                </a:r>
                <a:endParaRPr lang="en-US" sz="1200" b="1" dirty="0">
                  <a:solidFill>
                    <a:schemeClr val="bg1"/>
                  </a:solidFill>
                  <a:latin typeface="Lora" pitchFamily="2" charset="0"/>
                </a:endParaRPr>
              </a:p>
            </p:txBody>
          </p:sp>
        </p:grpSp>
        <p:grpSp>
          <p:nvGrpSpPr>
            <p:cNvPr id="66" name="Group 285">
              <a:extLst>
                <a:ext uri="{FF2B5EF4-FFF2-40B4-BE49-F238E27FC236}">
                  <a16:creationId xmlns:a16="http://schemas.microsoft.com/office/drawing/2014/main" id="{7942455D-21B4-017C-6A71-27204635F68F}"/>
                </a:ext>
              </a:extLst>
            </p:cNvPr>
            <p:cNvGrpSpPr/>
            <p:nvPr/>
          </p:nvGrpSpPr>
          <p:grpSpPr>
            <a:xfrm>
              <a:off x="3288277" y="2466250"/>
              <a:ext cx="3897882" cy="1471312"/>
              <a:chOff x="3288277" y="2466250"/>
              <a:chExt cx="3897882" cy="1471312"/>
            </a:xfrm>
          </p:grpSpPr>
          <p:sp>
            <p:nvSpPr>
              <p:cNvPr id="73" name="Freeform: Shape 203">
                <a:extLst>
                  <a:ext uri="{FF2B5EF4-FFF2-40B4-BE49-F238E27FC236}">
                    <a16:creationId xmlns:a16="http://schemas.microsoft.com/office/drawing/2014/main" id="{4C7BDAD5-EDAF-17C8-47B1-26F8E3E7304A}"/>
                  </a:ext>
                </a:extLst>
              </p:cNvPr>
              <p:cNvSpPr/>
              <p:nvPr/>
            </p:nvSpPr>
            <p:spPr>
              <a:xfrm>
                <a:off x="6167356" y="2769048"/>
                <a:ext cx="1018803" cy="556673"/>
              </a:xfrm>
              <a:custGeom>
                <a:avLst/>
                <a:gdLst>
                  <a:gd name="connsiteX0" fmla="*/ 597262 w 1069020"/>
                  <a:gd name="connsiteY0" fmla="*/ -35 h 584111"/>
                  <a:gd name="connsiteX1" fmla="*/ 1045813 w 1069020"/>
                  <a:gd name="connsiteY1" fmla="*/ 448515 h 584111"/>
                  <a:gd name="connsiteX2" fmla="*/ 1045539 w 1069020"/>
                  <a:gd name="connsiteY2" fmla="*/ 560927 h 584111"/>
                  <a:gd name="connsiteX3" fmla="*/ 989494 w 1069020"/>
                  <a:gd name="connsiteY3" fmla="*/ 584077 h 584111"/>
                  <a:gd name="connsiteX4" fmla="*/ -58 w 1069020"/>
                  <a:gd name="connsiteY4" fmla="*/ 584077 h 584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9020" h="584111">
                    <a:moveTo>
                      <a:pt x="597262" y="-35"/>
                    </a:moveTo>
                    <a:lnTo>
                      <a:pt x="1045813" y="448515"/>
                    </a:lnTo>
                    <a:cubicBezTo>
                      <a:pt x="1076788" y="479639"/>
                      <a:pt x="1076663" y="529977"/>
                      <a:pt x="1045539" y="560927"/>
                    </a:cubicBezTo>
                    <a:cubicBezTo>
                      <a:pt x="1030637" y="575754"/>
                      <a:pt x="1010502" y="584077"/>
                      <a:pt x="989494" y="584077"/>
                    </a:cubicBezTo>
                    <a:lnTo>
                      <a:pt x="-58" y="584077"/>
                    </a:lnTo>
                    <a:close/>
                  </a:path>
                </a:pathLst>
              </a:custGeom>
              <a:solidFill>
                <a:schemeClr val="accent1">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4" name="Freeform: Shape 204">
                <a:extLst>
                  <a:ext uri="{FF2B5EF4-FFF2-40B4-BE49-F238E27FC236}">
                    <a16:creationId xmlns:a16="http://schemas.microsoft.com/office/drawing/2014/main" id="{E16298DC-14ED-E3E8-36C4-212DBA8E04AD}"/>
                  </a:ext>
                </a:extLst>
              </p:cNvPr>
              <p:cNvSpPr/>
              <p:nvPr/>
            </p:nvSpPr>
            <p:spPr>
              <a:xfrm>
                <a:off x="4057504" y="2769048"/>
                <a:ext cx="2679112" cy="932380"/>
              </a:xfrm>
              <a:custGeom>
                <a:avLst/>
                <a:gdLst>
                  <a:gd name="connsiteX0" fmla="*/ 2811108 w 2811165"/>
                  <a:gd name="connsiteY0" fmla="*/ -35 h 978337"/>
                  <a:gd name="connsiteX1" fmla="*/ -58 w 2811165"/>
                  <a:gd name="connsiteY1" fmla="*/ -35 h 978337"/>
                  <a:gd name="connsiteX2" fmla="*/ -58 w 2811165"/>
                  <a:gd name="connsiteY2" fmla="*/ 978303 h 978337"/>
                  <a:gd name="connsiteX3" fmla="*/ 2076731 w 2811165"/>
                  <a:gd name="connsiteY3" fmla="*/ 978303 h 978337"/>
                  <a:gd name="connsiteX4" fmla="*/ 2360813 w 2811165"/>
                  <a:gd name="connsiteY4" fmla="*/ 811093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165" h="978337">
                    <a:moveTo>
                      <a:pt x="2811108" y="-35"/>
                    </a:moveTo>
                    <a:lnTo>
                      <a:pt x="-58" y="-35"/>
                    </a:lnTo>
                    <a:lnTo>
                      <a:pt x="-58" y="978303"/>
                    </a:lnTo>
                    <a:lnTo>
                      <a:pt x="2076731" y="978303"/>
                    </a:lnTo>
                    <a:cubicBezTo>
                      <a:pt x="2194825" y="978502"/>
                      <a:pt x="2303673" y="914434"/>
                      <a:pt x="2360813" y="811093"/>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5" name="Freeform: Shape 206">
                <a:extLst>
                  <a:ext uri="{FF2B5EF4-FFF2-40B4-BE49-F238E27FC236}">
                    <a16:creationId xmlns:a16="http://schemas.microsoft.com/office/drawing/2014/main" id="{FBF90562-1CBF-CA0D-5F7B-E66E96A84F64}"/>
                  </a:ext>
                </a:extLst>
              </p:cNvPr>
              <p:cNvSpPr/>
              <p:nvPr/>
            </p:nvSpPr>
            <p:spPr>
              <a:xfrm>
                <a:off x="3288277" y="2466250"/>
                <a:ext cx="1417959" cy="1471312"/>
              </a:xfrm>
              <a:custGeom>
                <a:avLst/>
                <a:gdLst>
                  <a:gd name="connsiteX0" fmla="*/ 1613785 w 1613784"/>
                  <a:gd name="connsiteY0" fmla="*/ 806892 h 1613783"/>
                  <a:gd name="connsiteX1" fmla="*/ 806893 w 1613784"/>
                  <a:gd name="connsiteY1" fmla="*/ 1613783 h 1613783"/>
                  <a:gd name="connsiteX2" fmla="*/ 0 w 1613784"/>
                  <a:gd name="connsiteY2" fmla="*/ 806892 h 1613783"/>
                  <a:gd name="connsiteX3" fmla="*/ 806893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6"/>
                      <a:pt x="1252527" y="1613783"/>
                      <a:pt x="806893" y="1613783"/>
                    </a:cubicBezTo>
                    <a:cubicBezTo>
                      <a:pt x="361258" y="1613783"/>
                      <a:pt x="0" y="1252526"/>
                      <a:pt x="0" y="806892"/>
                    </a:cubicBezTo>
                    <a:cubicBezTo>
                      <a:pt x="0" y="361258"/>
                      <a:pt x="361258" y="0"/>
                      <a:pt x="806893"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6" name="Freeform: Shape 209">
                <a:extLst>
                  <a:ext uri="{FF2B5EF4-FFF2-40B4-BE49-F238E27FC236}">
                    <a16:creationId xmlns:a16="http://schemas.microsoft.com/office/drawing/2014/main" id="{4461C724-22F5-6539-FE34-47C9CD0FA007}"/>
                  </a:ext>
                </a:extLst>
              </p:cNvPr>
              <p:cNvSpPr/>
              <p:nvPr/>
            </p:nvSpPr>
            <p:spPr>
              <a:xfrm>
                <a:off x="3591076" y="2769048"/>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7" name="Freeform: Shape 210">
                <a:extLst>
                  <a:ext uri="{FF2B5EF4-FFF2-40B4-BE49-F238E27FC236}">
                    <a16:creationId xmlns:a16="http://schemas.microsoft.com/office/drawing/2014/main" id="{5721AE6D-1154-B998-6791-F22717DFF3C3}"/>
                  </a:ext>
                </a:extLst>
              </p:cNvPr>
              <p:cNvSpPr/>
              <p:nvPr/>
            </p:nvSpPr>
            <p:spPr>
              <a:xfrm>
                <a:off x="3591076" y="2769048"/>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8" name="Freeform: Shape 211">
                <a:extLst>
                  <a:ext uri="{FF2B5EF4-FFF2-40B4-BE49-F238E27FC236}">
                    <a16:creationId xmlns:a16="http://schemas.microsoft.com/office/drawing/2014/main" id="{92D357CF-70CE-BC71-95CE-1C3BDEEF2F16}"/>
                  </a:ext>
                </a:extLst>
              </p:cNvPr>
              <p:cNvSpPr/>
              <p:nvPr/>
            </p:nvSpPr>
            <p:spPr>
              <a:xfrm>
                <a:off x="3691296" y="2848303"/>
                <a:ext cx="732178" cy="301202"/>
              </a:xfrm>
              <a:custGeom>
                <a:avLst/>
                <a:gdLst>
                  <a:gd name="connsiteX0" fmla="*/ 768210 w 768267"/>
                  <a:gd name="connsiteY0" fmla="*/ 316014 h 316048"/>
                  <a:gd name="connsiteX1" fmla="*/ 308565 w 768267"/>
                  <a:gd name="connsiteY1" fmla="*/ 7386 h 316048"/>
                  <a:gd name="connsiteX2" fmla="*/ -58 w 768267"/>
                  <a:gd name="connsiteY2" fmla="*/ 316014 h 316048"/>
                </a:gdLst>
                <a:ahLst/>
                <a:cxnLst>
                  <a:cxn ang="0">
                    <a:pos x="connsiteX0" y="connsiteY0"/>
                  </a:cxn>
                  <a:cxn ang="0">
                    <a:pos x="connsiteX1" y="connsiteY1"/>
                  </a:cxn>
                  <a:cxn ang="0">
                    <a:pos x="connsiteX2" y="connsiteY2"/>
                  </a:cxn>
                </a:cxnLst>
                <a:rect l="l" t="t" r="r" b="b"/>
                <a:pathLst>
                  <a:path w="768267" h="316048">
                    <a:moveTo>
                      <a:pt x="768210" y="316014"/>
                    </a:moveTo>
                    <a:cubicBezTo>
                      <a:pt x="726495" y="103875"/>
                      <a:pt x="520717" y="-34304"/>
                      <a:pt x="308565" y="7386"/>
                    </a:cubicBezTo>
                    <a:cubicBezTo>
                      <a:pt x="152569" y="38062"/>
                      <a:pt x="30608" y="160018"/>
                      <a:pt x="-58" y="316014"/>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9" name="TextBox 212">
                <a:extLst>
                  <a:ext uri="{FF2B5EF4-FFF2-40B4-BE49-F238E27FC236}">
                    <a16:creationId xmlns:a16="http://schemas.microsoft.com/office/drawing/2014/main" id="{2A6009CD-4115-8A3C-5B45-358671AFEFB0}"/>
                  </a:ext>
                </a:extLst>
              </p:cNvPr>
              <p:cNvSpPr txBox="1"/>
              <p:nvPr/>
            </p:nvSpPr>
            <p:spPr>
              <a:xfrm>
                <a:off x="3763031" y="3150818"/>
                <a:ext cx="615970" cy="54838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a:ln/>
                    <a:latin typeface="Lora" pitchFamily="2" charset="0"/>
                    <a:cs typeface="Arial"/>
                    <a:sym typeface="Arial"/>
                    <a:rtl val="0"/>
                  </a:rPr>
                  <a:t>02</a:t>
                </a:r>
              </a:p>
            </p:txBody>
          </p:sp>
          <p:sp>
            <p:nvSpPr>
              <p:cNvPr id="80" name="TextBox 213">
                <a:extLst>
                  <a:ext uri="{FF2B5EF4-FFF2-40B4-BE49-F238E27FC236}">
                    <a16:creationId xmlns:a16="http://schemas.microsoft.com/office/drawing/2014/main" id="{2CE8EB20-FE53-340D-83D0-D3426A8DD8D6}"/>
                  </a:ext>
                </a:extLst>
              </p:cNvPr>
              <p:cNvSpPr txBox="1"/>
              <p:nvPr/>
            </p:nvSpPr>
            <p:spPr>
              <a:xfrm>
                <a:off x="3823115" y="2863169"/>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a:ln/>
                    <a:solidFill>
                      <a:schemeClr val="bg1"/>
                    </a:solidFill>
                    <a:latin typeface="Lora" pitchFamily="2" charset="0"/>
                    <a:cs typeface="Arial"/>
                    <a:sym typeface="Arial"/>
                    <a:rtl val="0"/>
                  </a:rPr>
                  <a:t>P</a:t>
                </a:r>
                <a:r>
                  <a:rPr lang="en-US" sz="1177" b="1" i="1" dirty="0" err="1" smtClean="0">
                    <a:ln/>
                    <a:solidFill>
                      <a:schemeClr val="bg1"/>
                    </a:solidFill>
                    <a:latin typeface="Lora" pitchFamily="2" charset="0"/>
                    <a:cs typeface="Arial"/>
                    <a:sym typeface="Arial"/>
                    <a:rtl val="0"/>
                  </a:rPr>
                  <a:t>b</a:t>
                </a:r>
                <a:endParaRPr lang="en-US" sz="1177" b="1" i="1" spc="0" baseline="0" dirty="0">
                  <a:ln/>
                  <a:solidFill>
                    <a:schemeClr val="bg1"/>
                  </a:solidFill>
                  <a:latin typeface="Lora" pitchFamily="2" charset="0"/>
                  <a:cs typeface="Arial"/>
                  <a:sym typeface="Arial"/>
                  <a:rtl val="0"/>
                </a:endParaRPr>
              </a:p>
            </p:txBody>
          </p:sp>
          <p:sp>
            <p:nvSpPr>
              <p:cNvPr id="81" name="TextBox 279">
                <a:extLst>
                  <a:ext uri="{FF2B5EF4-FFF2-40B4-BE49-F238E27FC236}">
                    <a16:creationId xmlns:a16="http://schemas.microsoft.com/office/drawing/2014/main" id="{AF94D0E3-3436-C66D-CBC7-513DD558CFD3}"/>
                  </a:ext>
                </a:extLst>
              </p:cNvPr>
              <p:cNvSpPr txBox="1"/>
              <p:nvPr/>
            </p:nvSpPr>
            <p:spPr>
              <a:xfrm>
                <a:off x="4855375" y="3065961"/>
                <a:ext cx="1432982" cy="3758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fr-FR" sz="1400" b="1" dirty="0">
                    <a:solidFill>
                      <a:schemeClr val="bg1"/>
                    </a:solidFill>
                  </a:rPr>
                  <a:t>M</a:t>
                </a:r>
                <a:r>
                  <a:rPr lang="fr-FR" sz="1400" b="1" dirty="0" smtClean="0">
                    <a:solidFill>
                      <a:schemeClr val="bg1"/>
                    </a:solidFill>
                  </a:rPr>
                  <a:t>aintenabilité</a:t>
                </a:r>
                <a:endParaRPr lang="en-US" sz="1400" b="1" dirty="0">
                  <a:solidFill>
                    <a:schemeClr val="bg1"/>
                  </a:solidFill>
                </a:endParaRPr>
              </a:p>
            </p:txBody>
          </p:sp>
        </p:grpSp>
        <p:sp>
          <p:nvSpPr>
            <p:cNvPr id="67" name="TextBox 280">
              <a:extLst>
                <a:ext uri="{FF2B5EF4-FFF2-40B4-BE49-F238E27FC236}">
                  <a16:creationId xmlns:a16="http://schemas.microsoft.com/office/drawing/2014/main" id="{5B5156BE-F777-499B-932A-52815B30C5BF}"/>
                </a:ext>
              </a:extLst>
            </p:cNvPr>
            <p:cNvSpPr txBox="1"/>
            <p:nvPr/>
          </p:nvSpPr>
          <p:spPr>
            <a:xfrm>
              <a:off x="5370326" y="4346619"/>
              <a:ext cx="1432982" cy="41348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fr-FR" sz="1600" b="1" dirty="0">
                  <a:solidFill>
                    <a:schemeClr val="bg1"/>
                  </a:solidFill>
                </a:rPr>
                <a:t>C</a:t>
              </a:r>
              <a:r>
                <a:rPr lang="fr-FR" sz="1600" b="1" dirty="0" smtClean="0">
                  <a:solidFill>
                    <a:schemeClr val="bg1"/>
                  </a:solidFill>
                </a:rPr>
                <a:t>ohabitation</a:t>
              </a:r>
              <a:endParaRPr lang="en-US" sz="1400" b="1" dirty="0">
                <a:solidFill>
                  <a:schemeClr val="bg1"/>
                </a:solidFill>
                <a:latin typeface="Lora" pitchFamily="2" charset="0"/>
              </a:endParaRPr>
            </a:p>
          </p:txBody>
        </p:sp>
        <p:sp>
          <p:nvSpPr>
            <p:cNvPr id="68" name="TextBox 281">
              <a:extLst>
                <a:ext uri="{FF2B5EF4-FFF2-40B4-BE49-F238E27FC236}">
                  <a16:creationId xmlns:a16="http://schemas.microsoft.com/office/drawing/2014/main" id="{CEA9CB88-8EFF-44C1-C0F0-FACC753363C1}"/>
                </a:ext>
              </a:extLst>
            </p:cNvPr>
            <p:cNvSpPr txBox="1"/>
            <p:nvPr/>
          </p:nvSpPr>
          <p:spPr>
            <a:xfrm>
              <a:off x="4896847" y="5628581"/>
              <a:ext cx="1432982" cy="41348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en-US" sz="1600" b="1" dirty="0" err="1">
                  <a:solidFill>
                    <a:schemeClr val="bg1"/>
                  </a:solidFill>
                </a:rPr>
                <a:t>Scalabilité</a:t>
              </a:r>
              <a:endParaRPr lang="en-US" sz="1600" b="1" dirty="0">
                <a:solidFill>
                  <a:schemeClr val="bg1"/>
                </a:solidFill>
              </a:endParaRPr>
            </a:p>
          </p:txBody>
        </p:sp>
        <p:sp>
          <p:nvSpPr>
            <p:cNvPr id="69" name="TextBox 283">
              <a:extLst>
                <a:ext uri="{FF2B5EF4-FFF2-40B4-BE49-F238E27FC236}">
                  <a16:creationId xmlns:a16="http://schemas.microsoft.com/office/drawing/2014/main" id="{936DFE28-E28F-3350-FA63-B11999CA561B}"/>
                </a:ext>
              </a:extLst>
            </p:cNvPr>
            <p:cNvSpPr txBox="1"/>
            <p:nvPr/>
          </p:nvSpPr>
          <p:spPr>
            <a:xfrm>
              <a:off x="7857066" y="1630110"/>
              <a:ext cx="3281829" cy="124045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200" dirty="0">
                  <a:latin typeface="Lora" pitchFamily="2" charset="0"/>
                </a:rPr>
                <a:t>Les applications classiques sont lourd à déployer à cause de l’accumulation des plusieurs configurations manuelles. </a:t>
              </a:r>
              <a:r>
                <a:rPr lang="fr-FR" sz="1200" dirty="0">
                  <a:latin typeface="Lora" pitchFamily="2" charset="0"/>
                </a:rPr>
                <a:t>provoquant le syndrome bien connu du </a:t>
              </a:r>
              <a:r>
                <a:rPr lang="fr-FR" sz="1200" b="1" dirty="0">
                  <a:latin typeface="Lora" pitchFamily="2" charset="0"/>
                </a:rPr>
                <a:t>« ça marche sur ma machine ».</a:t>
              </a:r>
              <a:endParaRPr lang="en-GB" sz="1200" b="1" dirty="0">
                <a:latin typeface="Lora" pitchFamily="2" charset="0"/>
                <a:sym typeface="Fira Sans Extra Condensed Medium"/>
              </a:endParaRPr>
            </a:p>
          </p:txBody>
        </p:sp>
        <p:sp>
          <p:nvSpPr>
            <p:cNvPr id="70" name="TextBox 297">
              <a:extLst>
                <a:ext uri="{FF2B5EF4-FFF2-40B4-BE49-F238E27FC236}">
                  <a16:creationId xmlns:a16="http://schemas.microsoft.com/office/drawing/2014/main" id="{83A047EF-7E61-DA6E-3A6E-827E9B1A7F4F}"/>
                </a:ext>
              </a:extLst>
            </p:cNvPr>
            <p:cNvSpPr txBox="1"/>
            <p:nvPr/>
          </p:nvSpPr>
          <p:spPr>
            <a:xfrm>
              <a:off x="7258970" y="2963028"/>
              <a:ext cx="4005488" cy="78938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Lora" pitchFamily="2" charset="0"/>
                </a:rPr>
                <a:t>Le déploiement classique souffre d'un manque crucial de visibilité sur la topologie et les frontières applicatives. </a:t>
              </a:r>
              <a:endParaRPr lang="en-US" sz="1200" dirty="0">
                <a:latin typeface="Lora" pitchFamily="2" charset="0"/>
              </a:endParaRPr>
            </a:p>
          </p:txBody>
        </p:sp>
        <p:sp>
          <p:nvSpPr>
            <p:cNvPr id="71" name="TextBox 298">
              <a:extLst>
                <a:ext uri="{FF2B5EF4-FFF2-40B4-BE49-F238E27FC236}">
                  <a16:creationId xmlns:a16="http://schemas.microsoft.com/office/drawing/2014/main" id="{4E8B026F-D3FF-D60C-AEAF-B2025454B857}"/>
                </a:ext>
              </a:extLst>
            </p:cNvPr>
            <p:cNvSpPr txBox="1"/>
            <p:nvPr/>
          </p:nvSpPr>
          <p:spPr>
            <a:xfrm>
              <a:off x="7371643" y="5388841"/>
              <a:ext cx="5427334" cy="14659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200" dirty="0">
                  <a:latin typeface="Lora" pitchFamily="2" charset="0"/>
                </a:rPr>
                <a:t>Face à une augmentation de la charge (pics de connexion sur une application de service public par exemple), la seule réponse possible dans un modèle traditionnel est le partitionnement vertical (achat de RAM/CPU supplémentaires) ou la duplication lourde de machines virtuelles entières. Cette approche de </a:t>
              </a:r>
              <a:r>
                <a:rPr lang="fr-FR" sz="1200" dirty="0" err="1">
                  <a:latin typeface="Lora" pitchFamily="2" charset="0"/>
                </a:rPr>
                <a:t>scalabilité</a:t>
              </a:r>
              <a:r>
                <a:rPr lang="fr-FR" sz="1200" dirty="0">
                  <a:latin typeface="Lora" pitchFamily="2" charset="0"/>
                </a:rPr>
                <a:t> matérielle s'avère extrêmement onéreuse et lente à implémenter.</a:t>
              </a:r>
              <a:endParaRPr lang="en-US" sz="1200" dirty="0">
                <a:latin typeface="Lora" pitchFamily="2" charset="0"/>
              </a:endParaRPr>
            </a:p>
          </p:txBody>
        </p:sp>
        <p:sp>
          <p:nvSpPr>
            <p:cNvPr id="72" name="TextBox 299">
              <a:extLst>
                <a:ext uri="{FF2B5EF4-FFF2-40B4-BE49-F238E27FC236}">
                  <a16:creationId xmlns:a16="http://schemas.microsoft.com/office/drawing/2014/main" id="{B367F584-6AAE-B9AB-535B-0E8F60217833}"/>
                </a:ext>
              </a:extLst>
            </p:cNvPr>
            <p:cNvSpPr txBox="1"/>
            <p:nvPr/>
          </p:nvSpPr>
          <p:spPr>
            <a:xfrm>
              <a:off x="7754981" y="4127973"/>
              <a:ext cx="5043997" cy="10149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200" dirty="0">
                  <a:latin typeface="Lora" pitchFamily="2" charset="0"/>
                </a:rPr>
                <a:t>Si une application A requiert une bibliothèque (par exemple lib-</a:t>
              </a:r>
              <a:r>
                <a:rPr lang="fr-FR" sz="1200" dirty="0" err="1">
                  <a:latin typeface="Lora" pitchFamily="2" charset="0"/>
                </a:rPr>
                <a:t>ssl</a:t>
              </a:r>
              <a:r>
                <a:rPr lang="fr-FR" sz="1200" dirty="0">
                  <a:latin typeface="Lora" pitchFamily="2" charset="0"/>
                </a:rPr>
                <a:t> v1.1 ou une extension PHP spécifique) et qu'une application B exécutée sur le même hôte nécessite la v3.0, l'administrateur système fait face à une impasse technique à cause d’un éventuel conflit de version. </a:t>
              </a:r>
              <a:r>
                <a:rPr lang="en-GB" sz="1200" dirty="0">
                  <a:latin typeface="Lora" pitchFamily="2" charset="0"/>
                </a:rPr>
                <a:t>. </a:t>
              </a:r>
              <a:endParaRPr lang="en-GB" sz="1200" dirty="0">
                <a:latin typeface="Lora" pitchFamily="2" charset="0"/>
                <a:sym typeface="Fira Sans Extra Condensed Medium"/>
              </a:endParaRPr>
            </a:p>
          </p:txBody>
        </p:sp>
      </p:grpSp>
      <p:sp>
        <p:nvSpPr>
          <p:cNvPr id="91" name="TextBox 399">
            <a:extLst>
              <a:ext uri="{FF2B5EF4-FFF2-40B4-BE49-F238E27FC236}">
                <a16:creationId xmlns:a16="http://schemas.microsoft.com/office/drawing/2014/main" id="{FDD451E3-B698-385A-E33C-D7E609504975}"/>
              </a:ext>
            </a:extLst>
          </p:cNvPr>
          <p:cNvSpPr txBox="1"/>
          <p:nvPr/>
        </p:nvSpPr>
        <p:spPr>
          <a:xfrm>
            <a:off x="1238066" y="1196035"/>
            <a:ext cx="3723512"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Problématique</a:t>
            </a:r>
            <a:endParaRPr lang="fr-FR" sz="3600" b="1" dirty="0">
              <a:latin typeface="Lora" pitchFamily="2" charset="0"/>
            </a:endParaRPr>
          </a:p>
        </p:txBody>
      </p:sp>
    </p:spTree>
    <p:extLst>
      <p:ext uri="{BB962C8B-B14F-4D97-AF65-F5344CB8AC3E}">
        <p14:creationId xmlns:p14="http://schemas.microsoft.com/office/powerpoint/2010/main" val="17874066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404">
            <a:extLst>
              <a:ext uri="{FF2B5EF4-FFF2-40B4-BE49-F238E27FC236}">
                <a16:creationId xmlns:a16="http://schemas.microsoft.com/office/drawing/2014/main" id="{0A2E98CF-15D0-315D-B899-7EAF076858ED}"/>
              </a:ext>
            </a:extLst>
          </p:cNvPr>
          <p:cNvSpPr txBox="1"/>
          <p:nvPr/>
        </p:nvSpPr>
        <p:spPr>
          <a:xfrm>
            <a:off x="4961578" y="1713036"/>
            <a:ext cx="2054255" cy="116955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en-GB" sz="1400" dirty="0">
                <a:solidFill>
                  <a:schemeClr val="bg1"/>
                </a:solidFill>
                <a:latin typeface="Lora" pitchFamily="2" charset="0"/>
              </a:rPr>
              <a:t>Maecenas non laoreet odio. Fusce lobortis porttitor purus, vel vestibulum libero pharetra vel. </a:t>
            </a:r>
            <a:endParaRPr lang="en-GB" sz="1400" b="1" dirty="0">
              <a:solidFill>
                <a:schemeClr val="bg1"/>
              </a:solidFill>
              <a:latin typeface="Lora" pitchFamily="2" charset="0"/>
              <a:ea typeface="Fira Sans Extra Condensed Medium"/>
              <a:cs typeface="Fira Sans Extra Condensed Medium"/>
              <a:sym typeface="Fira Sans Extra Condensed Medium"/>
            </a:endParaRPr>
          </a:p>
        </p:txBody>
      </p:sp>
      <p:sp>
        <p:nvSpPr>
          <p:cNvPr id="11" name="TextBox 405">
            <a:extLst>
              <a:ext uri="{FF2B5EF4-FFF2-40B4-BE49-F238E27FC236}">
                <a16:creationId xmlns:a16="http://schemas.microsoft.com/office/drawing/2014/main" id="{08CF861C-7925-B7DB-ABB3-4BEF7CE7E9F2}"/>
              </a:ext>
            </a:extLst>
          </p:cNvPr>
          <p:cNvSpPr txBox="1"/>
          <p:nvPr/>
        </p:nvSpPr>
        <p:spPr>
          <a:xfrm>
            <a:off x="5889267" y="3138647"/>
            <a:ext cx="1992627"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en-GB" sz="1100" dirty="0">
                <a:solidFill>
                  <a:schemeClr val="bg1"/>
                </a:solidFill>
                <a:latin typeface="Lora" pitchFamily="2" charset="0"/>
              </a:rPr>
              <a:t>Maecenas non laoreet odio. Fusce lobortis porttitor purus, vel vestibulum libero pharetra vel. </a:t>
            </a:r>
            <a:endParaRPr lang="en-GB" sz="1100" b="1" dirty="0">
              <a:solidFill>
                <a:schemeClr val="bg1"/>
              </a:solidFill>
              <a:latin typeface="Lora" pitchFamily="2" charset="0"/>
              <a:ea typeface="Fira Sans Extra Condensed Medium"/>
              <a:cs typeface="Fira Sans Extra Condensed Medium"/>
              <a:sym typeface="Fira Sans Extra Condensed Medium"/>
            </a:endParaRPr>
          </a:p>
        </p:txBody>
      </p:sp>
      <p:grpSp>
        <p:nvGrpSpPr>
          <p:cNvPr id="44" name="Group 300">
            <a:extLst>
              <a:ext uri="{FF2B5EF4-FFF2-40B4-BE49-F238E27FC236}">
                <a16:creationId xmlns:a16="http://schemas.microsoft.com/office/drawing/2014/main" id="{E3B909FC-26C9-8CC9-FA4A-42D5BA3018AC}"/>
              </a:ext>
            </a:extLst>
          </p:cNvPr>
          <p:cNvGrpSpPr/>
          <p:nvPr/>
        </p:nvGrpSpPr>
        <p:grpSpPr>
          <a:xfrm>
            <a:off x="2323721" y="2017835"/>
            <a:ext cx="8811004" cy="3747925"/>
            <a:chOff x="3288277" y="1184287"/>
            <a:chExt cx="9510701" cy="4100477"/>
          </a:xfrm>
        </p:grpSpPr>
        <p:sp>
          <p:nvSpPr>
            <p:cNvPr id="54" name="Freeform: Shape 170">
              <a:extLst>
                <a:ext uri="{FF2B5EF4-FFF2-40B4-BE49-F238E27FC236}">
                  <a16:creationId xmlns:a16="http://schemas.microsoft.com/office/drawing/2014/main" id="{F70D5EAE-11FB-FA5C-8AFE-1ED3DF3D643B}"/>
                </a:ext>
              </a:extLst>
            </p:cNvPr>
            <p:cNvSpPr/>
            <p:nvPr/>
          </p:nvSpPr>
          <p:spPr>
            <a:xfrm>
              <a:off x="6671544" y="4049586"/>
              <a:ext cx="1021028" cy="556674"/>
            </a:xfrm>
            <a:custGeom>
              <a:avLst/>
              <a:gdLst>
                <a:gd name="connsiteX0" fmla="*/ 598010 w 1071354"/>
                <a:gd name="connsiteY0" fmla="*/ -35 h 584112"/>
                <a:gd name="connsiteX1" fmla="*/ 1047806 w 1071354"/>
                <a:gd name="connsiteY1" fmla="*/ 448515 h 584112"/>
                <a:gd name="connsiteX2" fmla="*/ 1048379 w 1071354"/>
                <a:gd name="connsiteY2" fmla="*/ 560578 h 584112"/>
                <a:gd name="connsiteX3" fmla="*/ 991737 w 1071354"/>
                <a:gd name="connsiteY3" fmla="*/ 584077 h 584112"/>
                <a:gd name="connsiteX4" fmla="*/ -58 w 1071354"/>
                <a:gd name="connsiteY4" fmla="*/ 584077 h 58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354" h="584112">
                  <a:moveTo>
                    <a:pt x="598010" y="-35"/>
                  </a:moveTo>
                  <a:lnTo>
                    <a:pt x="1047806" y="448515"/>
                  </a:lnTo>
                  <a:cubicBezTo>
                    <a:pt x="1078906" y="479316"/>
                    <a:pt x="1079155" y="529478"/>
                    <a:pt x="1048379" y="560578"/>
                  </a:cubicBezTo>
                  <a:cubicBezTo>
                    <a:pt x="1033428" y="575704"/>
                    <a:pt x="1012994" y="584152"/>
                    <a:pt x="991737" y="584077"/>
                  </a:cubicBezTo>
                  <a:lnTo>
                    <a:pt x="-58" y="584077"/>
                  </a:lnTo>
                  <a:close/>
                </a:path>
              </a:pathLst>
            </a:custGeom>
            <a:solidFill>
              <a:schemeClr val="accent3">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5" name="Freeform: Shape 171">
              <a:extLst>
                <a:ext uri="{FF2B5EF4-FFF2-40B4-BE49-F238E27FC236}">
                  <a16:creationId xmlns:a16="http://schemas.microsoft.com/office/drawing/2014/main" id="{4BEAE1C6-61EF-9289-D60E-0FF166F77100}"/>
                </a:ext>
              </a:extLst>
            </p:cNvPr>
            <p:cNvSpPr/>
            <p:nvPr/>
          </p:nvSpPr>
          <p:spPr>
            <a:xfrm>
              <a:off x="4562642" y="4049586"/>
              <a:ext cx="2678875" cy="932620"/>
            </a:xfrm>
            <a:custGeom>
              <a:avLst/>
              <a:gdLst>
                <a:gd name="connsiteX0" fmla="*/ 2810859 w 2810916"/>
                <a:gd name="connsiteY0" fmla="*/ -35 h 978589"/>
                <a:gd name="connsiteX1" fmla="*/ -58 w 2810916"/>
                <a:gd name="connsiteY1" fmla="*/ -35 h 978589"/>
                <a:gd name="connsiteX2" fmla="*/ -58 w 2810916"/>
                <a:gd name="connsiteY2" fmla="*/ 978552 h 978589"/>
                <a:gd name="connsiteX3" fmla="*/ 2076731 w 2810916"/>
                <a:gd name="connsiteY3" fmla="*/ 978552 h 978589"/>
                <a:gd name="connsiteX4" fmla="*/ 2362308 w 2810916"/>
                <a:gd name="connsiteY4" fmla="*/ 811342 h 978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0916" h="978589">
                  <a:moveTo>
                    <a:pt x="2810859" y="-35"/>
                  </a:moveTo>
                  <a:lnTo>
                    <a:pt x="-58" y="-35"/>
                  </a:lnTo>
                  <a:lnTo>
                    <a:pt x="-58" y="978552"/>
                  </a:lnTo>
                  <a:lnTo>
                    <a:pt x="2076731" y="978552"/>
                  </a:lnTo>
                  <a:cubicBezTo>
                    <a:pt x="2195298" y="979050"/>
                    <a:pt x="2304719" y="914957"/>
                    <a:pt x="2362308" y="811342"/>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6" name="Freeform: Shape 173">
              <a:extLst>
                <a:ext uri="{FF2B5EF4-FFF2-40B4-BE49-F238E27FC236}">
                  <a16:creationId xmlns:a16="http://schemas.microsoft.com/office/drawing/2014/main" id="{9531D3EA-AECF-CC30-AA46-C431BA448108}"/>
                </a:ext>
              </a:extLst>
            </p:cNvPr>
            <p:cNvSpPr/>
            <p:nvPr/>
          </p:nvSpPr>
          <p:spPr>
            <a:xfrm>
              <a:off x="3793654" y="3746788"/>
              <a:ext cx="1537978" cy="1537976"/>
            </a:xfrm>
            <a:custGeom>
              <a:avLst/>
              <a:gdLst>
                <a:gd name="connsiteX0" fmla="*/ 1613785 w 1613784"/>
                <a:gd name="connsiteY0" fmla="*/ 806892 h 1613783"/>
                <a:gd name="connsiteX1" fmla="*/ 806892 w 1613784"/>
                <a:gd name="connsiteY1" fmla="*/ 1613783 h 1613783"/>
                <a:gd name="connsiteX2" fmla="*/ 0 w 1613784"/>
                <a:gd name="connsiteY2" fmla="*/ 806892 h 1613783"/>
                <a:gd name="connsiteX3" fmla="*/ 806892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5"/>
                    <a:pt x="1252527" y="1613783"/>
                    <a:pt x="806892" y="1613783"/>
                  </a:cubicBezTo>
                  <a:cubicBezTo>
                    <a:pt x="361258" y="1613783"/>
                    <a:pt x="0" y="1252525"/>
                    <a:pt x="0" y="806892"/>
                  </a:cubicBezTo>
                  <a:cubicBezTo>
                    <a:pt x="0" y="361258"/>
                    <a:pt x="361258" y="0"/>
                    <a:pt x="806892"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7" name="Freeform: Shape 174">
              <a:extLst>
                <a:ext uri="{FF2B5EF4-FFF2-40B4-BE49-F238E27FC236}">
                  <a16:creationId xmlns:a16="http://schemas.microsoft.com/office/drawing/2014/main" id="{61384BC2-922D-A083-EBB9-1AE2DDFE7437}"/>
                </a:ext>
              </a:extLst>
            </p:cNvPr>
            <p:cNvSpPr/>
            <p:nvPr/>
          </p:nvSpPr>
          <p:spPr>
            <a:xfrm rot="18900000">
              <a:off x="3955212" y="3908571"/>
              <a:ext cx="1214993" cy="1214992"/>
            </a:xfrm>
            <a:custGeom>
              <a:avLst/>
              <a:gdLst>
                <a:gd name="connsiteX0" fmla="*/ 1274823 w 1274880"/>
                <a:gd name="connsiteY0" fmla="*/ 637405 h 1274879"/>
                <a:gd name="connsiteX1" fmla="*/ 637383 w 1274880"/>
                <a:gd name="connsiteY1" fmla="*/ 1274845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5"/>
                    <a:pt x="637383" y="1274845"/>
                  </a:cubicBezTo>
                  <a:cubicBezTo>
                    <a:pt x="285334" y="1274845"/>
                    <a:pt x="-58" y="989453"/>
                    <a:pt x="-58" y="637405"/>
                  </a:cubicBezTo>
                  <a:cubicBezTo>
                    <a:pt x="-58" y="285357"/>
                    <a:pt x="285334" y="-35"/>
                    <a:pt x="637383" y="-35"/>
                  </a:cubicBezTo>
                  <a:cubicBezTo>
                    <a:pt x="989431" y="-35"/>
                    <a:pt x="1274823" y="285357"/>
                    <a:pt x="1274823" y="637405"/>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8" name="Freeform: Shape 176">
              <a:extLst>
                <a:ext uri="{FF2B5EF4-FFF2-40B4-BE49-F238E27FC236}">
                  <a16:creationId xmlns:a16="http://schemas.microsoft.com/office/drawing/2014/main" id="{7F39372D-5504-C7A9-768F-7EA0C7036E77}"/>
                </a:ext>
              </a:extLst>
            </p:cNvPr>
            <p:cNvSpPr/>
            <p:nvPr/>
          </p:nvSpPr>
          <p:spPr>
            <a:xfrm>
              <a:off x="4096452" y="4049586"/>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59" name="Freeform: Shape 177">
              <a:extLst>
                <a:ext uri="{FF2B5EF4-FFF2-40B4-BE49-F238E27FC236}">
                  <a16:creationId xmlns:a16="http://schemas.microsoft.com/office/drawing/2014/main" id="{9D1FF0EC-111B-2808-4168-B6AFE6B72C88}"/>
                </a:ext>
              </a:extLst>
            </p:cNvPr>
            <p:cNvSpPr/>
            <p:nvPr/>
          </p:nvSpPr>
          <p:spPr>
            <a:xfrm>
              <a:off x="4096452" y="4049586"/>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0" name="Freeform: Shape 178">
              <a:extLst>
                <a:ext uri="{FF2B5EF4-FFF2-40B4-BE49-F238E27FC236}">
                  <a16:creationId xmlns:a16="http://schemas.microsoft.com/office/drawing/2014/main" id="{60EF6E7B-5285-E63B-120B-F436B237B171}"/>
                </a:ext>
              </a:extLst>
            </p:cNvPr>
            <p:cNvSpPr/>
            <p:nvPr/>
          </p:nvSpPr>
          <p:spPr>
            <a:xfrm>
              <a:off x="4196435" y="4129217"/>
              <a:ext cx="732415" cy="300825"/>
            </a:xfrm>
            <a:custGeom>
              <a:avLst/>
              <a:gdLst>
                <a:gd name="connsiteX0" fmla="*/ 768459 w 768516"/>
                <a:gd name="connsiteY0" fmla="*/ 315619 h 315653"/>
                <a:gd name="connsiteX1" fmla="*/ 308047 w 768516"/>
                <a:gd name="connsiteY1" fmla="*/ 7515 h 315653"/>
                <a:gd name="connsiteX2" fmla="*/ -58 w 768516"/>
                <a:gd name="connsiteY2" fmla="*/ 315619 h 315653"/>
              </a:gdLst>
              <a:ahLst/>
              <a:cxnLst>
                <a:cxn ang="0">
                  <a:pos x="connsiteX0" y="connsiteY0"/>
                </a:cxn>
                <a:cxn ang="0">
                  <a:pos x="connsiteX1" y="connsiteY1"/>
                </a:cxn>
                <a:cxn ang="0">
                  <a:pos x="connsiteX2" y="connsiteY2"/>
                </a:cxn>
              </a:cxnLst>
              <a:rect l="l" t="t" r="r" b="b"/>
              <a:pathLst>
                <a:path w="768516" h="315653">
                  <a:moveTo>
                    <a:pt x="768459" y="315619"/>
                  </a:moveTo>
                  <a:cubicBezTo>
                    <a:pt x="726395" y="103405"/>
                    <a:pt x="520261" y="-34549"/>
                    <a:pt x="308047" y="7515"/>
                  </a:cubicBezTo>
                  <a:cubicBezTo>
                    <a:pt x="152425" y="38365"/>
                    <a:pt x="30785" y="160022"/>
                    <a:pt x="-58" y="315619"/>
                  </a:cubicBezTo>
                  <a:close/>
                </a:path>
              </a:pathLst>
            </a:custGeom>
            <a:solidFill>
              <a:schemeClr val="accent3"/>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1" name="TextBox 179">
              <a:extLst>
                <a:ext uri="{FF2B5EF4-FFF2-40B4-BE49-F238E27FC236}">
                  <a16:creationId xmlns:a16="http://schemas.microsoft.com/office/drawing/2014/main" id="{CAC50E3A-8FC5-A5BE-E651-07C12995D99F}"/>
                </a:ext>
              </a:extLst>
            </p:cNvPr>
            <p:cNvSpPr txBox="1"/>
            <p:nvPr/>
          </p:nvSpPr>
          <p:spPr>
            <a:xfrm>
              <a:off x="4268407" y="4431357"/>
              <a:ext cx="659177" cy="70276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dirty="0" smtClean="0">
                  <a:ln/>
                  <a:latin typeface="Lora" pitchFamily="2" charset="0"/>
                  <a:cs typeface="Arial"/>
                  <a:sym typeface="Arial"/>
                  <a:rtl val="0"/>
                </a:rPr>
                <a:t>07</a:t>
              </a:r>
              <a:endParaRPr lang="en-US" sz="3139" b="1" i="1" spc="0" baseline="0" dirty="0">
                <a:ln/>
                <a:latin typeface="Lora" pitchFamily="2" charset="0"/>
                <a:cs typeface="Arial"/>
                <a:sym typeface="Arial"/>
                <a:rtl val="0"/>
              </a:endParaRPr>
            </a:p>
          </p:txBody>
        </p:sp>
        <p:sp>
          <p:nvSpPr>
            <p:cNvPr id="62" name="TextBox 180">
              <a:extLst>
                <a:ext uri="{FF2B5EF4-FFF2-40B4-BE49-F238E27FC236}">
                  <a16:creationId xmlns:a16="http://schemas.microsoft.com/office/drawing/2014/main" id="{A45AE0A6-1F6E-B0C9-C839-7A9F6B2C532B}"/>
                </a:ext>
              </a:extLst>
            </p:cNvPr>
            <p:cNvSpPr txBox="1"/>
            <p:nvPr/>
          </p:nvSpPr>
          <p:spPr>
            <a:xfrm>
              <a:off x="4328255" y="4143946"/>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smtClean="0">
                  <a:ln/>
                  <a:solidFill>
                    <a:schemeClr val="bg1"/>
                  </a:solidFill>
                  <a:latin typeface="Lora" pitchFamily="2" charset="0"/>
                  <a:cs typeface="Arial"/>
                  <a:sym typeface="Arial"/>
                  <a:rtl val="0"/>
                </a:rPr>
                <a:t>Pb</a:t>
              </a:r>
              <a:endParaRPr lang="en-US" sz="1177" b="1" i="1" spc="0" baseline="0" dirty="0">
                <a:ln/>
                <a:solidFill>
                  <a:schemeClr val="bg1"/>
                </a:solidFill>
                <a:latin typeface="Lora" pitchFamily="2" charset="0"/>
                <a:cs typeface="Arial"/>
                <a:sym typeface="Arial"/>
                <a:rtl val="0"/>
              </a:endParaRPr>
            </a:p>
          </p:txBody>
        </p:sp>
        <p:sp>
          <p:nvSpPr>
            <p:cNvPr id="63" name="Freeform: Shape 207">
              <a:extLst>
                <a:ext uri="{FF2B5EF4-FFF2-40B4-BE49-F238E27FC236}">
                  <a16:creationId xmlns:a16="http://schemas.microsoft.com/office/drawing/2014/main" id="{53AD1A34-8EEE-E6B9-B095-82FF0EAF7328}"/>
                </a:ext>
              </a:extLst>
            </p:cNvPr>
            <p:cNvSpPr/>
            <p:nvPr/>
          </p:nvSpPr>
          <p:spPr>
            <a:xfrm rot="18900000">
              <a:off x="3449968" y="2627697"/>
              <a:ext cx="1214993" cy="1214992"/>
            </a:xfrm>
            <a:custGeom>
              <a:avLst/>
              <a:gdLst>
                <a:gd name="connsiteX0" fmla="*/ 1274823 w 1274880"/>
                <a:gd name="connsiteY0" fmla="*/ 637405 h 1274879"/>
                <a:gd name="connsiteX1" fmla="*/ 637383 w 1274880"/>
                <a:gd name="connsiteY1" fmla="*/ 1274844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4"/>
                    <a:pt x="637383" y="1274844"/>
                  </a:cubicBezTo>
                  <a:cubicBezTo>
                    <a:pt x="285334" y="1274844"/>
                    <a:pt x="-58" y="989453"/>
                    <a:pt x="-58" y="637405"/>
                  </a:cubicBezTo>
                  <a:cubicBezTo>
                    <a:pt x="-58" y="285357"/>
                    <a:pt x="285334" y="-35"/>
                    <a:pt x="637383" y="-35"/>
                  </a:cubicBezTo>
                  <a:cubicBezTo>
                    <a:pt x="989431" y="-35"/>
                    <a:pt x="1274823" y="285356"/>
                    <a:pt x="1274823" y="637405"/>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64" name="Freeform: Shape 240">
              <a:extLst>
                <a:ext uri="{FF2B5EF4-FFF2-40B4-BE49-F238E27FC236}">
                  <a16:creationId xmlns:a16="http://schemas.microsoft.com/office/drawing/2014/main" id="{6E10AA0A-7D69-63B8-1ED4-18A40FFFD567}"/>
                </a:ext>
              </a:extLst>
            </p:cNvPr>
            <p:cNvSpPr/>
            <p:nvPr/>
          </p:nvSpPr>
          <p:spPr>
            <a:xfrm rot="18900000">
              <a:off x="3955119" y="1345738"/>
              <a:ext cx="1214993" cy="1214992"/>
            </a:xfrm>
            <a:custGeom>
              <a:avLst/>
              <a:gdLst>
                <a:gd name="connsiteX0" fmla="*/ 1274823 w 1274880"/>
                <a:gd name="connsiteY0" fmla="*/ 637405 h 1274879"/>
                <a:gd name="connsiteX1" fmla="*/ 637383 w 1274880"/>
                <a:gd name="connsiteY1" fmla="*/ 1274844 h 1274879"/>
                <a:gd name="connsiteX2" fmla="*/ -58 w 1274880"/>
                <a:gd name="connsiteY2" fmla="*/ 637405 h 1274879"/>
                <a:gd name="connsiteX3" fmla="*/ 637383 w 1274880"/>
                <a:gd name="connsiteY3" fmla="*/ -35 h 1274879"/>
                <a:gd name="connsiteX4" fmla="*/ 1274823 w 1274880"/>
                <a:gd name="connsiteY4" fmla="*/ 637405 h 1274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880" h="1274879">
                  <a:moveTo>
                    <a:pt x="1274823" y="637405"/>
                  </a:moveTo>
                  <a:cubicBezTo>
                    <a:pt x="1274823" y="989453"/>
                    <a:pt x="989431" y="1274844"/>
                    <a:pt x="637383" y="1274844"/>
                  </a:cubicBezTo>
                  <a:cubicBezTo>
                    <a:pt x="285334" y="1274844"/>
                    <a:pt x="-58" y="989453"/>
                    <a:pt x="-58" y="637405"/>
                  </a:cubicBezTo>
                  <a:cubicBezTo>
                    <a:pt x="-58" y="285357"/>
                    <a:pt x="285334" y="-35"/>
                    <a:pt x="637383" y="-35"/>
                  </a:cubicBezTo>
                  <a:cubicBezTo>
                    <a:pt x="989431" y="-35"/>
                    <a:pt x="1274823" y="285357"/>
                    <a:pt x="1274823" y="637405"/>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grpSp>
          <p:nvGrpSpPr>
            <p:cNvPr id="65" name="Group 284">
              <a:extLst>
                <a:ext uri="{FF2B5EF4-FFF2-40B4-BE49-F238E27FC236}">
                  <a16:creationId xmlns:a16="http://schemas.microsoft.com/office/drawing/2014/main" id="{E0CAC03E-5D09-7716-518F-F8A7B364D22B}"/>
                </a:ext>
              </a:extLst>
            </p:cNvPr>
            <p:cNvGrpSpPr/>
            <p:nvPr/>
          </p:nvGrpSpPr>
          <p:grpSpPr>
            <a:xfrm>
              <a:off x="3793654" y="1184287"/>
              <a:ext cx="3898918" cy="1537976"/>
              <a:chOff x="3793654" y="1184287"/>
              <a:chExt cx="3898918" cy="1537976"/>
            </a:xfrm>
          </p:grpSpPr>
          <p:sp>
            <p:nvSpPr>
              <p:cNvPr id="82" name="Freeform: Shape 236">
                <a:extLst>
                  <a:ext uri="{FF2B5EF4-FFF2-40B4-BE49-F238E27FC236}">
                    <a16:creationId xmlns:a16="http://schemas.microsoft.com/office/drawing/2014/main" id="{6CA5C497-5BE2-134A-1B15-54D50E6A99EC}"/>
                  </a:ext>
                </a:extLst>
              </p:cNvPr>
              <p:cNvSpPr/>
              <p:nvPr/>
            </p:nvSpPr>
            <p:spPr>
              <a:xfrm>
                <a:off x="6671544" y="1487084"/>
                <a:ext cx="1021028" cy="556674"/>
              </a:xfrm>
              <a:custGeom>
                <a:avLst/>
                <a:gdLst>
                  <a:gd name="connsiteX0" fmla="*/ 598010 w 1071354"/>
                  <a:gd name="connsiteY0" fmla="*/ -35 h 584112"/>
                  <a:gd name="connsiteX1" fmla="*/ 1047806 w 1071354"/>
                  <a:gd name="connsiteY1" fmla="*/ 448515 h 584112"/>
                  <a:gd name="connsiteX2" fmla="*/ 1048379 w 1071354"/>
                  <a:gd name="connsiteY2" fmla="*/ 560581 h 584112"/>
                  <a:gd name="connsiteX3" fmla="*/ 991737 w 1071354"/>
                  <a:gd name="connsiteY3" fmla="*/ 584077 h 584112"/>
                  <a:gd name="connsiteX4" fmla="*/ -58 w 1071354"/>
                  <a:gd name="connsiteY4" fmla="*/ 584077 h 58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354" h="584112">
                    <a:moveTo>
                      <a:pt x="598010" y="-35"/>
                    </a:moveTo>
                    <a:lnTo>
                      <a:pt x="1047806" y="448515"/>
                    </a:lnTo>
                    <a:cubicBezTo>
                      <a:pt x="1078906" y="479303"/>
                      <a:pt x="1079155" y="529479"/>
                      <a:pt x="1048379" y="560581"/>
                    </a:cubicBezTo>
                    <a:cubicBezTo>
                      <a:pt x="1033428" y="575697"/>
                      <a:pt x="1012994" y="584164"/>
                      <a:pt x="991737" y="584077"/>
                    </a:cubicBezTo>
                    <a:lnTo>
                      <a:pt x="-58" y="584077"/>
                    </a:lnTo>
                    <a:close/>
                  </a:path>
                </a:pathLst>
              </a:custGeom>
              <a:solidFill>
                <a:schemeClr val="accent2">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3" name="Freeform: Shape 237">
                <a:extLst>
                  <a:ext uri="{FF2B5EF4-FFF2-40B4-BE49-F238E27FC236}">
                    <a16:creationId xmlns:a16="http://schemas.microsoft.com/office/drawing/2014/main" id="{37322D0A-68A2-6DFE-5803-602B1699BDC5}"/>
                  </a:ext>
                </a:extLst>
              </p:cNvPr>
              <p:cNvSpPr/>
              <p:nvPr/>
            </p:nvSpPr>
            <p:spPr>
              <a:xfrm>
                <a:off x="4562642" y="1487084"/>
                <a:ext cx="2678875" cy="932384"/>
              </a:xfrm>
              <a:custGeom>
                <a:avLst/>
                <a:gdLst>
                  <a:gd name="connsiteX0" fmla="*/ 2810859 w 2810916"/>
                  <a:gd name="connsiteY0" fmla="*/ -35 h 978341"/>
                  <a:gd name="connsiteX1" fmla="*/ -58 w 2810916"/>
                  <a:gd name="connsiteY1" fmla="*/ -35 h 978341"/>
                  <a:gd name="connsiteX2" fmla="*/ -58 w 2810916"/>
                  <a:gd name="connsiteY2" fmla="*/ 978303 h 978341"/>
                  <a:gd name="connsiteX3" fmla="*/ 2076731 w 2810916"/>
                  <a:gd name="connsiteY3" fmla="*/ 978303 h 978341"/>
                  <a:gd name="connsiteX4" fmla="*/ 2362308 w 2810916"/>
                  <a:gd name="connsiteY4" fmla="*/ 811592 h 978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0916" h="978341">
                    <a:moveTo>
                      <a:pt x="2810859" y="-35"/>
                    </a:moveTo>
                    <a:lnTo>
                      <a:pt x="-58" y="-35"/>
                    </a:lnTo>
                    <a:lnTo>
                      <a:pt x="-58" y="978303"/>
                    </a:lnTo>
                    <a:lnTo>
                      <a:pt x="2076731" y="978303"/>
                    </a:lnTo>
                    <a:cubicBezTo>
                      <a:pt x="2195174" y="978888"/>
                      <a:pt x="2304570" y="915025"/>
                      <a:pt x="2362308" y="811592"/>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4" name="Freeform: Shape 239">
                <a:extLst>
                  <a:ext uri="{FF2B5EF4-FFF2-40B4-BE49-F238E27FC236}">
                    <a16:creationId xmlns:a16="http://schemas.microsoft.com/office/drawing/2014/main" id="{9972018C-EB78-9B44-A6E6-5A8F9E12E5D8}"/>
                  </a:ext>
                </a:extLst>
              </p:cNvPr>
              <p:cNvSpPr/>
              <p:nvPr/>
            </p:nvSpPr>
            <p:spPr>
              <a:xfrm>
                <a:off x="3793654" y="1184287"/>
                <a:ext cx="1537978" cy="1537976"/>
              </a:xfrm>
              <a:custGeom>
                <a:avLst/>
                <a:gdLst>
                  <a:gd name="connsiteX0" fmla="*/ 1613785 w 1613784"/>
                  <a:gd name="connsiteY0" fmla="*/ 806892 h 1613783"/>
                  <a:gd name="connsiteX1" fmla="*/ 806892 w 1613784"/>
                  <a:gd name="connsiteY1" fmla="*/ 1613783 h 1613783"/>
                  <a:gd name="connsiteX2" fmla="*/ 0 w 1613784"/>
                  <a:gd name="connsiteY2" fmla="*/ 806892 h 1613783"/>
                  <a:gd name="connsiteX3" fmla="*/ 806892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6"/>
                      <a:pt x="1252527" y="1613783"/>
                      <a:pt x="806892" y="1613783"/>
                    </a:cubicBezTo>
                    <a:cubicBezTo>
                      <a:pt x="361258" y="1613783"/>
                      <a:pt x="0" y="1252526"/>
                      <a:pt x="0" y="806892"/>
                    </a:cubicBezTo>
                    <a:cubicBezTo>
                      <a:pt x="0" y="361258"/>
                      <a:pt x="361258" y="0"/>
                      <a:pt x="806892"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5" name="Freeform: Shape 242">
                <a:extLst>
                  <a:ext uri="{FF2B5EF4-FFF2-40B4-BE49-F238E27FC236}">
                    <a16:creationId xmlns:a16="http://schemas.microsoft.com/office/drawing/2014/main" id="{83EDC5EF-CAED-A445-D6E8-41B8C7D93155}"/>
                  </a:ext>
                </a:extLst>
              </p:cNvPr>
              <p:cNvSpPr/>
              <p:nvPr/>
            </p:nvSpPr>
            <p:spPr>
              <a:xfrm>
                <a:off x="4096452" y="1487084"/>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6" name="Freeform: Shape 243">
                <a:extLst>
                  <a:ext uri="{FF2B5EF4-FFF2-40B4-BE49-F238E27FC236}">
                    <a16:creationId xmlns:a16="http://schemas.microsoft.com/office/drawing/2014/main" id="{3A4F3066-07A9-76DF-F593-701D06C2F170}"/>
                  </a:ext>
                </a:extLst>
              </p:cNvPr>
              <p:cNvSpPr/>
              <p:nvPr/>
            </p:nvSpPr>
            <p:spPr>
              <a:xfrm>
                <a:off x="4096452" y="1487084"/>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7" name="Freeform: Shape 244">
                <a:extLst>
                  <a:ext uri="{FF2B5EF4-FFF2-40B4-BE49-F238E27FC236}">
                    <a16:creationId xmlns:a16="http://schemas.microsoft.com/office/drawing/2014/main" id="{8A59E625-04EA-6F06-318C-0BCF5520C449}"/>
                  </a:ext>
                </a:extLst>
              </p:cNvPr>
              <p:cNvSpPr/>
              <p:nvPr/>
            </p:nvSpPr>
            <p:spPr>
              <a:xfrm>
                <a:off x="4196435" y="1566726"/>
                <a:ext cx="732415" cy="300815"/>
              </a:xfrm>
              <a:custGeom>
                <a:avLst/>
                <a:gdLst>
                  <a:gd name="connsiteX0" fmla="*/ 768459 w 768516"/>
                  <a:gd name="connsiteY0" fmla="*/ 315608 h 315642"/>
                  <a:gd name="connsiteX1" fmla="*/ 308047 w 768516"/>
                  <a:gd name="connsiteY1" fmla="*/ 7516 h 315642"/>
                  <a:gd name="connsiteX2" fmla="*/ -58 w 768516"/>
                  <a:gd name="connsiteY2" fmla="*/ 315608 h 315642"/>
                </a:gdLst>
                <a:ahLst/>
                <a:cxnLst>
                  <a:cxn ang="0">
                    <a:pos x="connsiteX0" y="connsiteY0"/>
                  </a:cxn>
                  <a:cxn ang="0">
                    <a:pos x="connsiteX1" y="connsiteY1"/>
                  </a:cxn>
                  <a:cxn ang="0">
                    <a:pos x="connsiteX2" y="connsiteY2"/>
                  </a:cxn>
                </a:cxnLst>
                <a:rect l="l" t="t" r="r" b="b"/>
                <a:pathLst>
                  <a:path w="768516" h="315642">
                    <a:moveTo>
                      <a:pt x="768459" y="315608"/>
                    </a:moveTo>
                    <a:cubicBezTo>
                      <a:pt x="726395" y="103389"/>
                      <a:pt x="520261" y="-34550"/>
                      <a:pt x="308047" y="7516"/>
                    </a:cubicBezTo>
                    <a:cubicBezTo>
                      <a:pt x="152425" y="38359"/>
                      <a:pt x="30785" y="160003"/>
                      <a:pt x="-58" y="315608"/>
                    </a:cubicBezTo>
                    <a:close/>
                  </a:path>
                </a:pathLst>
              </a:custGeom>
              <a:solidFill>
                <a:schemeClr val="accent2"/>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88" name="TextBox 245">
                <a:extLst>
                  <a:ext uri="{FF2B5EF4-FFF2-40B4-BE49-F238E27FC236}">
                    <a16:creationId xmlns:a16="http://schemas.microsoft.com/office/drawing/2014/main" id="{A745307B-DE0A-472D-A0ED-23912CFDE99B}"/>
                  </a:ext>
                </a:extLst>
              </p:cNvPr>
              <p:cNvSpPr txBox="1"/>
              <p:nvPr/>
            </p:nvSpPr>
            <p:spPr>
              <a:xfrm>
                <a:off x="4268407" y="1868854"/>
                <a:ext cx="659177" cy="70276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dirty="0" smtClean="0">
                    <a:ln/>
                    <a:latin typeface="Lora" pitchFamily="2" charset="0"/>
                    <a:cs typeface="Arial"/>
                    <a:sym typeface="Arial"/>
                    <a:rtl val="0"/>
                  </a:rPr>
                  <a:t>05</a:t>
                </a:r>
                <a:endParaRPr lang="en-US" sz="3139" b="1" i="1" spc="0" baseline="0" dirty="0">
                  <a:ln/>
                  <a:latin typeface="Lora" pitchFamily="2" charset="0"/>
                  <a:cs typeface="Arial"/>
                  <a:sym typeface="Arial"/>
                  <a:rtl val="0"/>
                </a:endParaRPr>
              </a:p>
            </p:txBody>
          </p:sp>
          <p:sp>
            <p:nvSpPr>
              <p:cNvPr id="89" name="TextBox 246">
                <a:extLst>
                  <a:ext uri="{FF2B5EF4-FFF2-40B4-BE49-F238E27FC236}">
                    <a16:creationId xmlns:a16="http://schemas.microsoft.com/office/drawing/2014/main" id="{D5CB80FA-2A52-A4AD-A668-040D49791A2B}"/>
                  </a:ext>
                </a:extLst>
              </p:cNvPr>
              <p:cNvSpPr txBox="1"/>
              <p:nvPr/>
            </p:nvSpPr>
            <p:spPr>
              <a:xfrm>
                <a:off x="4328255" y="1581443"/>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a:ln/>
                    <a:solidFill>
                      <a:schemeClr val="bg1"/>
                    </a:solidFill>
                    <a:latin typeface="Lora" pitchFamily="2" charset="0"/>
                    <a:cs typeface="Arial"/>
                    <a:sym typeface="Arial"/>
                    <a:rtl val="0"/>
                  </a:rPr>
                  <a:t>P</a:t>
                </a:r>
                <a:r>
                  <a:rPr lang="en-US" sz="1177" b="1" i="1" dirty="0" err="1" smtClean="0">
                    <a:ln/>
                    <a:solidFill>
                      <a:schemeClr val="bg1"/>
                    </a:solidFill>
                    <a:latin typeface="Lora" pitchFamily="2" charset="0"/>
                    <a:cs typeface="Arial"/>
                    <a:sym typeface="Arial"/>
                    <a:rtl val="0"/>
                  </a:rPr>
                  <a:t>b</a:t>
                </a:r>
                <a:endParaRPr lang="en-US" sz="1177" b="1" i="1" spc="0" baseline="0" dirty="0">
                  <a:ln/>
                  <a:solidFill>
                    <a:schemeClr val="bg1"/>
                  </a:solidFill>
                  <a:latin typeface="Lora" pitchFamily="2" charset="0"/>
                  <a:cs typeface="Arial"/>
                  <a:sym typeface="Arial"/>
                  <a:rtl val="0"/>
                </a:endParaRPr>
              </a:p>
            </p:txBody>
          </p:sp>
          <p:sp>
            <p:nvSpPr>
              <p:cNvPr id="90" name="TextBox 275">
                <a:extLst>
                  <a:ext uri="{FF2B5EF4-FFF2-40B4-BE49-F238E27FC236}">
                    <a16:creationId xmlns:a16="http://schemas.microsoft.com/office/drawing/2014/main" id="{E29CADE7-43F8-394B-66B7-05A72C0C7BC3}"/>
                  </a:ext>
                </a:extLst>
              </p:cNvPr>
              <p:cNvSpPr txBox="1"/>
              <p:nvPr/>
            </p:nvSpPr>
            <p:spPr>
              <a:xfrm>
                <a:off x="5350890" y="1575388"/>
                <a:ext cx="1573800" cy="5638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fr-FR" sz="1200" b="1" dirty="0">
                    <a:solidFill>
                      <a:schemeClr val="bg1"/>
                    </a:solidFill>
                  </a:rPr>
                  <a:t>O</a:t>
                </a:r>
                <a:r>
                  <a:rPr lang="fr-FR" sz="1200" b="1" dirty="0" smtClean="0">
                    <a:solidFill>
                      <a:schemeClr val="bg1"/>
                    </a:solidFill>
                  </a:rPr>
                  <a:t>ptimisation </a:t>
                </a:r>
                <a:r>
                  <a:rPr lang="fr-FR" sz="1200" b="1" dirty="0">
                    <a:solidFill>
                      <a:schemeClr val="bg1"/>
                    </a:solidFill>
                  </a:rPr>
                  <a:t>des ressources utilisées</a:t>
                </a:r>
                <a:endParaRPr lang="en-US" sz="1200" b="1" dirty="0">
                  <a:solidFill>
                    <a:schemeClr val="bg1"/>
                  </a:solidFill>
                </a:endParaRPr>
              </a:p>
            </p:txBody>
          </p:sp>
        </p:grpSp>
        <p:grpSp>
          <p:nvGrpSpPr>
            <p:cNvPr id="66" name="Group 285">
              <a:extLst>
                <a:ext uri="{FF2B5EF4-FFF2-40B4-BE49-F238E27FC236}">
                  <a16:creationId xmlns:a16="http://schemas.microsoft.com/office/drawing/2014/main" id="{7942455D-21B4-017C-6A71-27204635F68F}"/>
                </a:ext>
              </a:extLst>
            </p:cNvPr>
            <p:cNvGrpSpPr/>
            <p:nvPr/>
          </p:nvGrpSpPr>
          <p:grpSpPr>
            <a:xfrm>
              <a:off x="3288277" y="2466250"/>
              <a:ext cx="3897882" cy="1471312"/>
              <a:chOff x="3288277" y="2466250"/>
              <a:chExt cx="3897882" cy="1471312"/>
            </a:xfrm>
          </p:grpSpPr>
          <p:sp>
            <p:nvSpPr>
              <p:cNvPr id="73" name="Freeform: Shape 203">
                <a:extLst>
                  <a:ext uri="{FF2B5EF4-FFF2-40B4-BE49-F238E27FC236}">
                    <a16:creationId xmlns:a16="http://schemas.microsoft.com/office/drawing/2014/main" id="{4C7BDAD5-EDAF-17C8-47B1-26F8E3E7304A}"/>
                  </a:ext>
                </a:extLst>
              </p:cNvPr>
              <p:cNvSpPr/>
              <p:nvPr/>
            </p:nvSpPr>
            <p:spPr>
              <a:xfrm>
                <a:off x="6167356" y="2769048"/>
                <a:ext cx="1018803" cy="556673"/>
              </a:xfrm>
              <a:custGeom>
                <a:avLst/>
                <a:gdLst>
                  <a:gd name="connsiteX0" fmla="*/ 597262 w 1069020"/>
                  <a:gd name="connsiteY0" fmla="*/ -35 h 584111"/>
                  <a:gd name="connsiteX1" fmla="*/ 1045813 w 1069020"/>
                  <a:gd name="connsiteY1" fmla="*/ 448515 h 584111"/>
                  <a:gd name="connsiteX2" fmla="*/ 1045539 w 1069020"/>
                  <a:gd name="connsiteY2" fmla="*/ 560927 h 584111"/>
                  <a:gd name="connsiteX3" fmla="*/ 989494 w 1069020"/>
                  <a:gd name="connsiteY3" fmla="*/ 584077 h 584111"/>
                  <a:gd name="connsiteX4" fmla="*/ -58 w 1069020"/>
                  <a:gd name="connsiteY4" fmla="*/ 584077 h 584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9020" h="584111">
                    <a:moveTo>
                      <a:pt x="597262" y="-35"/>
                    </a:moveTo>
                    <a:lnTo>
                      <a:pt x="1045813" y="448515"/>
                    </a:lnTo>
                    <a:cubicBezTo>
                      <a:pt x="1076788" y="479639"/>
                      <a:pt x="1076663" y="529977"/>
                      <a:pt x="1045539" y="560927"/>
                    </a:cubicBezTo>
                    <a:cubicBezTo>
                      <a:pt x="1030637" y="575754"/>
                      <a:pt x="1010502" y="584077"/>
                      <a:pt x="989494" y="584077"/>
                    </a:cubicBezTo>
                    <a:lnTo>
                      <a:pt x="-58" y="584077"/>
                    </a:lnTo>
                    <a:close/>
                  </a:path>
                </a:pathLst>
              </a:custGeom>
              <a:solidFill>
                <a:schemeClr val="accent1">
                  <a:lumMod val="50000"/>
                </a:schemeClr>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4" name="Freeform: Shape 204">
                <a:extLst>
                  <a:ext uri="{FF2B5EF4-FFF2-40B4-BE49-F238E27FC236}">
                    <a16:creationId xmlns:a16="http://schemas.microsoft.com/office/drawing/2014/main" id="{E16298DC-14ED-E3E8-36C4-212DBA8E04AD}"/>
                  </a:ext>
                </a:extLst>
              </p:cNvPr>
              <p:cNvSpPr/>
              <p:nvPr/>
            </p:nvSpPr>
            <p:spPr>
              <a:xfrm>
                <a:off x="4057504" y="2769048"/>
                <a:ext cx="2679112" cy="932380"/>
              </a:xfrm>
              <a:custGeom>
                <a:avLst/>
                <a:gdLst>
                  <a:gd name="connsiteX0" fmla="*/ 2811108 w 2811165"/>
                  <a:gd name="connsiteY0" fmla="*/ -35 h 978337"/>
                  <a:gd name="connsiteX1" fmla="*/ -58 w 2811165"/>
                  <a:gd name="connsiteY1" fmla="*/ -35 h 978337"/>
                  <a:gd name="connsiteX2" fmla="*/ -58 w 2811165"/>
                  <a:gd name="connsiteY2" fmla="*/ 978303 h 978337"/>
                  <a:gd name="connsiteX3" fmla="*/ 2076731 w 2811165"/>
                  <a:gd name="connsiteY3" fmla="*/ 978303 h 978337"/>
                  <a:gd name="connsiteX4" fmla="*/ 2360813 w 2811165"/>
                  <a:gd name="connsiteY4" fmla="*/ 811093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165" h="978337">
                    <a:moveTo>
                      <a:pt x="2811108" y="-35"/>
                    </a:moveTo>
                    <a:lnTo>
                      <a:pt x="-58" y="-35"/>
                    </a:lnTo>
                    <a:lnTo>
                      <a:pt x="-58" y="978303"/>
                    </a:lnTo>
                    <a:lnTo>
                      <a:pt x="2076731" y="978303"/>
                    </a:lnTo>
                    <a:cubicBezTo>
                      <a:pt x="2194825" y="978502"/>
                      <a:pt x="2303673" y="914434"/>
                      <a:pt x="2360813" y="811093"/>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5" name="Freeform: Shape 206">
                <a:extLst>
                  <a:ext uri="{FF2B5EF4-FFF2-40B4-BE49-F238E27FC236}">
                    <a16:creationId xmlns:a16="http://schemas.microsoft.com/office/drawing/2014/main" id="{FBF90562-1CBF-CA0D-5F7B-E66E96A84F64}"/>
                  </a:ext>
                </a:extLst>
              </p:cNvPr>
              <p:cNvSpPr/>
              <p:nvPr/>
            </p:nvSpPr>
            <p:spPr>
              <a:xfrm>
                <a:off x="3288277" y="2466250"/>
                <a:ext cx="1417959" cy="1471312"/>
              </a:xfrm>
              <a:custGeom>
                <a:avLst/>
                <a:gdLst>
                  <a:gd name="connsiteX0" fmla="*/ 1613785 w 1613784"/>
                  <a:gd name="connsiteY0" fmla="*/ 806892 h 1613783"/>
                  <a:gd name="connsiteX1" fmla="*/ 806893 w 1613784"/>
                  <a:gd name="connsiteY1" fmla="*/ 1613783 h 1613783"/>
                  <a:gd name="connsiteX2" fmla="*/ 0 w 1613784"/>
                  <a:gd name="connsiteY2" fmla="*/ 806892 h 1613783"/>
                  <a:gd name="connsiteX3" fmla="*/ 806893 w 1613784"/>
                  <a:gd name="connsiteY3" fmla="*/ 0 h 1613783"/>
                  <a:gd name="connsiteX4" fmla="*/ 1613785 w 1613784"/>
                  <a:gd name="connsiteY4" fmla="*/ 806892 h 1613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84" h="1613783">
                    <a:moveTo>
                      <a:pt x="1613785" y="806892"/>
                    </a:moveTo>
                    <a:cubicBezTo>
                      <a:pt x="1613785" y="1252526"/>
                      <a:pt x="1252527" y="1613783"/>
                      <a:pt x="806893" y="1613783"/>
                    </a:cubicBezTo>
                    <a:cubicBezTo>
                      <a:pt x="361258" y="1613783"/>
                      <a:pt x="0" y="1252526"/>
                      <a:pt x="0" y="806892"/>
                    </a:cubicBezTo>
                    <a:cubicBezTo>
                      <a:pt x="0" y="361258"/>
                      <a:pt x="361258" y="0"/>
                      <a:pt x="806893" y="0"/>
                    </a:cubicBezTo>
                    <a:cubicBezTo>
                      <a:pt x="1252527" y="0"/>
                      <a:pt x="1613785" y="361258"/>
                      <a:pt x="1613785" y="806892"/>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6" name="Freeform: Shape 209">
                <a:extLst>
                  <a:ext uri="{FF2B5EF4-FFF2-40B4-BE49-F238E27FC236}">
                    <a16:creationId xmlns:a16="http://schemas.microsoft.com/office/drawing/2014/main" id="{4461C724-22F5-6539-FE34-47C9CD0FA007}"/>
                  </a:ext>
                </a:extLst>
              </p:cNvPr>
              <p:cNvSpPr/>
              <p:nvPr/>
            </p:nvSpPr>
            <p:spPr>
              <a:xfrm>
                <a:off x="3591076" y="2769048"/>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7" name="Freeform: Shape 210">
                <a:extLst>
                  <a:ext uri="{FF2B5EF4-FFF2-40B4-BE49-F238E27FC236}">
                    <a16:creationId xmlns:a16="http://schemas.microsoft.com/office/drawing/2014/main" id="{5721AE6D-1154-B998-6791-F22717DFF3C3}"/>
                  </a:ext>
                </a:extLst>
              </p:cNvPr>
              <p:cNvSpPr/>
              <p:nvPr/>
            </p:nvSpPr>
            <p:spPr>
              <a:xfrm>
                <a:off x="3591076" y="2769048"/>
                <a:ext cx="932381" cy="932380"/>
              </a:xfrm>
              <a:custGeom>
                <a:avLst/>
                <a:gdLst>
                  <a:gd name="connsiteX0" fmla="*/ 978338 w 978338"/>
                  <a:gd name="connsiteY0" fmla="*/ 489169 h 978337"/>
                  <a:gd name="connsiteX1" fmla="*/ 489169 w 978338"/>
                  <a:gd name="connsiteY1" fmla="*/ 978337 h 978337"/>
                  <a:gd name="connsiteX2" fmla="*/ 0 w 978338"/>
                  <a:gd name="connsiteY2" fmla="*/ 489169 h 978337"/>
                  <a:gd name="connsiteX3" fmla="*/ 489169 w 978338"/>
                  <a:gd name="connsiteY3" fmla="*/ 0 h 978337"/>
                  <a:gd name="connsiteX4" fmla="*/ 978338 w 978338"/>
                  <a:gd name="connsiteY4" fmla="*/ 489169 h 97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338" h="978337">
                    <a:moveTo>
                      <a:pt x="978338" y="489169"/>
                    </a:moveTo>
                    <a:cubicBezTo>
                      <a:pt x="978338" y="759329"/>
                      <a:pt x="759330" y="978337"/>
                      <a:pt x="489169" y="978337"/>
                    </a:cubicBezTo>
                    <a:cubicBezTo>
                      <a:pt x="219008" y="978337"/>
                      <a:pt x="0" y="759329"/>
                      <a:pt x="0" y="489169"/>
                    </a:cubicBezTo>
                    <a:cubicBezTo>
                      <a:pt x="0" y="219008"/>
                      <a:pt x="219008" y="0"/>
                      <a:pt x="489169" y="0"/>
                    </a:cubicBezTo>
                    <a:cubicBezTo>
                      <a:pt x="759330" y="0"/>
                      <a:pt x="978338" y="219008"/>
                      <a:pt x="978338" y="489169"/>
                    </a:cubicBezTo>
                    <a:close/>
                  </a:path>
                </a:pathLst>
              </a:custGeom>
              <a:gradFill>
                <a:gsLst>
                  <a:gs pos="0">
                    <a:srgbClr val="FFFFFF"/>
                  </a:gs>
                  <a:gs pos="36000">
                    <a:srgbClr val="F4F2F2"/>
                  </a:gs>
                  <a:gs pos="100000">
                    <a:srgbClr val="D8D2D2"/>
                  </a:gs>
                </a:gsLst>
                <a:lin ang="16539000" scaled="1"/>
              </a:gra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8" name="Freeform: Shape 211">
                <a:extLst>
                  <a:ext uri="{FF2B5EF4-FFF2-40B4-BE49-F238E27FC236}">
                    <a16:creationId xmlns:a16="http://schemas.microsoft.com/office/drawing/2014/main" id="{92D357CF-70CE-BC71-95CE-1C3BDEEF2F16}"/>
                  </a:ext>
                </a:extLst>
              </p:cNvPr>
              <p:cNvSpPr/>
              <p:nvPr/>
            </p:nvSpPr>
            <p:spPr>
              <a:xfrm>
                <a:off x="3691296" y="2848303"/>
                <a:ext cx="732178" cy="301202"/>
              </a:xfrm>
              <a:custGeom>
                <a:avLst/>
                <a:gdLst>
                  <a:gd name="connsiteX0" fmla="*/ 768210 w 768267"/>
                  <a:gd name="connsiteY0" fmla="*/ 316014 h 316048"/>
                  <a:gd name="connsiteX1" fmla="*/ 308565 w 768267"/>
                  <a:gd name="connsiteY1" fmla="*/ 7386 h 316048"/>
                  <a:gd name="connsiteX2" fmla="*/ -58 w 768267"/>
                  <a:gd name="connsiteY2" fmla="*/ 316014 h 316048"/>
                </a:gdLst>
                <a:ahLst/>
                <a:cxnLst>
                  <a:cxn ang="0">
                    <a:pos x="connsiteX0" y="connsiteY0"/>
                  </a:cxn>
                  <a:cxn ang="0">
                    <a:pos x="connsiteX1" y="connsiteY1"/>
                  </a:cxn>
                  <a:cxn ang="0">
                    <a:pos x="connsiteX2" y="connsiteY2"/>
                  </a:cxn>
                </a:cxnLst>
                <a:rect l="l" t="t" r="r" b="b"/>
                <a:pathLst>
                  <a:path w="768267" h="316048">
                    <a:moveTo>
                      <a:pt x="768210" y="316014"/>
                    </a:moveTo>
                    <a:cubicBezTo>
                      <a:pt x="726495" y="103875"/>
                      <a:pt x="520717" y="-34304"/>
                      <a:pt x="308565" y="7386"/>
                    </a:cubicBezTo>
                    <a:cubicBezTo>
                      <a:pt x="152569" y="38062"/>
                      <a:pt x="30608" y="160018"/>
                      <a:pt x="-58" y="316014"/>
                    </a:cubicBezTo>
                    <a:close/>
                  </a:path>
                </a:pathLst>
              </a:custGeom>
              <a:solidFill>
                <a:schemeClr val="accent1"/>
              </a:solidFill>
              <a:ln w="2491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79" name="TextBox 212">
                <a:extLst>
                  <a:ext uri="{FF2B5EF4-FFF2-40B4-BE49-F238E27FC236}">
                    <a16:creationId xmlns:a16="http://schemas.microsoft.com/office/drawing/2014/main" id="{2A6009CD-4115-8A3C-5B45-358671AFEFB0}"/>
                  </a:ext>
                </a:extLst>
              </p:cNvPr>
              <p:cNvSpPr txBox="1"/>
              <p:nvPr/>
            </p:nvSpPr>
            <p:spPr>
              <a:xfrm>
                <a:off x="3763031" y="3150818"/>
                <a:ext cx="659177" cy="70276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139" b="1" i="1" spc="0" baseline="0" dirty="0" smtClean="0">
                    <a:ln/>
                    <a:latin typeface="Lora" pitchFamily="2" charset="0"/>
                    <a:cs typeface="Arial"/>
                    <a:sym typeface="Arial"/>
                    <a:rtl val="0"/>
                  </a:rPr>
                  <a:t>06</a:t>
                </a:r>
                <a:endParaRPr lang="en-US" sz="3139" b="1" i="1" spc="0" baseline="0" dirty="0">
                  <a:ln/>
                  <a:latin typeface="Lora" pitchFamily="2" charset="0"/>
                  <a:cs typeface="Arial"/>
                  <a:sym typeface="Arial"/>
                  <a:rtl val="0"/>
                </a:endParaRPr>
              </a:p>
            </p:txBody>
          </p:sp>
          <p:sp>
            <p:nvSpPr>
              <p:cNvPr id="80" name="TextBox 213">
                <a:extLst>
                  <a:ext uri="{FF2B5EF4-FFF2-40B4-BE49-F238E27FC236}">
                    <a16:creationId xmlns:a16="http://schemas.microsoft.com/office/drawing/2014/main" id="{2CE8EB20-FE53-340D-83D0-D3426A8DD8D6}"/>
                  </a:ext>
                </a:extLst>
              </p:cNvPr>
              <p:cNvSpPr txBox="1"/>
              <p:nvPr/>
            </p:nvSpPr>
            <p:spPr>
              <a:xfrm>
                <a:off x="3823115" y="2863169"/>
                <a:ext cx="377980" cy="33400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77" b="1" i="1" dirty="0" err="1">
                    <a:ln/>
                    <a:solidFill>
                      <a:schemeClr val="bg1"/>
                    </a:solidFill>
                    <a:latin typeface="Lora" pitchFamily="2" charset="0"/>
                    <a:cs typeface="Arial"/>
                    <a:sym typeface="Arial"/>
                    <a:rtl val="0"/>
                  </a:rPr>
                  <a:t>P</a:t>
                </a:r>
                <a:r>
                  <a:rPr lang="en-US" sz="1177" b="1" i="1" dirty="0" err="1" smtClean="0">
                    <a:ln/>
                    <a:solidFill>
                      <a:schemeClr val="bg1"/>
                    </a:solidFill>
                    <a:latin typeface="Lora" pitchFamily="2" charset="0"/>
                    <a:cs typeface="Arial"/>
                    <a:sym typeface="Arial"/>
                    <a:rtl val="0"/>
                  </a:rPr>
                  <a:t>b</a:t>
                </a:r>
                <a:endParaRPr lang="en-US" sz="1177" b="1" i="1" spc="0" baseline="0" dirty="0">
                  <a:ln/>
                  <a:solidFill>
                    <a:schemeClr val="bg1"/>
                  </a:solidFill>
                  <a:latin typeface="Lora" pitchFamily="2" charset="0"/>
                  <a:cs typeface="Arial"/>
                  <a:sym typeface="Arial"/>
                  <a:rtl val="0"/>
                </a:endParaRPr>
              </a:p>
            </p:txBody>
          </p:sp>
          <p:sp>
            <p:nvSpPr>
              <p:cNvPr id="81" name="TextBox 279">
                <a:extLst>
                  <a:ext uri="{FF2B5EF4-FFF2-40B4-BE49-F238E27FC236}">
                    <a16:creationId xmlns:a16="http://schemas.microsoft.com/office/drawing/2014/main" id="{AF94D0E3-3436-C66D-CBC7-513DD558CFD3}"/>
                  </a:ext>
                </a:extLst>
              </p:cNvPr>
              <p:cNvSpPr txBox="1"/>
              <p:nvPr/>
            </p:nvSpPr>
            <p:spPr>
              <a:xfrm>
                <a:off x="4654247" y="2950289"/>
                <a:ext cx="1765199" cy="63902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fr-FR" sz="1400" b="1" dirty="0" smtClean="0">
                    <a:solidFill>
                      <a:schemeClr val="bg1"/>
                    </a:solidFill>
                  </a:rPr>
                  <a:t>Temps de déploiement</a:t>
                </a:r>
                <a:endParaRPr lang="en-US" sz="1400" b="1" dirty="0">
                  <a:solidFill>
                    <a:schemeClr val="bg1"/>
                  </a:solidFill>
                </a:endParaRPr>
              </a:p>
            </p:txBody>
          </p:sp>
        </p:grpSp>
        <p:sp>
          <p:nvSpPr>
            <p:cNvPr id="67" name="TextBox 280">
              <a:extLst>
                <a:ext uri="{FF2B5EF4-FFF2-40B4-BE49-F238E27FC236}">
                  <a16:creationId xmlns:a16="http://schemas.microsoft.com/office/drawing/2014/main" id="{5B5156BE-F777-499B-932A-52815B30C5BF}"/>
                </a:ext>
              </a:extLst>
            </p:cNvPr>
            <p:cNvSpPr txBox="1"/>
            <p:nvPr/>
          </p:nvSpPr>
          <p:spPr>
            <a:xfrm>
              <a:off x="5230954" y="4346618"/>
              <a:ext cx="1572353" cy="41348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pPr>
              <a:r>
                <a:rPr lang="fr-FR" sz="1600" b="1" dirty="0" smtClean="0">
                  <a:solidFill>
                    <a:schemeClr val="bg1"/>
                  </a:solidFill>
                </a:rPr>
                <a:t>Administration</a:t>
              </a:r>
              <a:endParaRPr lang="en-US" sz="1400" b="1" dirty="0">
                <a:solidFill>
                  <a:schemeClr val="bg1"/>
                </a:solidFill>
                <a:latin typeface="Lora" pitchFamily="2" charset="0"/>
              </a:endParaRPr>
            </a:p>
          </p:txBody>
        </p:sp>
        <p:sp>
          <p:nvSpPr>
            <p:cNvPr id="69" name="TextBox 283">
              <a:extLst>
                <a:ext uri="{FF2B5EF4-FFF2-40B4-BE49-F238E27FC236}">
                  <a16:creationId xmlns:a16="http://schemas.microsoft.com/office/drawing/2014/main" id="{936DFE28-E28F-3350-FA63-B11999CA561B}"/>
                </a:ext>
              </a:extLst>
            </p:cNvPr>
            <p:cNvSpPr txBox="1"/>
            <p:nvPr/>
          </p:nvSpPr>
          <p:spPr>
            <a:xfrm>
              <a:off x="7857066" y="1630109"/>
              <a:ext cx="4718483" cy="124045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dirty="0">
                  <a:latin typeface="Lora" pitchFamily="2" charset="0"/>
                </a:rPr>
                <a:t>Les organisations </a:t>
              </a:r>
              <a:r>
                <a:rPr lang="fr-FR" sz="1200" dirty="0" smtClean="0">
                  <a:latin typeface="Lora" pitchFamily="2" charset="0"/>
                </a:rPr>
                <a:t>dépenses </a:t>
              </a:r>
              <a:r>
                <a:rPr lang="fr-FR" sz="1200" dirty="0">
                  <a:latin typeface="Lora" pitchFamily="2" charset="0"/>
                </a:rPr>
                <a:t>des sommes assez important pour l’acquisition des </a:t>
              </a:r>
              <a:r>
                <a:rPr lang="fr-FR" sz="1200" dirty="0" smtClean="0">
                  <a:latin typeface="Lora" pitchFamily="2" charset="0"/>
                </a:rPr>
                <a:t>serveurs et certains </a:t>
              </a:r>
              <a:r>
                <a:rPr lang="fr-FR" sz="1200" dirty="0">
                  <a:latin typeface="Lora" pitchFamily="2" charset="0"/>
                </a:rPr>
                <a:t>serveurs fonctionnent à 10% de leurs capacités réelles, entraînant un gaspillage de ressources informatiques et énergétiques</a:t>
              </a:r>
              <a:r>
                <a:rPr lang="fr-FR" sz="1200" dirty="0" smtClean="0">
                  <a:latin typeface="Lora" pitchFamily="2" charset="0"/>
                </a:rPr>
                <a:t>. Il gagnerai beaucoup plus à faire cohabiter plusieurs applications dans le même serveur</a:t>
              </a:r>
              <a:endParaRPr lang="en-US" sz="1200" dirty="0">
                <a:latin typeface="Lora" pitchFamily="2" charset="0"/>
              </a:endParaRPr>
            </a:p>
          </p:txBody>
        </p:sp>
        <p:sp>
          <p:nvSpPr>
            <p:cNvPr id="72" name="TextBox 299">
              <a:extLst>
                <a:ext uri="{FF2B5EF4-FFF2-40B4-BE49-F238E27FC236}">
                  <a16:creationId xmlns:a16="http://schemas.microsoft.com/office/drawing/2014/main" id="{B367F584-6AAE-B9AB-535B-0E8F60217833}"/>
                </a:ext>
              </a:extLst>
            </p:cNvPr>
            <p:cNvSpPr txBox="1"/>
            <p:nvPr/>
          </p:nvSpPr>
          <p:spPr>
            <a:xfrm>
              <a:off x="7754981" y="4127973"/>
              <a:ext cx="5043997" cy="78938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200" dirty="0">
                  <a:latin typeface="Lora" pitchFamily="2" charset="0"/>
                </a:rPr>
                <a:t>La gestion quotidienne d'un parc de serveurs hétérogènes et non standardisés exige une charge de travail humain disproportionnée de la part des administrateurs.</a:t>
              </a:r>
              <a:endParaRPr lang="en-GB" sz="1200" dirty="0">
                <a:latin typeface="Lora" pitchFamily="2" charset="0"/>
                <a:sym typeface="Fira Sans Extra Condensed Medium"/>
              </a:endParaRPr>
            </a:p>
          </p:txBody>
        </p:sp>
      </p:grpSp>
      <p:sp>
        <p:nvSpPr>
          <p:cNvPr id="2" name="Rectangle 1"/>
          <p:cNvSpPr/>
          <p:nvPr/>
        </p:nvSpPr>
        <p:spPr>
          <a:xfrm>
            <a:off x="6505101" y="3647660"/>
            <a:ext cx="4249267" cy="1015663"/>
          </a:xfrm>
          <a:prstGeom prst="rect">
            <a:avLst/>
          </a:prstGeom>
        </p:spPr>
        <p:txBody>
          <a:bodyPr wrap="square">
            <a:spAutoFit/>
          </a:bodyPr>
          <a:lstStyle/>
          <a:p>
            <a:r>
              <a:rPr lang="fr-FR" sz="1200" dirty="0">
                <a:latin typeface="Lora" pitchFamily="2" charset="0"/>
              </a:rPr>
              <a:t>L'absence de chaînes de livraison automatisées et la nécessité de configurer manuellement les serveurs web lors des mises à jour étirent les cycles de mise en production (parfois plusieurs semaines), ralentissant la correction de bugs et la livraison de nouvelles fonctionnalités.</a:t>
            </a:r>
          </a:p>
        </p:txBody>
      </p:sp>
      <p:sp>
        <p:nvSpPr>
          <p:cNvPr id="91" name="TextBox 399">
            <a:extLst>
              <a:ext uri="{FF2B5EF4-FFF2-40B4-BE49-F238E27FC236}">
                <a16:creationId xmlns:a16="http://schemas.microsoft.com/office/drawing/2014/main" id="{FDD451E3-B698-385A-E33C-D7E609504975}"/>
              </a:ext>
            </a:extLst>
          </p:cNvPr>
          <p:cNvSpPr txBox="1"/>
          <p:nvPr/>
        </p:nvSpPr>
        <p:spPr>
          <a:xfrm>
            <a:off x="1238066" y="1196035"/>
            <a:ext cx="3723512"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Problématique</a:t>
            </a:r>
            <a:endParaRPr lang="fr-FR" sz="3600" b="1" dirty="0">
              <a:latin typeface="Lora" pitchFamily="2" charset="0"/>
            </a:endParaRPr>
          </a:p>
        </p:txBody>
      </p:sp>
    </p:spTree>
    <p:extLst>
      <p:ext uri="{BB962C8B-B14F-4D97-AF65-F5344CB8AC3E}">
        <p14:creationId xmlns:p14="http://schemas.microsoft.com/office/powerpoint/2010/main" val="4268595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397">
            <a:extLst>
              <a:ext uri="{FF2B5EF4-FFF2-40B4-BE49-F238E27FC236}">
                <a16:creationId xmlns:a16="http://schemas.microsoft.com/office/drawing/2014/main" id="{7D78621A-07D1-3482-7047-9D5A65419596}"/>
              </a:ext>
            </a:extLst>
          </p:cNvPr>
          <p:cNvGrpSpPr/>
          <p:nvPr/>
        </p:nvGrpSpPr>
        <p:grpSpPr>
          <a:xfrm>
            <a:off x="1753495" y="1839553"/>
            <a:ext cx="8685904" cy="4503146"/>
            <a:chOff x="856191" y="940033"/>
            <a:chExt cx="9384465" cy="5321126"/>
          </a:xfrm>
        </p:grpSpPr>
        <p:sp>
          <p:nvSpPr>
            <p:cNvPr id="14" name="Freeform: Shape 270">
              <a:extLst>
                <a:ext uri="{FF2B5EF4-FFF2-40B4-BE49-F238E27FC236}">
                  <a16:creationId xmlns:a16="http://schemas.microsoft.com/office/drawing/2014/main" id="{E52E4752-9D22-D593-FD5D-13E4BC00A2D6}"/>
                </a:ext>
              </a:extLst>
            </p:cNvPr>
            <p:cNvSpPr/>
            <p:nvPr/>
          </p:nvSpPr>
          <p:spPr>
            <a:xfrm rot="17019000">
              <a:off x="856192" y="1927305"/>
              <a:ext cx="3339148" cy="3339149"/>
            </a:xfrm>
            <a:custGeom>
              <a:avLst/>
              <a:gdLst>
                <a:gd name="connsiteX0" fmla="*/ 2976369 w 2976621"/>
                <a:gd name="connsiteY0" fmla="*/ 1488257 h 2976621"/>
                <a:gd name="connsiteX1" fmla="*/ 1488058 w 2976621"/>
                <a:gd name="connsiteY1" fmla="*/ 2976568 h 2976621"/>
                <a:gd name="connsiteX2" fmla="*/ -253 w 2976621"/>
                <a:gd name="connsiteY2" fmla="*/ 1488257 h 2976621"/>
                <a:gd name="connsiteX3" fmla="*/ 1488058 w 2976621"/>
                <a:gd name="connsiteY3" fmla="*/ -54 h 2976621"/>
                <a:gd name="connsiteX4" fmla="*/ 2976369 w 2976621"/>
                <a:gd name="connsiteY4" fmla="*/ 1488257 h 2976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621" h="2976621">
                  <a:moveTo>
                    <a:pt x="2976369" y="1488257"/>
                  </a:moveTo>
                  <a:cubicBezTo>
                    <a:pt x="2976369" y="2310228"/>
                    <a:pt x="2310030" y="2976568"/>
                    <a:pt x="1488058" y="2976568"/>
                  </a:cubicBezTo>
                  <a:cubicBezTo>
                    <a:pt x="666087" y="2976568"/>
                    <a:pt x="-253" y="2310228"/>
                    <a:pt x="-253" y="1488257"/>
                  </a:cubicBezTo>
                  <a:cubicBezTo>
                    <a:pt x="-253" y="666286"/>
                    <a:pt x="666086" y="-54"/>
                    <a:pt x="1488058" y="-54"/>
                  </a:cubicBezTo>
                  <a:cubicBezTo>
                    <a:pt x="2310030" y="-54"/>
                    <a:pt x="2976369" y="666286"/>
                    <a:pt x="2976369" y="1488257"/>
                  </a:cubicBezTo>
                  <a:close/>
                </a:path>
              </a:pathLst>
            </a:custGeom>
            <a:gradFill>
              <a:gsLst>
                <a:gs pos="0">
                  <a:srgbClr val="FFFFFF"/>
                </a:gs>
                <a:gs pos="16000">
                  <a:srgbClr val="F1EFEF"/>
                </a:gs>
                <a:gs pos="39000">
                  <a:srgbClr val="E3DFDF"/>
                </a:gs>
                <a:gs pos="66000">
                  <a:srgbClr val="DBD5D5"/>
                </a:gs>
                <a:gs pos="100000">
                  <a:srgbClr val="D8D2D2"/>
                </a:gs>
              </a:gsLst>
              <a:lin ang="18081171"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Shape 272">
              <a:extLst>
                <a:ext uri="{FF2B5EF4-FFF2-40B4-BE49-F238E27FC236}">
                  <a16:creationId xmlns:a16="http://schemas.microsoft.com/office/drawing/2014/main" id="{BB9CA9FA-9885-670F-52AB-15F8C059A23B}"/>
                </a:ext>
              </a:extLst>
            </p:cNvPr>
            <p:cNvSpPr/>
            <p:nvPr/>
          </p:nvSpPr>
          <p:spPr>
            <a:xfrm rot="21054000">
              <a:off x="1379393" y="2449530"/>
              <a:ext cx="2293346" cy="2293346"/>
            </a:xfrm>
            <a:custGeom>
              <a:avLst/>
              <a:gdLst>
                <a:gd name="connsiteX0" fmla="*/ 2044108 w 2044360"/>
                <a:gd name="connsiteY0" fmla="*/ 1022126 h 2044360"/>
                <a:gd name="connsiteX1" fmla="*/ 1021928 w 2044360"/>
                <a:gd name="connsiteY1" fmla="*/ 2044307 h 2044360"/>
                <a:gd name="connsiteX2" fmla="*/ -253 w 2044360"/>
                <a:gd name="connsiteY2" fmla="*/ 1022126 h 2044360"/>
                <a:gd name="connsiteX3" fmla="*/ 1021928 w 2044360"/>
                <a:gd name="connsiteY3" fmla="*/ -54 h 2044360"/>
                <a:gd name="connsiteX4" fmla="*/ 2044108 w 2044360"/>
                <a:gd name="connsiteY4" fmla="*/ 1022126 h 2044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360" h="2044360">
                  <a:moveTo>
                    <a:pt x="2044108" y="1022126"/>
                  </a:moveTo>
                  <a:cubicBezTo>
                    <a:pt x="2044108" y="1586661"/>
                    <a:pt x="1586463" y="2044307"/>
                    <a:pt x="1021928" y="2044307"/>
                  </a:cubicBezTo>
                  <a:cubicBezTo>
                    <a:pt x="457394" y="2044307"/>
                    <a:pt x="-253" y="1586661"/>
                    <a:pt x="-253" y="1022126"/>
                  </a:cubicBezTo>
                  <a:cubicBezTo>
                    <a:pt x="-253" y="457592"/>
                    <a:pt x="457393" y="-54"/>
                    <a:pt x="1021928" y="-54"/>
                  </a:cubicBezTo>
                  <a:cubicBezTo>
                    <a:pt x="1586462" y="-54"/>
                    <a:pt x="2044108" y="457592"/>
                    <a:pt x="2044108" y="1022126"/>
                  </a:cubicBezTo>
                  <a:close/>
                </a:path>
              </a:pathLst>
            </a:custGeom>
            <a:gradFill>
              <a:gsLst>
                <a:gs pos="0">
                  <a:srgbClr val="FFFFFF"/>
                </a:gs>
                <a:gs pos="36000">
                  <a:srgbClr val="F4F2F2"/>
                </a:gs>
                <a:gs pos="100000">
                  <a:srgbClr val="D8D2D2"/>
                </a:gs>
              </a:gsLst>
              <a:lin ang="14046247"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 name="Freeform: Shape 280">
              <a:extLst>
                <a:ext uri="{FF2B5EF4-FFF2-40B4-BE49-F238E27FC236}">
                  <a16:creationId xmlns:a16="http://schemas.microsoft.com/office/drawing/2014/main" id="{6037A81F-BF81-B648-9743-13D6BFA98A5F}"/>
                </a:ext>
              </a:extLst>
            </p:cNvPr>
            <p:cNvSpPr/>
            <p:nvPr/>
          </p:nvSpPr>
          <p:spPr>
            <a:xfrm>
              <a:off x="2525952" y="2153129"/>
              <a:ext cx="988241" cy="456732"/>
            </a:xfrm>
            <a:custGeom>
              <a:avLst/>
              <a:gdLst>
                <a:gd name="connsiteX0" fmla="*/ 618618 w 880949"/>
                <a:gd name="connsiteY0" fmla="*/ 158441 h 407145"/>
                <a:gd name="connsiteX1" fmla="*/ -252 w 880949"/>
                <a:gd name="connsiteY1" fmla="*/ -54 h 407145"/>
                <a:gd name="connsiteX2" fmla="*/ -252 w 880949"/>
                <a:gd name="connsiteY2" fmla="*/ 81951 h 407145"/>
                <a:gd name="connsiteX3" fmla="*/ 822671 w 880949"/>
                <a:gd name="connsiteY3" fmla="*/ 407092 h 407145"/>
                <a:gd name="connsiteX4" fmla="*/ 880697 w 880949"/>
                <a:gd name="connsiteY4" fmla="*/ 349305 h 407145"/>
                <a:gd name="connsiteX5" fmla="*/ 618618 w 880949"/>
                <a:gd name="connsiteY5" fmla="*/ 158441 h 4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0949" h="407145">
                  <a:moveTo>
                    <a:pt x="618618" y="158441"/>
                  </a:moveTo>
                  <a:cubicBezTo>
                    <a:pt x="428953" y="54352"/>
                    <a:pt x="216101" y="-152"/>
                    <a:pt x="-252" y="-54"/>
                  </a:cubicBezTo>
                  <a:lnTo>
                    <a:pt x="-252" y="81951"/>
                  </a:lnTo>
                  <a:cubicBezTo>
                    <a:pt x="305442" y="81591"/>
                    <a:pt x="599772" y="197884"/>
                    <a:pt x="822671" y="407092"/>
                  </a:cubicBezTo>
                  <a:lnTo>
                    <a:pt x="880697" y="349305"/>
                  </a:lnTo>
                  <a:cubicBezTo>
                    <a:pt x="801690" y="274949"/>
                    <a:pt x="713619" y="210832"/>
                    <a:pt x="618618" y="158441"/>
                  </a:cubicBezTo>
                  <a:close/>
                </a:path>
              </a:pathLst>
            </a:custGeom>
            <a:solidFill>
              <a:schemeClr val="accent2"/>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281">
              <a:extLst>
                <a:ext uri="{FF2B5EF4-FFF2-40B4-BE49-F238E27FC236}">
                  <a16:creationId xmlns:a16="http://schemas.microsoft.com/office/drawing/2014/main" id="{E996A5C8-E9DE-A486-44F8-9D12B7380D1F}"/>
                </a:ext>
              </a:extLst>
            </p:cNvPr>
            <p:cNvSpPr/>
            <p:nvPr/>
          </p:nvSpPr>
          <p:spPr>
            <a:xfrm>
              <a:off x="3826481" y="1059716"/>
              <a:ext cx="5374779" cy="1054411"/>
            </a:xfrm>
            <a:custGeom>
              <a:avLst/>
              <a:gdLst>
                <a:gd name="connsiteX0" fmla="*/ 2200684 w 2670903"/>
                <a:gd name="connsiteY0" fmla="*/ -54 h 939935"/>
                <a:gd name="connsiteX1" fmla="*/ -252 w 2670903"/>
                <a:gd name="connsiteY1" fmla="*/ -54 h 939935"/>
                <a:gd name="connsiteX2" fmla="*/ -252 w 2670903"/>
                <a:gd name="connsiteY2" fmla="*/ 939882 h 939935"/>
                <a:gd name="connsiteX3" fmla="*/ 2200684 w 2670903"/>
                <a:gd name="connsiteY3" fmla="*/ 939882 h 939935"/>
                <a:gd name="connsiteX4" fmla="*/ 2670651 w 2670903"/>
                <a:gd name="connsiteY4" fmla="*/ 469914 h 939935"/>
                <a:gd name="connsiteX5" fmla="*/ 2670651 w 2670903"/>
                <a:gd name="connsiteY5" fmla="*/ 469914 h 939935"/>
                <a:gd name="connsiteX6" fmla="*/ 2200684 w 2670903"/>
                <a:gd name="connsiteY6" fmla="*/ -54 h 93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903" h="939935">
                  <a:moveTo>
                    <a:pt x="2200684" y="-54"/>
                  </a:moveTo>
                  <a:lnTo>
                    <a:pt x="-252" y="-54"/>
                  </a:lnTo>
                  <a:lnTo>
                    <a:pt x="-252" y="939882"/>
                  </a:lnTo>
                  <a:lnTo>
                    <a:pt x="2200684" y="939882"/>
                  </a:lnTo>
                  <a:cubicBezTo>
                    <a:pt x="2460245" y="939882"/>
                    <a:pt x="2670651" y="729471"/>
                    <a:pt x="2670651" y="469914"/>
                  </a:cubicBezTo>
                  <a:lnTo>
                    <a:pt x="2670651" y="469914"/>
                  </a:lnTo>
                  <a:cubicBezTo>
                    <a:pt x="2670651" y="210357"/>
                    <a:pt x="2460245" y="-54"/>
                    <a:pt x="2200684" y="-54"/>
                  </a:cubicBezTo>
                  <a:close/>
                </a:path>
              </a:pathLst>
            </a:custGeom>
            <a:solidFill>
              <a:schemeClr val="accent2"/>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 name="Freeform: Shape 303">
              <a:extLst>
                <a:ext uri="{FF2B5EF4-FFF2-40B4-BE49-F238E27FC236}">
                  <a16:creationId xmlns:a16="http://schemas.microsoft.com/office/drawing/2014/main" id="{8648F256-2AFE-D596-89A2-7DD145DE91B1}"/>
                </a:ext>
              </a:extLst>
            </p:cNvPr>
            <p:cNvSpPr/>
            <p:nvPr/>
          </p:nvSpPr>
          <p:spPr>
            <a:xfrm>
              <a:off x="3033029" y="940033"/>
              <a:ext cx="1420304" cy="1412116"/>
            </a:xfrm>
            <a:custGeom>
              <a:avLst/>
              <a:gdLst>
                <a:gd name="connsiteX0" fmla="*/ 1180862 w 1266103"/>
                <a:gd name="connsiteY0" fmla="*/ 380703 h 1258804"/>
                <a:gd name="connsiteX1" fmla="*/ 884734 w 1266103"/>
                <a:gd name="connsiteY1" fmla="*/ 84575 h 1258804"/>
                <a:gd name="connsiteX2" fmla="*/ 477804 w 1266103"/>
                <a:gd name="connsiteY2" fmla="*/ 83868 h 1258804"/>
                <a:gd name="connsiteX3" fmla="*/ 477109 w 1266103"/>
                <a:gd name="connsiteY3" fmla="*/ 84575 h 1258804"/>
                <a:gd name="connsiteX4" fmla="*/ 181700 w 1266103"/>
                <a:gd name="connsiteY4" fmla="*/ 380703 h 1258804"/>
                <a:gd name="connsiteX5" fmla="*/ 181005 w 1266103"/>
                <a:gd name="connsiteY5" fmla="*/ 787621 h 1258804"/>
                <a:gd name="connsiteX6" fmla="*/ 181700 w 1266103"/>
                <a:gd name="connsiteY6" fmla="*/ 788328 h 1258804"/>
                <a:gd name="connsiteX7" fmla="*/ 182899 w 1266103"/>
                <a:gd name="connsiteY7" fmla="*/ 789767 h 1258804"/>
                <a:gd name="connsiteX8" fmla="*/ 8579 w 1266103"/>
                <a:gd name="connsiteY8" fmla="*/ 1161665 h 1258804"/>
                <a:gd name="connsiteX9" fmla="*/ 18890 w 1266103"/>
                <a:gd name="connsiteY9" fmla="*/ 1239593 h 1258804"/>
                <a:gd name="connsiteX10" fmla="*/ 18890 w 1266103"/>
                <a:gd name="connsiteY10" fmla="*/ 1239593 h 1258804"/>
                <a:gd name="connsiteX11" fmla="*/ 95380 w 1266103"/>
                <a:gd name="connsiteY11" fmla="*/ 1251103 h 1258804"/>
                <a:gd name="connsiteX12" fmla="*/ 477828 w 1266103"/>
                <a:gd name="connsiteY12" fmla="*/ 1084696 h 1258804"/>
                <a:gd name="connsiteX13" fmla="*/ 477828 w 1266103"/>
                <a:gd name="connsiteY13" fmla="*/ 1084696 h 1258804"/>
                <a:gd name="connsiteX14" fmla="*/ 884758 w 1266103"/>
                <a:gd name="connsiteY14" fmla="*/ 1085403 h 1258804"/>
                <a:gd name="connsiteX15" fmla="*/ 885453 w 1266103"/>
                <a:gd name="connsiteY15" fmla="*/ 1084696 h 1258804"/>
                <a:gd name="connsiteX16" fmla="*/ 1181581 w 1266103"/>
                <a:gd name="connsiteY16" fmla="*/ 788328 h 1258804"/>
                <a:gd name="connsiteX17" fmla="*/ 1181581 w 1266103"/>
                <a:gd name="connsiteY17" fmla="*/ 381408 h 1258804"/>
                <a:gd name="connsiteX18" fmla="*/ 1180862 w 1266103"/>
                <a:gd name="connsiteY18" fmla="*/ 380703 h 125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6103" h="1258804">
                  <a:moveTo>
                    <a:pt x="1180862" y="380703"/>
                  </a:moveTo>
                  <a:lnTo>
                    <a:pt x="884734" y="84575"/>
                  </a:lnTo>
                  <a:cubicBezTo>
                    <a:pt x="772565" y="-27987"/>
                    <a:pt x="590381" y="-28303"/>
                    <a:pt x="477804" y="83868"/>
                  </a:cubicBezTo>
                  <a:cubicBezTo>
                    <a:pt x="477588" y="84103"/>
                    <a:pt x="477348" y="84340"/>
                    <a:pt x="477109" y="84575"/>
                  </a:cubicBezTo>
                  <a:lnTo>
                    <a:pt x="181700" y="380703"/>
                  </a:lnTo>
                  <a:cubicBezTo>
                    <a:pt x="69148" y="492874"/>
                    <a:pt x="68812" y="675059"/>
                    <a:pt x="181005" y="787621"/>
                  </a:cubicBezTo>
                  <a:cubicBezTo>
                    <a:pt x="181221" y="787858"/>
                    <a:pt x="181460" y="788093"/>
                    <a:pt x="181700" y="788328"/>
                  </a:cubicBezTo>
                  <a:lnTo>
                    <a:pt x="182899" y="789767"/>
                  </a:lnTo>
                  <a:cubicBezTo>
                    <a:pt x="206877" y="813745"/>
                    <a:pt x="66846" y="1060238"/>
                    <a:pt x="8579" y="1161665"/>
                  </a:cubicBezTo>
                  <a:cubicBezTo>
                    <a:pt x="-6311" y="1186914"/>
                    <a:pt x="-2043" y="1219068"/>
                    <a:pt x="18890" y="1239593"/>
                  </a:cubicBezTo>
                  <a:lnTo>
                    <a:pt x="18890" y="1239593"/>
                  </a:lnTo>
                  <a:cubicBezTo>
                    <a:pt x="39031" y="1259902"/>
                    <a:pt x="70131" y="1264602"/>
                    <a:pt x="95380" y="1251103"/>
                  </a:cubicBezTo>
                  <a:cubicBezTo>
                    <a:pt x="198005" y="1195953"/>
                    <a:pt x="455049" y="1061437"/>
                    <a:pt x="477828" y="1084696"/>
                  </a:cubicBezTo>
                  <a:lnTo>
                    <a:pt x="477828" y="1084696"/>
                  </a:lnTo>
                  <a:cubicBezTo>
                    <a:pt x="589997" y="1197248"/>
                    <a:pt x="772182" y="1197584"/>
                    <a:pt x="884758" y="1085403"/>
                  </a:cubicBezTo>
                  <a:cubicBezTo>
                    <a:pt x="884973" y="1085168"/>
                    <a:pt x="885213" y="1084931"/>
                    <a:pt x="885453" y="1084696"/>
                  </a:cubicBezTo>
                  <a:lnTo>
                    <a:pt x="1181581" y="788328"/>
                  </a:lnTo>
                  <a:cubicBezTo>
                    <a:pt x="1293941" y="675958"/>
                    <a:pt x="1293941" y="493773"/>
                    <a:pt x="1181581" y="381408"/>
                  </a:cubicBezTo>
                  <a:cubicBezTo>
                    <a:pt x="1181341" y="381173"/>
                    <a:pt x="1181101" y="380938"/>
                    <a:pt x="1180862" y="380703"/>
                  </a:cubicBezTo>
                  <a:close/>
                </a:path>
              </a:pathLst>
            </a:custGeom>
            <a:solidFill>
              <a:schemeClr val="accent2"/>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19" name="Freeform: Shape 304">
              <a:extLst>
                <a:ext uri="{FF2B5EF4-FFF2-40B4-BE49-F238E27FC236}">
                  <a16:creationId xmlns:a16="http://schemas.microsoft.com/office/drawing/2014/main" id="{9642A02D-5494-17B5-F51C-D1059E8E3B32}"/>
                </a:ext>
              </a:extLst>
            </p:cNvPr>
            <p:cNvSpPr/>
            <p:nvPr/>
          </p:nvSpPr>
          <p:spPr>
            <a:xfrm>
              <a:off x="3361516" y="1155162"/>
              <a:ext cx="880700" cy="879787"/>
            </a:xfrm>
            <a:custGeom>
              <a:avLst/>
              <a:gdLst>
                <a:gd name="connsiteX0" fmla="*/ 256458 w 785083"/>
                <a:gd name="connsiteY0" fmla="*/ 727714 h 784270"/>
                <a:gd name="connsiteX1" fmla="*/ 256458 w 785083"/>
                <a:gd name="connsiteY1" fmla="*/ 727714 h 784270"/>
                <a:gd name="connsiteX2" fmla="*/ 529568 w 785083"/>
                <a:gd name="connsiteY2" fmla="*/ 727714 h 784270"/>
                <a:gd name="connsiteX3" fmla="*/ 728345 w 785083"/>
                <a:gd name="connsiteY3" fmla="*/ 528697 h 784270"/>
                <a:gd name="connsiteX4" fmla="*/ 728345 w 785083"/>
                <a:gd name="connsiteY4" fmla="*/ 255828 h 784270"/>
                <a:gd name="connsiteX5" fmla="*/ 529568 w 785083"/>
                <a:gd name="connsiteY5" fmla="*/ 57051 h 784270"/>
                <a:gd name="connsiteX6" fmla="*/ 258305 w 785083"/>
                <a:gd name="connsiteY6" fmla="*/ 55214 h 784270"/>
                <a:gd name="connsiteX7" fmla="*/ 256458 w 785083"/>
                <a:gd name="connsiteY7" fmla="*/ 57051 h 784270"/>
                <a:gd name="connsiteX8" fmla="*/ 56722 w 785083"/>
                <a:gd name="connsiteY8" fmla="*/ 255828 h 784270"/>
                <a:gd name="connsiteX9" fmla="*/ 55140 w 785083"/>
                <a:gd name="connsiteY9" fmla="*/ 527103 h 784270"/>
                <a:gd name="connsiteX10" fmla="*/ 56722 w 785083"/>
                <a:gd name="connsiteY10" fmla="*/ 528697 h 784270"/>
                <a:gd name="connsiteX11" fmla="*/ 56722 w 785083"/>
                <a:gd name="connsiteY11" fmla="*/ 528697 h 784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5083" h="784270">
                  <a:moveTo>
                    <a:pt x="256458" y="727714"/>
                  </a:moveTo>
                  <a:lnTo>
                    <a:pt x="256458" y="727714"/>
                  </a:lnTo>
                  <a:cubicBezTo>
                    <a:pt x="331917" y="803051"/>
                    <a:pt x="454109" y="803051"/>
                    <a:pt x="529568" y="727714"/>
                  </a:cubicBezTo>
                  <a:lnTo>
                    <a:pt x="728345" y="528697"/>
                  </a:lnTo>
                  <a:cubicBezTo>
                    <a:pt x="803660" y="453330"/>
                    <a:pt x="803660" y="331196"/>
                    <a:pt x="728345" y="255828"/>
                  </a:cubicBezTo>
                  <a:lnTo>
                    <a:pt x="529568" y="57051"/>
                  </a:lnTo>
                  <a:cubicBezTo>
                    <a:pt x="455164" y="-18367"/>
                    <a:pt x="333716" y="-19187"/>
                    <a:pt x="258305" y="55214"/>
                  </a:cubicBezTo>
                  <a:cubicBezTo>
                    <a:pt x="257682" y="55824"/>
                    <a:pt x="257059" y="56435"/>
                    <a:pt x="256458" y="57051"/>
                  </a:cubicBezTo>
                  <a:lnTo>
                    <a:pt x="56722" y="255828"/>
                  </a:lnTo>
                  <a:cubicBezTo>
                    <a:pt x="-18616" y="330299"/>
                    <a:pt x="-19336" y="451752"/>
                    <a:pt x="55140" y="527103"/>
                  </a:cubicBezTo>
                  <a:cubicBezTo>
                    <a:pt x="55667" y="527638"/>
                    <a:pt x="56195" y="528170"/>
                    <a:pt x="56722" y="528697"/>
                  </a:cubicBezTo>
                  <a:lnTo>
                    <a:pt x="56722" y="528697"/>
                  </a:lnTo>
                  <a:close/>
                </a:path>
              </a:pathLst>
            </a:custGeom>
            <a:gradFill>
              <a:gsLst>
                <a:gs pos="0">
                  <a:srgbClr val="FFFFFF"/>
                </a:gs>
                <a:gs pos="36000">
                  <a:srgbClr val="F4F2F2"/>
                </a:gs>
                <a:gs pos="100000">
                  <a:srgbClr val="D8D2D2"/>
                </a:gs>
              </a:gsLst>
              <a:lin ang="14045999"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0" name="Freeform: Shape 306">
              <a:extLst>
                <a:ext uri="{FF2B5EF4-FFF2-40B4-BE49-F238E27FC236}">
                  <a16:creationId xmlns:a16="http://schemas.microsoft.com/office/drawing/2014/main" id="{BE8117C1-1007-B6F8-8BA7-C715EC98C4C4}"/>
                </a:ext>
              </a:extLst>
            </p:cNvPr>
            <p:cNvSpPr/>
            <p:nvPr/>
          </p:nvSpPr>
          <p:spPr>
            <a:xfrm>
              <a:off x="2934537" y="2160387"/>
              <a:ext cx="284583" cy="284588"/>
            </a:xfrm>
            <a:custGeom>
              <a:avLst/>
              <a:gdLst>
                <a:gd name="connsiteX0" fmla="*/ -252 w 253686"/>
                <a:gd name="connsiteY0" fmla="*/ 126794 h 253691"/>
                <a:gd name="connsiteX1" fmla="*/ 126591 w 253686"/>
                <a:gd name="connsiteY1" fmla="*/ 253638 h 253691"/>
                <a:gd name="connsiteX2" fmla="*/ 253434 w 253686"/>
                <a:gd name="connsiteY2" fmla="*/ 126794 h 253691"/>
                <a:gd name="connsiteX3" fmla="*/ 126591 w 253686"/>
                <a:gd name="connsiteY3" fmla="*/ -54 h 253691"/>
                <a:gd name="connsiteX4" fmla="*/ 125632 w 253686"/>
                <a:gd name="connsiteY4" fmla="*/ -49 h 253691"/>
                <a:gd name="connsiteX5" fmla="*/ -252 w 253686"/>
                <a:gd name="connsiteY5" fmla="*/ 126794 h 25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686" h="253691">
                  <a:moveTo>
                    <a:pt x="-252" y="126794"/>
                  </a:moveTo>
                  <a:cubicBezTo>
                    <a:pt x="-252" y="196858"/>
                    <a:pt x="56551" y="253638"/>
                    <a:pt x="126591" y="253638"/>
                  </a:cubicBezTo>
                  <a:cubicBezTo>
                    <a:pt x="196655" y="253638"/>
                    <a:pt x="253434" y="196834"/>
                    <a:pt x="253434" y="126794"/>
                  </a:cubicBezTo>
                  <a:cubicBezTo>
                    <a:pt x="253434" y="56731"/>
                    <a:pt x="196630" y="-54"/>
                    <a:pt x="126591" y="-54"/>
                  </a:cubicBezTo>
                  <a:cubicBezTo>
                    <a:pt x="126279" y="-54"/>
                    <a:pt x="125943" y="-51"/>
                    <a:pt x="125632" y="-49"/>
                  </a:cubicBezTo>
                  <a:cubicBezTo>
                    <a:pt x="55952" y="479"/>
                    <a:pt x="-252" y="57114"/>
                    <a:pt x="-252" y="126794"/>
                  </a:cubicBezTo>
                  <a:close/>
                </a:path>
              </a:pathLst>
            </a:custGeom>
            <a:gradFill>
              <a:gsLst>
                <a:gs pos="0">
                  <a:srgbClr val="FFFFFF"/>
                </a:gs>
                <a:gs pos="36000">
                  <a:srgbClr val="F4F2F2"/>
                </a:gs>
                <a:gs pos="100000">
                  <a:srgbClr val="D8D2D2"/>
                </a:gs>
              </a:gsLst>
              <a:lin ang="2700054"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1" name="Freeform: Shape 307">
              <a:extLst>
                <a:ext uri="{FF2B5EF4-FFF2-40B4-BE49-F238E27FC236}">
                  <a16:creationId xmlns:a16="http://schemas.microsoft.com/office/drawing/2014/main" id="{D618366F-B80C-2784-FE9B-1AB25257326F}"/>
                </a:ext>
              </a:extLst>
            </p:cNvPr>
            <p:cNvSpPr/>
            <p:nvPr/>
          </p:nvSpPr>
          <p:spPr>
            <a:xfrm>
              <a:off x="2999362" y="2225217"/>
              <a:ext cx="154934" cy="154933"/>
            </a:xfrm>
            <a:custGeom>
              <a:avLst/>
              <a:gdLst>
                <a:gd name="connsiteX0" fmla="*/ 138113 w 138113"/>
                <a:gd name="connsiteY0" fmla="*/ 69056 h 138112"/>
                <a:gd name="connsiteX1" fmla="*/ 69057 w 138113"/>
                <a:gd name="connsiteY1" fmla="*/ 138113 h 138112"/>
                <a:gd name="connsiteX2" fmla="*/ 0 w 138113"/>
                <a:gd name="connsiteY2" fmla="*/ 69056 h 138112"/>
                <a:gd name="connsiteX3" fmla="*/ 69057 w 138113"/>
                <a:gd name="connsiteY3" fmla="*/ 0 h 138112"/>
                <a:gd name="connsiteX4" fmla="*/ 138113 w 138113"/>
                <a:gd name="connsiteY4" fmla="*/ 69056 h 13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13" h="138112">
                  <a:moveTo>
                    <a:pt x="138113" y="69056"/>
                  </a:moveTo>
                  <a:cubicBezTo>
                    <a:pt x="138113" y="107195"/>
                    <a:pt x="107195" y="138113"/>
                    <a:pt x="69057" y="138113"/>
                  </a:cubicBezTo>
                  <a:cubicBezTo>
                    <a:pt x="30918" y="138113"/>
                    <a:pt x="0" y="107195"/>
                    <a:pt x="0" y="69056"/>
                  </a:cubicBezTo>
                  <a:cubicBezTo>
                    <a:pt x="0" y="30918"/>
                    <a:pt x="30918" y="0"/>
                    <a:pt x="69057" y="0"/>
                  </a:cubicBezTo>
                  <a:cubicBezTo>
                    <a:pt x="107196" y="0"/>
                    <a:pt x="138113" y="30918"/>
                    <a:pt x="138113" y="69056"/>
                  </a:cubicBezTo>
                  <a:close/>
                </a:path>
              </a:pathLst>
            </a:custGeom>
            <a:solidFill>
              <a:schemeClr val="accent2"/>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2" name="TextBox 308">
              <a:extLst>
                <a:ext uri="{FF2B5EF4-FFF2-40B4-BE49-F238E27FC236}">
                  <a16:creationId xmlns:a16="http://schemas.microsoft.com/office/drawing/2014/main" id="{0470F34B-BDD0-576C-A4E0-1274965D2162}"/>
                </a:ext>
              </a:extLst>
            </p:cNvPr>
            <p:cNvSpPr txBox="1"/>
            <p:nvPr/>
          </p:nvSpPr>
          <p:spPr>
            <a:xfrm>
              <a:off x="3533209" y="1369624"/>
              <a:ext cx="502344" cy="48209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21" b="1" i="1" spc="0" baseline="0">
                  <a:ln/>
                  <a:latin typeface="Lora" pitchFamily="2" charset="0"/>
                  <a:cs typeface="Arial"/>
                  <a:sym typeface="Arial"/>
                  <a:rtl val="0"/>
                </a:rPr>
                <a:t>01</a:t>
              </a:r>
            </a:p>
          </p:txBody>
        </p:sp>
        <p:sp>
          <p:nvSpPr>
            <p:cNvPr id="23" name="Freeform: Shape 309">
              <a:extLst>
                <a:ext uri="{FF2B5EF4-FFF2-40B4-BE49-F238E27FC236}">
                  <a16:creationId xmlns:a16="http://schemas.microsoft.com/office/drawing/2014/main" id="{E89FFADE-F407-8451-D4CD-35FA805BE8F3}"/>
                </a:ext>
              </a:extLst>
            </p:cNvPr>
            <p:cNvSpPr/>
            <p:nvPr/>
          </p:nvSpPr>
          <p:spPr>
            <a:xfrm>
              <a:off x="3449101" y="2545307"/>
              <a:ext cx="518867" cy="987972"/>
            </a:xfrm>
            <a:custGeom>
              <a:avLst/>
              <a:gdLst>
                <a:gd name="connsiteX0" fmla="*/ 404735 w 462534"/>
                <a:gd name="connsiteY0" fmla="*/ 551439 h 880709"/>
                <a:gd name="connsiteX1" fmla="*/ 57774 w 462534"/>
                <a:gd name="connsiteY1" fmla="*/ -54 h 880709"/>
                <a:gd name="connsiteX2" fmla="*/ -252 w 462534"/>
                <a:gd name="connsiteY2" fmla="*/ 57733 h 880709"/>
                <a:gd name="connsiteX3" fmla="*/ 380518 w 462534"/>
                <a:gd name="connsiteY3" fmla="*/ 880656 h 880709"/>
                <a:gd name="connsiteX4" fmla="*/ 462282 w 462534"/>
                <a:gd name="connsiteY4" fmla="*/ 880656 h 880709"/>
                <a:gd name="connsiteX5" fmla="*/ 404735 w 462534"/>
                <a:gd name="connsiteY5" fmla="*/ 551439 h 88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2534" h="880709">
                  <a:moveTo>
                    <a:pt x="404735" y="551439"/>
                  </a:moveTo>
                  <a:cubicBezTo>
                    <a:pt x="338172" y="340961"/>
                    <a:pt x="218714" y="151079"/>
                    <a:pt x="57774" y="-54"/>
                  </a:cubicBezTo>
                  <a:lnTo>
                    <a:pt x="-252" y="57733"/>
                  </a:lnTo>
                  <a:cubicBezTo>
                    <a:pt x="229360" y="271712"/>
                    <a:pt x="366035" y="567121"/>
                    <a:pt x="380518" y="880656"/>
                  </a:cubicBezTo>
                  <a:lnTo>
                    <a:pt x="462282" y="880656"/>
                  </a:lnTo>
                  <a:cubicBezTo>
                    <a:pt x="457511" y="768871"/>
                    <a:pt x="438160" y="658213"/>
                    <a:pt x="404735" y="551439"/>
                  </a:cubicBezTo>
                  <a:close/>
                </a:path>
              </a:pathLst>
            </a:custGeom>
            <a:gradFill>
              <a:gsLst>
                <a:gs pos="0">
                  <a:srgbClr val="3ADBC7"/>
                </a:gs>
                <a:gs pos="50000">
                  <a:srgbClr val="1FCEB6"/>
                </a:gs>
                <a:gs pos="100000">
                  <a:srgbClr val="05C1A6"/>
                </a:gs>
              </a:gsLst>
              <a:lin ang="13500584"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4" name="Freeform: Shape 310">
              <a:extLst>
                <a:ext uri="{FF2B5EF4-FFF2-40B4-BE49-F238E27FC236}">
                  <a16:creationId xmlns:a16="http://schemas.microsoft.com/office/drawing/2014/main" id="{31384951-0BF6-D811-903D-6F73BE0519B9}"/>
                </a:ext>
              </a:extLst>
            </p:cNvPr>
            <p:cNvSpPr/>
            <p:nvPr/>
          </p:nvSpPr>
          <p:spPr>
            <a:xfrm>
              <a:off x="4788902" y="2359440"/>
              <a:ext cx="5317971" cy="1054411"/>
            </a:xfrm>
            <a:custGeom>
              <a:avLst/>
              <a:gdLst>
                <a:gd name="connsiteX0" fmla="*/ 2200684 w 2670903"/>
                <a:gd name="connsiteY0" fmla="*/ -54 h 939935"/>
                <a:gd name="connsiteX1" fmla="*/ -252 w 2670903"/>
                <a:gd name="connsiteY1" fmla="*/ -54 h 939935"/>
                <a:gd name="connsiteX2" fmla="*/ -252 w 2670903"/>
                <a:gd name="connsiteY2" fmla="*/ 939882 h 939935"/>
                <a:gd name="connsiteX3" fmla="*/ 2200684 w 2670903"/>
                <a:gd name="connsiteY3" fmla="*/ 939882 h 939935"/>
                <a:gd name="connsiteX4" fmla="*/ 2670651 w 2670903"/>
                <a:gd name="connsiteY4" fmla="*/ 469914 h 939935"/>
                <a:gd name="connsiteX5" fmla="*/ 2670651 w 2670903"/>
                <a:gd name="connsiteY5" fmla="*/ 469914 h 939935"/>
                <a:gd name="connsiteX6" fmla="*/ 2201163 w 2670903"/>
                <a:gd name="connsiteY6" fmla="*/ -54 h 939935"/>
                <a:gd name="connsiteX7" fmla="*/ 2200684 w 2670903"/>
                <a:gd name="connsiteY7" fmla="*/ -54 h 93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903" h="939935">
                  <a:moveTo>
                    <a:pt x="2200684" y="-54"/>
                  </a:moveTo>
                  <a:lnTo>
                    <a:pt x="-252" y="-54"/>
                  </a:lnTo>
                  <a:lnTo>
                    <a:pt x="-252" y="939882"/>
                  </a:lnTo>
                  <a:lnTo>
                    <a:pt x="2200684" y="939882"/>
                  </a:lnTo>
                  <a:cubicBezTo>
                    <a:pt x="2460245" y="939882"/>
                    <a:pt x="2670651" y="729475"/>
                    <a:pt x="2670651" y="469914"/>
                  </a:cubicBezTo>
                  <a:lnTo>
                    <a:pt x="2670651" y="469914"/>
                  </a:lnTo>
                  <a:cubicBezTo>
                    <a:pt x="2670796" y="210497"/>
                    <a:pt x="2460581" y="90"/>
                    <a:pt x="2201163" y="-54"/>
                  </a:cubicBezTo>
                  <a:cubicBezTo>
                    <a:pt x="2200996" y="-54"/>
                    <a:pt x="2200852" y="-54"/>
                    <a:pt x="2200684" y="-54"/>
                  </a:cubicBezTo>
                  <a:close/>
                </a:path>
              </a:pathLst>
            </a:custGeom>
            <a:gradFill>
              <a:gsLst>
                <a:gs pos="0">
                  <a:srgbClr val="3ADBC7"/>
                </a:gs>
                <a:gs pos="50000">
                  <a:srgbClr val="1FCEB6"/>
                </a:gs>
                <a:gs pos="100000">
                  <a:srgbClr val="05C1A6"/>
                </a:gs>
              </a:gsLst>
              <a:lin ang="0"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Shape 332">
              <a:extLst>
                <a:ext uri="{FF2B5EF4-FFF2-40B4-BE49-F238E27FC236}">
                  <a16:creationId xmlns:a16="http://schemas.microsoft.com/office/drawing/2014/main" id="{FD02028F-3248-8740-ACE3-400DC9D2F196}"/>
                </a:ext>
              </a:extLst>
            </p:cNvPr>
            <p:cNvSpPr/>
            <p:nvPr/>
          </p:nvSpPr>
          <p:spPr>
            <a:xfrm>
              <a:off x="3779580" y="2231420"/>
              <a:ext cx="1698174" cy="1308933"/>
            </a:xfrm>
            <a:custGeom>
              <a:avLst/>
              <a:gdLst>
                <a:gd name="connsiteX0" fmla="*/ 1429642 w 1513805"/>
                <a:gd name="connsiteY0" fmla="*/ 380701 h 1166824"/>
                <a:gd name="connsiteX1" fmla="*/ 1133515 w 1513805"/>
                <a:gd name="connsiteY1" fmla="*/ 84574 h 1166824"/>
                <a:gd name="connsiteX2" fmla="*/ 726585 w 1513805"/>
                <a:gd name="connsiteY2" fmla="*/ 83878 h 1166824"/>
                <a:gd name="connsiteX3" fmla="*/ 725889 w 1513805"/>
                <a:gd name="connsiteY3" fmla="*/ 84574 h 1166824"/>
                <a:gd name="connsiteX4" fmla="*/ 433358 w 1513805"/>
                <a:gd name="connsiteY4" fmla="*/ 378064 h 1166824"/>
                <a:gd name="connsiteX5" fmla="*/ 433358 w 1513805"/>
                <a:gd name="connsiteY5" fmla="*/ 375426 h 1166824"/>
                <a:gd name="connsiteX6" fmla="*/ 433358 w 1513805"/>
                <a:gd name="connsiteY6" fmla="*/ 379023 h 1166824"/>
                <a:gd name="connsiteX7" fmla="*/ 431679 w 1513805"/>
                <a:gd name="connsiteY7" fmla="*/ 380701 h 1166824"/>
                <a:gd name="connsiteX8" fmla="*/ 426404 w 1513805"/>
                <a:gd name="connsiteY8" fmla="*/ 386456 h 1166824"/>
                <a:gd name="connsiteX9" fmla="*/ 48032 w 1513805"/>
                <a:gd name="connsiteY9" fmla="*/ 514978 h 1166824"/>
                <a:gd name="connsiteX10" fmla="*/ 1899 w 1513805"/>
                <a:gd name="connsiteY10" fmla="*/ 594057 h 1166824"/>
                <a:gd name="connsiteX11" fmla="*/ 46114 w 1513805"/>
                <a:gd name="connsiteY11" fmla="*/ 639663 h 1166824"/>
                <a:gd name="connsiteX12" fmla="*/ 425206 w 1513805"/>
                <a:gd name="connsiteY12" fmla="*/ 780174 h 1166824"/>
                <a:gd name="connsiteX13" fmla="*/ 431679 w 1513805"/>
                <a:gd name="connsiteY13" fmla="*/ 787367 h 1166824"/>
                <a:gd name="connsiteX14" fmla="*/ 432879 w 1513805"/>
                <a:gd name="connsiteY14" fmla="*/ 788566 h 1166824"/>
                <a:gd name="connsiteX15" fmla="*/ 432879 w 1513805"/>
                <a:gd name="connsiteY15" fmla="*/ 788566 h 1166824"/>
                <a:gd name="connsiteX16" fmla="*/ 432879 w 1513805"/>
                <a:gd name="connsiteY16" fmla="*/ 791923 h 1166824"/>
                <a:gd name="connsiteX17" fmla="*/ 432879 w 1513805"/>
                <a:gd name="connsiteY17" fmla="*/ 789525 h 1166824"/>
                <a:gd name="connsiteX18" fmla="*/ 726848 w 1513805"/>
                <a:gd name="connsiteY18" fmla="*/ 1083016 h 1166824"/>
                <a:gd name="connsiteX19" fmla="*/ 791589 w 1513805"/>
                <a:gd name="connsiteY19" fmla="*/ 1130972 h 1166824"/>
                <a:gd name="connsiteX20" fmla="*/ 1133515 w 1513805"/>
                <a:gd name="connsiteY20" fmla="*/ 1083016 h 1166824"/>
                <a:gd name="connsiteX21" fmla="*/ 1429642 w 1513805"/>
                <a:gd name="connsiteY21" fmla="*/ 786888 h 1166824"/>
                <a:gd name="connsiteX22" fmla="*/ 1429642 w 1513805"/>
                <a:gd name="connsiteY22" fmla="*/ 380701 h 116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13805" h="1166824">
                  <a:moveTo>
                    <a:pt x="1429642" y="380701"/>
                  </a:moveTo>
                  <a:lnTo>
                    <a:pt x="1133515" y="84574"/>
                  </a:lnTo>
                  <a:cubicBezTo>
                    <a:pt x="1021345" y="-27979"/>
                    <a:pt x="839161" y="-28314"/>
                    <a:pt x="726585" y="83878"/>
                  </a:cubicBezTo>
                  <a:cubicBezTo>
                    <a:pt x="726369" y="84094"/>
                    <a:pt x="726129" y="84334"/>
                    <a:pt x="725889" y="84574"/>
                  </a:cubicBezTo>
                  <a:lnTo>
                    <a:pt x="433358" y="378064"/>
                  </a:lnTo>
                  <a:lnTo>
                    <a:pt x="433358" y="375426"/>
                  </a:lnTo>
                  <a:cubicBezTo>
                    <a:pt x="433574" y="376625"/>
                    <a:pt x="433574" y="377824"/>
                    <a:pt x="433358" y="379023"/>
                  </a:cubicBezTo>
                  <a:lnTo>
                    <a:pt x="431679" y="380701"/>
                  </a:lnTo>
                  <a:lnTo>
                    <a:pt x="426404" y="386456"/>
                  </a:lnTo>
                  <a:cubicBezTo>
                    <a:pt x="380846" y="422903"/>
                    <a:pt x="149459" y="487883"/>
                    <a:pt x="48032" y="514978"/>
                  </a:cubicBezTo>
                  <a:cubicBezTo>
                    <a:pt x="13456" y="524066"/>
                    <a:pt x="-7213" y="559481"/>
                    <a:pt x="1899" y="594057"/>
                  </a:cubicBezTo>
                  <a:cubicBezTo>
                    <a:pt x="7653" y="615949"/>
                    <a:pt x="24414" y="633237"/>
                    <a:pt x="46114" y="639663"/>
                  </a:cubicBezTo>
                  <a:cubicBezTo>
                    <a:pt x="145863" y="669636"/>
                    <a:pt x="376530" y="741809"/>
                    <a:pt x="425206" y="780174"/>
                  </a:cubicBezTo>
                  <a:cubicBezTo>
                    <a:pt x="427364" y="782572"/>
                    <a:pt x="429281" y="784970"/>
                    <a:pt x="431679" y="787367"/>
                  </a:cubicBezTo>
                  <a:lnTo>
                    <a:pt x="432879" y="788566"/>
                  </a:lnTo>
                  <a:lnTo>
                    <a:pt x="432879" y="788566"/>
                  </a:lnTo>
                  <a:cubicBezTo>
                    <a:pt x="433095" y="789670"/>
                    <a:pt x="433095" y="790820"/>
                    <a:pt x="432879" y="791923"/>
                  </a:cubicBezTo>
                  <a:lnTo>
                    <a:pt x="432879" y="789525"/>
                  </a:lnTo>
                  <a:lnTo>
                    <a:pt x="726848" y="1083016"/>
                  </a:lnTo>
                  <a:cubicBezTo>
                    <a:pt x="726848" y="1083016"/>
                    <a:pt x="755862" y="1102198"/>
                    <a:pt x="791589" y="1130972"/>
                  </a:cubicBezTo>
                  <a:cubicBezTo>
                    <a:pt x="903565" y="1192739"/>
                    <a:pt x="1042854" y="1173197"/>
                    <a:pt x="1133515" y="1083016"/>
                  </a:cubicBezTo>
                  <a:lnTo>
                    <a:pt x="1429642" y="786888"/>
                  </a:lnTo>
                  <a:cubicBezTo>
                    <a:pt x="1541523" y="674599"/>
                    <a:pt x="1541523" y="492990"/>
                    <a:pt x="1429642" y="380701"/>
                  </a:cubicBezTo>
                  <a:close/>
                </a:path>
              </a:pathLst>
            </a:custGeom>
            <a:gradFill>
              <a:gsLst>
                <a:gs pos="0">
                  <a:srgbClr val="3ADBC7"/>
                </a:gs>
                <a:gs pos="50000">
                  <a:srgbClr val="1FCEB6"/>
                </a:gs>
                <a:gs pos="100000">
                  <a:srgbClr val="05C1A6"/>
                </a:gs>
              </a:gsLst>
              <a:lin ang="0"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6" name="Freeform: Shape 333">
              <a:extLst>
                <a:ext uri="{FF2B5EF4-FFF2-40B4-BE49-F238E27FC236}">
                  <a16:creationId xmlns:a16="http://schemas.microsoft.com/office/drawing/2014/main" id="{138140E2-C442-5789-1DB3-74ABBFB8241D}"/>
                </a:ext>
              </a:extLst>
            </p:cNvPr>
            <p:cNvSpPr/>
            <p:nvPr/>
          </p:nvSpPr>
          <p:spPr>
            <a:xfrm>
              <a:off x="4397648" y="2446704"/>
              <a:ext cx="879624" cy="879634"/>
            </a:xfrm>
            <a:custGeom>
              <a:avLst/>
              <a:gdLst>
                <a:gd name="connsiteX0" fmla="*/ 255250 w 784124"/>
                <a:gd name="connsiteY0" fmla="*/ 727096 h 784133"/>
                <a:gd name="connsiteX1" fmla="*/ 255250 w 784124"/>
                <a:gd name="connsiteY1" fmla="*/ 727096 h 784133"/>
                <a:gd name="connsiteX2" fmla="*/ 526513 w 784124"/>
                <a:gd name="connsiteY2" fmla="*/ 728678 h 784133"/>
                <a:gd name="connsiteX3" fmla="*/ 528119 w 784124"/>
                <a:gd name="connsiteY3" fmla="*/ 727096 h 784133"/>
                <a:gd name="connsiteX4" fmla="*/ 726897 w 784124"/>
                <a:gd name="connsiteY4" fmla="*/ 528318 h 784133"/>
                <a:gd name="connsiteX5" fmla="*/ 728480 w 784124"/>
                <a:gd name="connsiteY5" fmla="*/ 257032 h 784133"/>
                <a:gd name="connsiteX6" fmla="*/ 726897 w 784124"/>
                <a:gd name="connsiteY6" fmla="*/ 255449 h 784133"/>
                <a:gd name="connsiteX7" fmla="*/ 528119 w 784124"/>
                <a:gd name="connsiteY7" fmla="*/ 56432 h 784133"/>
                <a:gd name="connsiteX8" fmla="*/ 255250 w 784124"/>
                <a:gd name="connsiteY8" fmla="*/ 56432 h 784133"/>
                <a:gd name="connsiteX9" fmla="*/ 56233 w 784124"/>
                <a:gd name="connsiteY9" fmla="*/ 255449 h 784133"/>
                <a:gd name="connsiteX10" fmla="*/ 56233 w 784124"/>
                <a:gd name="connsiteY10" fmla="*/ 528318 h 784133"/>
                <a:gd name="connsiteX11" fmla="*/ 56233 w 784124"/>
                <a:gd name="connsiteY11" fmla="*/ 528318 h 78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4124" h="784133">
                  <a:moveTo>
                    <a:pt x="255250" y="727096"/>
                  </a:moveTo>
                  <a:lnTo>
                    <a:pt x="255250" y="727096"/>
                  </a:lnTo>
                  <a:cubicBezTo>
                    <a:pt x="329726" y="802458"/>
                    <a:pt x="451175" y="803153"/>
                    <a:pt x="526513" y="728678"/>
                  </a:cubicBezTo>
                  <a:cubicBezTo>
                    <a:pt x="527064" y="728150"/>
                    <a:pt x="527592" y="727623"/>
                    <a:pt x="528119" y="727096"/>
                  </a:cubicBezTo>
                  <a:lnTo>
                    <a:pt x="726897" y="528318"/>
                  </a:lnTo>
                  <a:cubicBezTo>
                    <a:pt x="802236" y="453843"/>
                    <a:pt x="802955" y="332394"/>
                    <a:pt x="728480" y="257032"/>
                  </a:cubicBezTo>
                  <a:cubicBezTo>
                    <a:pt x="727952" y="256504"/>
                    <a:pt x="727424" y="255977"/>
                    <a:pt x="726897" y="255449"/>
                  </a:cubicBezTo>
                  <a:lnTo>
                    <a:pt x="528119" y="56432"/>
                  </a:lnTo>
                  <a:cubicBezTo>
                    <a:pt x="452757" y="-18883"/>
                    <a:pt x="330613" y="-18883"/>
                    <a:pt x="255250" y="56432"/>
                  </a:cubicBezTo>
                  <a:lnTo>
                    <a:pt x="56233" y="255449"/>
                  </a:lnTo>
                  <a:cubicBezTo>
                    <a:pt x="-19081" y="330812"/>
                    <a:pt x="-19081" y="452956"/>
                    <a:pt x="56233" y="528318"/>
                  </a:cubicBezTo>
                  <a:lnTo>
                    <a:pt x="56233" y="528318"/>
                  </a:lnTo>
                  <a:close/>
                </a:path>
              </a:pathLst>
            </a:custGeom>
            <a:gradFill>
              <a:gsLst>
                <a:gs pos="0">
                  <a:srgbClr val="FFFFFF"/>
                </a:gs>
                <a:gs pos="36000">
                  <a:srgbClr val="F4F2F2"/>
                </a:gs>
                <a:gs pos="100000">
                  <a:srgbClr val="D8D2D2"/>
                </a:gs>
              </a:gsLst>
              <a:lin ang="14045999"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7" name="TextBox 334">
              <a:extLst>
                <a:ext uri="{FF2B5EF4-FFF2-40B4-BE49-F238E27FC236}">
                  <a16:creationId xmlns:a16="http://schemas.microsoft.com/office/drawing/2014/main" id="{AEF5C50B-A3FC-FAA2-D659-FD15D4F4609D}"/>
                </a:ext>
              </a:extLst>
            </p:cNvPr>
            <p:cNvSpPr txBox="1"/>
            <p:nvPr/>
          </p:nvSpPr>
          <p:spPr>
            <a:xfrm>
              <a:off x="4570956" y="2660743"/>
              <a:ext cx="543952" cy="48209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21" b="1" i="1" spc="0" baseline="0">
                  <a:ln/>
                  <a:latin typeface="Lora" pitchFamily="2" charset="0"/>
                  <a:cs typeface="Arial"/>
                  <a:sym typeface="Arial"/>
                  <a:rtl val="0"/>
                </a:rPr>
                <a:t>02</a:t>
              </a:r>
            </a:p>
          </p:txBody>
        </p:sp>
        <p:sp>
          <p:nvSpPr>
            <p:cNvPr id="28" name="Freeform: Shape 336">
              <a:extLst>
                <a:ext uri="{FF2B5EF4-FFF2-40B4-BE49-F238E27FC236}">
                  <a16:creationId xmlns:a16="http://schemas.microsoft.com/office/drawing/2014/main" id="{98E6EE0D-2930-3AB6-6F1E-93E0BEF39ADA}"/>
                </a:ext>
              </a:extLst>
            </p:cNvPr>
            <p:cNvSpPr/>
            <p:nvPr/>
          </p:nvSpPr>
          <p:spPr>
            <a:xfrm>
              <a:off x="3641961" y="2718262"/>
              <a:ext cx="284584" cy="284583"/>
            </a:xfrm>
            <a:custGeom>
              <a:avLst/>
              <a:gdLst>
                <a:gd name="connsiteX0" fmla="*/ -252 w 253687"/>
                <a:gd name="connsiteY0" fmla="*/ 126790 h 253686"/>
                <a:gd name="connsiteX1" fmla="*/ 126591 w 253687"/>
                <a:gd name="connsiteY1" fmla="*/ 253633 h 253686"/>
                <a:gd name="connsiteX2" fmla="*/ 253435 w 253687"/>
                <a:gd name="connsiteY2" fmla="*/ 126790 h 253686"/>
                <a:gd name="connsiteX3" fmla="*/ 126591 w 253687"/>
                <a:gd name="connsiteY3" fmla="*/ -54 h 253686"/>
                <a:gd name="connsiteX4" fmla="*/ -252 w 253687"/>
                <a:gd name="connsiteY4" fmla="*/ 126790 h 253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87" h="253686">
                  <a:moveTo>
                    <a:pt x="-252" y="126790"/>
                  </a:moveTo>
                  <a:cubicBezTo>
                    <a:pt x="-252" y="196853"/>
                    <a:pt x="56528" y="253633"/>
                    <a:pt x="126591" y="253633"/>
                  </a:cubicBezTo>
                  <a:cubicBezTo>
                    <a:pt x="196655" y="253633"/>
                    <a:pt x="253435" y="196853"/>
                    <a:pt x="253435" y="126790"/>
                  </a:cubicBezTo>
                  <a:cubicBezTo>
                    <a:pt x="253435" y="56726"/>
                    <a:pt x="196655" y="-54"/>
                    <a:pt x="126591" y="-54"/>
                  </a:cubicBezTo>
                  <a:cubicBezTo>
                    <a:pt x="56528" y="-54"/>
                    <a:pt x="-252" y="56726"/>
                    <a:pt x="-252" y="126790"/>
                  </a:cubicBezTo>
                  <a:close/>
                </a:path>
              </a:pathLst>
            </a:custGeom>
            <a:gradFill>
              <a:gsLst>
                <a:gs pos="0">
                  <a:srgbClr val="FFFFFF"/>
                </a:gs>
                <a:gs pos="36000">
                  <a:srgbClr val="F4F2F2"/>
                </a:gs>
                <a:gs pos="100000">
                  <a:srgbClr val="D8D2D2"/>
                </a:gs>
              </a:gsLst>
              <a:lin ang="2700000"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29" name="Freeform: Shape 337">
              <a:extLst>
                <a:ext uri="{FF2B5EF4-FFF2-40B4-BE49-F238E27FC236}">
                  <a16:creationId xmlns:a16="http://schemas.microsoft.com/office/drawing/2014/main" id="{D58DC24F-0B07-84C2-B786-7864AAE3F4A7}"/>
                </a:ext>
              </a:extLst>
            </p:cNvPr>
            <p:cNvSpPr/>
            <p:nvPr/>
          </p:nvSpPr>
          <p:spPr>
            <a:xfrm>
              <a:off x="3706786" y="2783087"/>
              <a:ext cx="154934" cy="154934"/>
            </a:xfrm>
            <a:custGeom>
              <a:avLst/>
              <a:gdLst>
                <a:gd name="connsiteX0" fmla="*/ -252 w 138113"/>
                <a:gd name="connsiteY0" fmla="*/ 69003 h 138113"/>
                <a:gd name="connsiteX1" fmla="*/ 68804 w 138113"/>
                <a:gd name="connsiteY1" fmla="*/ 138059 h 138113"/>
                <a:gd name="connsiteX2" fmla="*/ 137861 w 138113"/>
                <a:gd name="connsiteY2" fmla="*/ 69003 h 138113"/>
                <a:gd name="connsiteX3" fmla="*/ 68804 w 138113"/>
                <a:gd name="connsiteY3" fmla="*/ -54 h 138113"/>
                <a:gd name="connsiteX4" fmla="*/ -252 w 138113"/>
                <a:gd name="connsiteY4" fmla="*/ 69003 h 1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13" h="138113">
                  <a:moveTo>
                    <a:pt x="-252" y="69003"/>
                  </a:moveTo>
                  <a:cubicBezTo>
                    <a:pt x="-252" y="107152"/>
                    <a:pt x="30655" y="138059"/>
                    <a:pt x="68804" y="138059"/>
                  </a:cubicBezTo>
                  <a:cubicBezTo>
                    <a:pt x="106953" y="138059"/>
                    <a:pt x="137861" y="107152"/>
                    <a:pt x="137861" y="69003"/>
                  </a:cubicBezTo>
                  <a:cubicBezTo>
                    <a:pt x="137861" y="30854"/>
                    <a:pt x="106953" y="-54"/>
                    <a:pt x="68804" y="-54"/>
                  </a:cubicBezTo>
                  <a:cubicBezTo>
                    <a:pt x="30655" y="-54"/>
                    <a:pt x="-252" y="30854"/>
                    <a:pt x="-252" y="69003"/>
                  </a:cubicBezTo>
                  <a:close/>
                </a:path>
              </a:pathLst>
            </a:custGeom>
            <a:solidFill>
              <a:schemeClr val="accent1"/>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0" name="Freeform: Shape 338">
              <a:extLst>
                <a:ext uri="{FF2B5EF4-FFF2-40B4-BE49-F238E27FC236}">
                  <a16:creationId xmlns:a16="http://schemas.microsoft.com/office/drawing/2014/main" id="{7AE9EF27-5359-5CA6-18C4-271554B26622}"/>
                </a:ext>
              </a:extLst>
            </p:cNvPr>
            <p:cNvSpPr/>
            <p:nvPr/>
          </p:nvSpPr>
          <p:spPr>
            <a:xfrm>
              <a:off x="3512849" y="3533010"/>
              <a:ext cx="456733" cy="1051990"/>
            </a:xfrm>
            <a:custGeom>
              <a:avLst/>
              <a:gdLst>
                <a:gd name="connsiteX0" fmla="*/ 405455 w 407146"/>
                <a:gd name="connsiteY0" fmla="*/ -54 h 937777"/>
                <a:gd name="connsiteX1" fmla="*/ 323690 w 407146"/>
                <a:gd name="connsiteY1" fmla="*/ -54 h 937777"/>
                <a:gd name="connsiteX2" fmla="*/ 325129 w 407146"/>
                <a:gd name="connsiteY2" fmla="*/ 56774 h 937777"/>
                <a:gd name="connsiteX3" fmla="*/ 297074 w 407146"/>
                <a:gd name="connsiteY3" fmla="*/ 315256 h 937777"/>
                <a:gd name="connsiteX4" fmla="*/ -252 w 407146"/>
                <a:gd name="connsiteY4" fmla="*/ 879937 h 937777"/>
                <a:gd name="connsiteX5" fmla="*/ 57774 w 407146"/>
                <a:gd name="connsiteY5" fmla="*/ 937724 h 937777"/>
                <a:gd name="connsiteX6" fmla="*/ 406893 w 407146"/>
                <a:gd name="connsiteY6" fmla="*/ 56774 h 937777"/>
                <a:gd name="connsiteX7" fmla="*/ 405455 w 407146"/>
                <a:gd name="connsiteY7" fmla="*/ -54 h 937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146" h="937777">
                  <a:moveTo>
                    <a:pt x="405455" y="-54"/>
                  </a:moveTo>
                  <a:lnTo>
                    <a:pt x="323690" y="-54"/>
                  </a:lnTo>
                  <a:cubicBezTo>
                    <a:pt x="323690" y="18889"/>
                    <a:pt x="325129" y="37831"/>
                    <a:pt x="325129" y="56774"/>
                  </a:cubicBezTo>
                  <a:cubicBezTo>
                    <a:pt x="325009" y="143694"/>
                    <a:pt x="315585" y="230350"/>
                    <a:pt x="297074" y="315256"/>
                  </a:cubicBezTo>
                  <a:cubicBezTo>
                    <a:pt x="250533" y="526790"/>
                    <a:pt x="147811" y="721850"/>
                    <a:pt x="-252" y="879937"/>
                  </a:cubicBezTo>
                  <a:lnTo>
                    <a:pt x="57774" y="937724"/>
                  </a:lnTo>
                  <a:cubicBezTo>
                    <a:pt x="282184" y="699311"/>
                    <a:pt x="407061" y="384193"/>
                    <a:pt x="406893" y="56774"/>
                  </a:cubicBezTo>
                  <a:cubicBezTo>
                    <a:pt x="406893" y="37903"/>
                    <a:pt x="406413" y="18961"/>
                    <a:pt x="405455" y="-54"/>
                  </a:cubicBezTo>
                  <a:close/>
                </a:path>
              </a:pathLst>
            </a:custGeom>
            <a:solidFill>
              <a:schemeClr val="accent5"/>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1" name="Freeform: Shape 339">
              <a:extLst>
                <a:ext uri="{FF2B5EF4-FFF2-40B4-BE49-F238E27FC236}">
                  <a16:creationId xmlns:a16="http://schemas.microsoft.com/office/drawing/2014/main" id="{C06DE87B-2F4F-7AAB-C428-3D7CFD7552E6}"/>
                </a:ext>
              </a:extLst>
            </p:cNvPr>
            <p:cNvSpPr/>
            <p:nvPr/>
          </p:nvSpPr>
          <p:spPr>
            <a:xfrm>
              <a:off x="4788903" y="3774826"/>
              <a:ext cx="5451753" cy="1054411"/>
            </a:xfrm>
            <a:custGeom>
              <a:avLst/>
              <a:gdLst>
                <a:gd name="connsiteX0" fmla="*/ 2200684 w 2670903"/>
                <a:gd name="connsiteY0" fmla="*/ -54 h 939935"/>
                <a:gd name="connsiteX1" fmla="*/ -252 w 2670903"/>
                <a:gd name="connsiteY1" fmla="*/ -54 h 939935"/>
                <a:gd name="connsiteX2" fmla="*/ -252 w 2670903"/>
                <a:gd name="connsiteY2" fmla="*/ 939882 h 939935"/>
                <a:gd name="connsiteX3" fmla="*/ 2200684 w 2670903"/>
                <a:gd name="connsiteY3" fmla="*/ 939882 h 939935"/>
                <a:gd name="connsiteX4" fmla="*/ 2670651 w 2670903"/>
                <a:gd name="connsiteY4" fmla="*/ 470393 h 939935"/>
                <a:gd name="connsiteX5" fmla="*/ 2670651 w 2670903"/>
                <a:gd name="connsiteY5" fmla="*/ 469914 h 939935"/>
                <a:gd name="connsiteX6" fmla="*/ 2670651 w 2670903"/>
                <a:gd name="connsiteY6" fmla="*/ 469914 h 939935"/>
                <a:gd name="connsiteX7" fmla="*/ 2201163 w 2670903"/>
                <a:gd name="connsiteY7" fmla="*/ -54 h 939935"/>
                <a:gd name="connsiteX8" fmla="*/ 2200684 w 2670903"/>
                <a:gd name="connsiteY8" fmla="*/ -54 h 93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0903" h="939935">
                  <a:moveTo>
                    <a:pt x="2200684" y="-54"/>
                  </a:moveTo>
                  <a:lnTo>
                    <a:pt x="-252" y="-54"/>
                  </a:lnTo>
                  <a:lnTo>
                    <a:pt x="-252" y="939882"/>
                  </a:lnTo>
                  <a:lnTo>
                    <a:pt x="2200684" y="939882"/>
                  </a:lnTo>
                  <a:cubicBezTo>
                    <a:pt x="2460102" y="940026"/>
                    <a:pt x="2670508" y="729811"/>
                    <a:pt x="2670651" y="470393"/>
                  </a:cubicBezTo>
                  <a:cubicBezTo>
                    <a:pt x="2670651" y="470225"/>
                    <a:pt x="2670651" y="470082"/>
                    <a:pt x="2670651" y="469914"/>
                  </a:cubicBezTo>
                  <a:lnTo>
                    <a:pt x="2670651" y="469914"/>
                  </a:lnTo>
                  <a:cubicBezTo>
                    <a:pt x="2670796" y="210496"/>
                    <a:pt x="2460581" y="90"/>
                    <a:pt x="2201163" y="-54"/>
                  </a:cubicBezTo>
                  <a:cubicBezTo>
                    <a:pt x="2200996" y="-54"/>
                    <a:pt x="2200852" y="-54"/>
                    <a:pt x="2200684" y="-54"/>
                  </a:cubicBezTo>
                  <a:close/>
                </a:path>
              </a:pathLst>
            </a:custGeom>
            <a:solidFill>
              <a:schemeClr val="accent5"/>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61">
              <a:extLst>
                <a:ext uri="{FF2B5EF4-FFF2-40B4-BE49-F238E27FC236}">
                  <a16:creationId xmlns:a16="http://schemas.microsoft.com/office/drawing/2014/main" id="{757113EE-1D4F-925D-4C08-D2D2D3FA3DE8}"/>
                </a:ext>
              </a:extLst>
            </p:cNvPr>
            <p:cNvSpPr/>
            <p:nvPr/>
          </p:nvSpPr>
          <p:spPr>
            <a:xfrm>
              <a:off x="3778504" y="3647344"/>
              <a:ext cx="1698575" cy="1308933"/>
            </a:xfrm>
            <a:custGeom>
              <a:avLst/>
              <a:gdLst>
                <a:gd name="connsiteX0" fmla="*/ 1430601 w 1514163"/>
                <a:gd name="connsiteY0" fmla="*/ 380222 h 1166824"/>
                <a:gd name="connsiteX1" fmla="*/ 1134474 w 1514163"/>
                <a:gd name="connsiteY1" fmla="*/ 84574 h 1166824"/>
                <a:gd name="connsiteX2" fmla="*/ 727544 w 1514163"/>
                <a:gd name="connsiteY2" fmla="*/ 83878 h 1166824"/>
                <a:gd name="connsiteX3" fmla="*/ 726849 w 1514163"/>
                <a:gd name="connsiteY3" fmla="*/ 84574 h 1166824"/>
                <a:gd name="connsiteX4" fmla="*/ 433358 w 1514163"/>
                <a:gd name="connsiteY4" fmla="*/ 378064 h 1166824"/>
                <a:gd name="connsiteX5" fmla="*/ 433358 w 1514163"/>
                <a:gd name="connsiteY5" fmla="*/ 375426 h 1166824"/>
                <a:gd name="connsiteX6" fmla="*/ 433358 w 1514163"/>
                <a:gd name="connsiteY6" fmla="*/ 379023 h 1166824"/>
                <a:gd name="connsiteX7" fmla="*/ 431680 w 1514163"/>
                <a:gd name="connsiteY7" fmla="*/ 380702 h 1166824"/>
                <a:gd name="connsiteX8" fmla="*/ 426405 w 1514163"/>
                <a:gd name="connsiteY8" fmla="*/ 386456 h 1166824"/>
                <a:gd name="connsiteX9" fmla="*/ 48033 w 1514163"/>
                <a:gd name="connsiteY9" fmla="*/ 514978 h 1166824"/>
                <a:gd name="connsiteX10" fmla="*/ 1899 w 1514163"/>
                <a:gd name="connsiteY10" fmla="*/ 594057 h 1166824"/>
                <a:gd name="connsiteX11" fmla="*/ 46114 w 1514163"/>
                <a:gd name="connsiteY11" fmla="*/ 639663 h 1166824"/>
                <a:gd name="connsiteX12" fmla="*/ 425206 w 1514163"/>
                <a:gd name="connsiteY12" fmla="*/ 780174 h 1166824"/>
                <a:gd name="connsiteX13" fmla="*/ 431680 w 1514163"/>
                <a:gd name="connsiteY13" fmla="*/ 787367 h 1166824"/>
                <a:gd name="connsiteX14" fmla="*/ 432879 w 1514163"/>
                <a:gd name="connsiteY14" fmla="*/ 788566 h 1166824"/>
                <a:gd name="connsiteX15" fmla="*/ 432879 w 1514163"/>
                <a:gd name="connsiteY15" fmla="*/ 788566 h 1166824"/>
                <a:gd name="connsiteX16" fmla="*/ 432879 w 1514163"/>
                <a:gd name="connsiteY16" fmla="*/ 791923 h 1166824"/>
                <a:gd name="connsiteX17" fmla="*/ 432879 w 1514163"/>
                <a:gd name="connsiteY17" fmla="*/ 789525 h 1166824"/>
                <a:gd name="connsiteX18" fmla="*/ 726369 w 1514163"/>
                <a:gd name="connsiteY18" fmla="*/ 1083016 h 1166824"/>
                <a:gd name="connsiteX19" fmla="*/ 791109 w 1514163"/>
                <a:gd name="connsiteY19" fmla="*/ 1130971 h 1166824"/>
                <a:gd name="connsiteX20" fmla="*/ 1133035 w 1514163"/>
                <a:gd name="connsiteY20" fmla="*/ 1083016 h 1166824"/>
                <a:gd name="connsiteX21" fmla="*/ 1429162 w 1514163"/>
                <a:gd name="connsiteY21" fmla="*/ 786648 h 1166824"/>
                <a:gd name="connsiteX22" fmla="*/ 1430601 w 1514163"/>
                <a:gd name="connsiteY22" fmla="*/ 380222 h 116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14163" h="1166824">
                  <a:moveTo>
                    <a:pt x="1430601" y="380222"/>
                  </a:moveTo>
                  <a:lnTo>
                    <a:pt x="1134474" y="84574"/>
                  </a:lnTo>
                  <a:cubicBezTo>
                    <a:pt x="1022305" y="-27979"/>
                    <a:pt x="840121" y="-28314"/>
                    <a:pt x="727544" y="83878"/>
                  </a:cubicBezTo>
                  <a:cubicBezTo>
                    <a:pt x="727328" y="84094"/>
                    <a:pt x="727088" y="84334"/>
                    <a:pt x="726849" y="84574"/>
                  </a:cubicBezTo>
                  <a:lnTo>
                    <a:pt x="433358" y="378064"/>
                  </a:lnTo>
                  <a:lnTo>
                    <a:pt x="433358" y="375426"/>
                  </a:lnTo>
                  <a:cubicBezTo>
                    <a:pt x="433574" y="376625"/>
                    <a:pt x="433574" y="377824"/>
                    <a:pt x="433358" y="379023"/>
                  </a:cubicBezTo>
                  <a:lnTo>
                    <a:pt x="431680" y="380702"/>
                  </a:lnTo>
                  <a:lnTo>
                    <a:pt x="426405" y="386456"/>
                  </a:lnTo>
                  <a:cubicBezTo>
                    <a:pt x="380846" y="422903"/>
                    <a:pt x="149459" y="487883"/>
                    <a:pt x="48033" y="514978"/>
                  </a:cubicBezTo>
                  <a:cubicBezTo>
                    <a:pt x="13456" y="524065"/>
                    <a:pt x="-7213" y="559481"/>
                    <a:pt x="1899" y="594057"/>
                  </a:cubicBezTo>
                  <a:cubicBezTo>
                    <a:pt x="7653" y="615949"/>
                    <a:pt x="24414" y="633237"/>
                    <a:pt x="46114" y="639663"/>
                  </a:cubicBezTo>
                  <a:cubicBezTo>
                    <a:pt x="145863" y="669876"/>
                    <a:pt x="376530" y="741809"/>
                    <a:pt x="425206" y="780174"/>
                  </a:cubicBezTo>
                  <a:cubicBezTo>
                    <a:pt x="427244" y="782692"/>
                    <a:pt x="429402" y="785089"/>
                    <a:pt x="431680" y="787367"/>
                  </a:cubicBezTo>
                  <a:lnTo>
                    <a:pt x="432879" y="788566"/>
                  </a:lnTo>
                  <a:lnTo>
                    <a:pt x="432879" y="788566"/>
                  </a:lnTo>
                  <a:cubicBezTo>
                    <a:pt x="433095" y="789669"/>
                    <a:pt x="433095" y="790820"/>
                    <a:pt x="432879" y="791923"/>
                  </a:cubicBezTo>
                  <a:lnTo>
                    <a:pt x="432879" y="789525"/>
                  </a:lnTo>
                  <a:lnTo>
                    <a:pt x="726369" y="1083016"/>
                  </a:lnTo>
                  <a:cubicBezTo>
                    <a:pt x="726369" y="1083016"/>
                    <a:pt x="755383" y="1102198"/>
                    <a:pt x="791109" y="1130971"/>
                  </a:cubicBezTo>
                  <a:cubicBezTo>
                    <a:pt x="903086" y="1192739"/>
                    <a:pt x="1042375" y="1173197"/>
                    <a:pt x="1133035" y="1083016"/>
                  </a:cubicBezTo>
                  <a:lnTo>
                    <a:pt x="1429162" y="786648"/>
                  </a:lnTo>
                  <a:cubicBezTo>
                    <a:pt x="1541595" y="674743"/>
                    <a:pt x="1542243" y="492918"/>
                    <a:pt x="1430601" y="380222"/>
                  </a:cubicBezTo>
                  <a:close/>
                </a:path>
              </a:pathLst>
            </a:custGeom>
            <a:solidFill>
              <a:schemeClr val="accent5"/>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3" name="Freeform: Shape 362">
              <a:extLst>
                <a:ext uri="{FF2B5EF4-FFF2-40B4-BE49-F238E27FC236}">
                  <a16:creationId xmlns:a16="http://schemas.microsoft.com/office/drawing/2014/main" id="{31E7A98C-52EE-3919-5974-03E500DFF856}"/>
                </a:ext>
              </a:extLst>
            </p:cNvPr>
            <p:cNvSpPr/>
            <p:nvPr/>
          </p:nvSpPr>
          <p:spPr>
            <a:xfrm>
              <a:off x="4397648" y="3862091"/>
              <a:ext cx="879624" cy="879343"/>
            </a:xfrm>
            <a:custGeom>
              <a:avLst/>
              <a:gdLst>
                <a:gd name="connsiteX0" fmla="*/ 255250 w 784124"/>
                <a:gd name="connsiteY0" fmla="*/ 727335 h 783874"/>
                <a:gd name="connsiteX1" fmla="*/ 255250 w 784124"/>
                <a:gd name="connsiteY1" fmla="*/ 727335 h 783874"/>
                <a:gd name="connsiteX2" fmla="*/ 528119 w 784124"/>
                <a:gd name="connsiteY2" fmla="*/ 727335 h 783874"/>
                <a:gd name="connsiteX3" fmla="*/ 726897 w 784124"/>
                <a:gd name="connsiteY3" fmla="*/ 528318 h 783874"/>
                <a:gd name="connsiteX4" fmla="*/ 728480 w 784124"/>
                <a:gd name="connsiteY4" fmla="*/ 257032 h 783874"/>
                <a:gd name="connsiteX5" fmla="*/ 726897 w 784124"/>
                <a:gd name="connsiteY5" fmla="*/ 255449 h 783874"/>
                <a:gd name="connsiteX6" fmla="*/ 528119 w 784124"/>
                <a:gd name="connsiteY6" fmla="*/ 56432 h 783874"/>
                <a:gd name="connsiteX7" fmla="*/ 255250 w 784124"/>
                <a:gd name="connsiteY7" fmla="*/ 56432 h 783874"/>
                <a:gd name="connsiteX8" fmla="*/ 56233 w 784124"/>
                <a:gd name="connsiteY8" fmla="*/ 255449 h 783874"/>
                <a:gd name="connsiteX9" fmla="*/ 56233 w 784124"/>
                <a:gd name="connsiteY9" fmla="*/ 528318 h 783874"/>
                <a:gd name="connsiteX10" fmla="*/ 56233 w 784124"/>
                <a:gd name="connsiteY10" fmla="*/ 528318 h 78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4124" h="783874">
                  <a:moveTo>
                    <a:pt x="255250" y="727335"/>
                  </a:moveTo>
                  <a:lnTo>
                    <a:pt x="255250" y="727335"/>
                  </a:lnTo>
                  <a:cubicBezTo>
                    <a:pt x="330613" y="802650"/>
                    <a:pt x="452757" y="802650"/>
                    <a:pt x="528119" y="727335"/>
                  </a:cubicBezTo>
                  <a:lnTo>
                    <a:pt x="726897" y="528318"/>
                  </a:lnTo>
                  <a:cubicBezTo>
                    <a:pt x="802236" y="453843"/>
                    <a:pt x="802955" y="332394"/>
                    <a:pt x="728480" y="257032"/>
                  </a:cubicBezTo>
                  <a:cubicBezTo>
                    <a:pt x="727952" y="256504"/>
                    <a:pt x="727424" y="255977"/>
                    <a:pt x="726897" y="255449"/>
                  </a:cubicBezTo>
                  <a:lnTo>
                    <a:pt x="528119" y="56432"/>
                  </a:lnTo>
                  <a:cubicBezTo>
                    <a:pt x="452757" y="-18882"/>
                    <a:pt x="330613" y="-18882"/>
                    <a:pt x="255250" y="56432"/>
                  </a:cubicBezTo>
                  <a:lnTo>
                    <a:pt x="56233" y="255449"/>
                  </a:lnTo>
                  <a:cubicBezTo>
                    <a:pt x="-19081" y="330812"/>
                    <a:pt x="-19081" y="452955"/>
                    <a:pt x="56233" y="528318"/>
                  </a:cubicBezTo>
                  <a:lnTo>
                    <a:pt x="56233" y="528318"/>
                  </a:lnTo>
                  <a:close/>
                </a:path>
              </a:pathLst>
            </a:custGeom>
            <a:gradFill>
              <a:gsLst>
                <a:gs pos="0">
                  <a:srgbClr val="FFFFFF"/>
                </a:gs>
                <a:gs pos="36000">
                  <a:srgbClr val="F4F2F2"/>
                </a:gs>
                <a:gs pos="100000">
                  <a:srgbClr val="D8D2D2"/>
                </a:gs>
              </a:gsLst>
              <a:lin ang="14045999"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4" name="TextBox 363">
              <a:extLst>
                <a:ext uri="{FF2B5EF4-FFF2-40B4-BE49-F238E27FC236}">
                  <a16:creationId xmlns:a16="http://schemas.microsoft.com/office/drawing/2014/main" id="{80F016A3-B456-C451-B553-6C80B1AC9FC3}"/>
                </a:ext>
              </a:extLst>
            </p:cNvPr>
            <p:cNvSpPr txBox="1"/>
            <p:nvPr/>
          </p:nvSpPr>
          <p:spPr>
            <a:xfrm>
              <a:off x="4571605" y="4076128"/>
              <a:ext cx="552273" cy="48209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21" b="1" i="1" spc="0" baseline="0" dirty="0">
                  <a:ln/>
                  <a:latin typeface="Lora" pitchFamily="2" charset="0"/>
                  <a:cs typeface="Arial"/>
                  <a:sym typeface="Arial"/>
                  <a:rtl val="0"/>
                </a:rPr>
                <a:t>03</a:t>
              </a:r>
            </a:p>
          </p:txBody>
        </p:sp>
        <p:sp>
          <p:nvSpPr>
            <p:cNvPr id="35" name="Freeform: Shape 365">
              <a:extLst>
                <a:ext uri="{FF2B5EF4-FFF2-40B4-BE49-F238E27FC236}">
                  <a16:creationId xmlns:a16="http://schemas.microsoft.com/office/drawing/2014/main" id="{23BE03E8-5735-0B07-8881-B7E2FDD092C3}"/>
                </a:ext>
              </a:extLst>
            </p:cNvPr>
            <p:cNvSpPr/>
            <p:nvPr/>
          </p:nvSpPr>
          <p:spPr>
            <a:xfrm>
              <a:off x="3641961" y="4133649"/>
              <a:ext cx="284584" cy="284583"/>
            </a:xfrm>
            <a:custGeom>
              <a:avLst/>
              <a:gdLst>
                <a:gd name="connsiteX0" fmla="*/ -252 w 253687"/>
                <a:gd name="connsiteY0" fmla="*/ 126789 h 253686"/>
                <a:gd name="connsiteX1" fmla="*/ 126591 w 253687"/>
                <a:gd name="connsiteY1" fmla="*/ 253633 h 253686"/>
                <a:gd name="connsiteX2" fmla="*/ 253435 w 253687"/>
                <a:gd name="connsiteY2" fmla="*/ 126789 h 253686"/>
                <a:gd name="connsiteX3" fmla="*/ 126591 w 253687"/>
                <a:gd name="connsiteY3" fmla="*/ -54 h 253686"/>
                <a:gd name="connsiteX4" fmla="*/ -252 w 253687"/>
                <a:gd name="connsiteY4" fmla="*/ 126789 h 253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87" h="253686">
                  <a:moveTo>
                    <a:pt x="-252" y="126789"/>
                  </a:moveTo>
                  <a:cubicBezTo>
                    <a:pt x="-252" y="196853"/>
                    <a:pt x="56528" y="253633"/>
                    <a:pt x="126591" y="253633"/>
                  </a:cubicBezTo>
                  <a:cubicBezTo>
                    <a:pt x="196655" y="253633"/>
                    <a:pt x="253435" y="196853"/>
                    <a:pt x="253435" y="126789"/>
                  </a:cubicBezTo>
                  <a:cubicBezTo>
                    <a:pt x="253435" y="56726"/>
                    <a:pt x="196655" y="-54"/>
                    <a:pt x="126591" y="-54"/>
                  </a:cubicBezTo>
                  <a:cubicBezTo>
                    <a:pt x="56528" y="-54"/>
                    <a:pt x="-252" y="56726"/>
                    <a:pt x="-252" y="126789"/>
                  </a:cubicBezTo>
                  <a:close/>
                </a:path>
              </a:pathLst>
            </a:custGeom>
            <a:gradFill>
              <a:gsLst>
                <a:gs pos="0">
                  <a:srgbClr val="FFFFFF"/>
                </a:gs>
                <a:gs pos="36000">
                  <a:srgbClr val="F4F2F2"/>
                </a:gs>
                <a:gs pos="100000">
                  <a:srgbClr val="D8D2D2"/>
                </a:gs>
              </a:gsLst>
              <a:lin ang="2700000"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6" name="Freeform: Shape 366">
              <a:extLst>
                <a:ext uri="{FF2B5EF4-FFF2-40B4-BE49-F238E27FC236}">
                  <a16:creationId xmlns:a16="http://schemas.microsoft.com/office/drawing/2014/main" id="{E8A8CEBA-A96B-3F50-6248-C1E029C8A378}"/>
                </a:ext>
              </a:extLst>
            </p:cNvPr>
            <p:cNvSpPr/>
            <p:nvPr/>
          </p:nvSpPr>
          <p:spPr>
            <a:xfrm>
              <a:off x="3706786" y="4198474"/>
              <a:ext cx="154934" cy="154933"/>
            </a:xfrm>
            <a:custGeom>
              <a:avLst/>
              <a:gdLst>
                <a:gd name="connsiteX0" fmla="*/ -252 w 138113"/>
                <a:gd name="connsiteY0" fmla="*/ 69002 h 138112"/>
                <a:gd name="connsiteX1" fmla="*/ 68804 w 138113"/>
                <a:gd name="connsiteY1" fmla="*/ 138059 h 138112"/>
                <a:gd name="connsiteX2" fmla="*/ 137861 w 138113"/>
                <a:gd name="connsiteY2" fmla="*/ 69002 h 138112"/>
                <a:gd name="connsiteX3" fmla="*/ 68804 w 138113"/>
                <a:gd name="connsiteY3" fmla="*/ -54 h 138112"/>
                <a:gd name="connsiteX4" fmla="*/ -252 w 138113"/>
                <a:gd name="connsiteY4" fmla="*/ 69002 h 13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13" h="138112">
                  <a:moveTo>
                    <a:pt x="-252" y="69002"/>
                  </a:moveTo>
                  <a:cubicBezTo>
                    <a:pt x="-252" y="107151"/>
                    <a:pt x="30655" y="138059"/>
                    <a:pt x="68804" y="138059"/>
                  </a:cubicBezTo>
                  <a:cubicBezTo>
                    <a:pt x="106953" y="138059"/>
                    <a:pt x="137861" y="107151"/>
                    <a:pt x="137861" y="69002"/>
                  </a:cubicBezTo>
                  <a:cubicBezTo>
                    <a:pt x="137861" y="30853"/>
                    <a:pt x="106953" y="-54"/>
                    <a:pt x="68804" y="-54"/>
                  </a:cubicBezTo>
                  <a:cubicBezTo>
                    <a:pt x="30655" y="-54"/>
                    <a:pt x="-252" y="30853"/>
                    <a:pt x="-252" y="69002"/>
                  </a:cubicBezTo>
                  <a:close/>
                </a:path>
              </a:pathLst>
            </a:custGeom>
            <a:solidFill>
              <a:schemeClr val="accent5"/>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37" name="Freeform: Shape 367">
              <a:extLst>
                <a:ext uri="{FF2B5EF4-FFF2-40B4-BE49-F238E27FC236}">
                  <a16:creationId xmlns:a16="http://schemas.microsoft.com/office/drawing/2014/main" id="{280A4732-F459-F0A9-14E1-E23F5C6B448B}"/>
                </a:ext>
              </a:extLst>
            </p:cNvPr>
            <p:cNvSpPr/>
            <p:nvPr/>
          </p:nvSpPr>
          <p:spPr>
            <a:xfrm>
              <a:off x="2525952" y="4520177"/>
              <a:ext cx="1051992" cy="521290"/>
            </a:xfrm>
            <a:custGeom>
              <a:avLst/>
              <a:gdLst>
                <a:gd name="connsiteX0" fmla="*/ 879499 w 937778"/>
                <a:gd name="connsiteY0" fmla="*/ -54 h 464694"/>
                <a:gd name="connsiteX1" fmla="*/ 325848 w 937778"/>
                <a:gd name="connsiteY1" fmla="*/ 337556 h 464694"/>
                <a:gd name="connsiteX2" fmla="*/ -252 w 937778"/>
                <a:gd name="connsiteY2" fmla="*/ 382634 h 464694"/>
                <a:gd name="connsiteX3" fmla="*/ -252 w 937778"/>
                <a:gd name="connsiteY3" fmla="*/ 464639 h 464694"/>
                <a:gd name="connsiteX4" fmla="*/ 937526 w 937778"/>
                <a:gd name="connsiteY4" fmla="*/ 58452 h 46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778" h="464694">
                  <a:moveTo>
                    <a:pt x="879499" y="-54"/>
                  </a:moveTo>
                  <a:cubicBezTo>
                    <a:pt x="729612" y="161390"/>
                    <a:pt x="538005" y="278210"/>
                    <a:pt x="325848" y="337556"/>
                  </a:cubicBezTo>
                  <a:cubicBezTo>
                    <a:pt x="219745" y="367504"/>
                    <a:pt x="109998" y="382682"/>
                    <a:pt x="-252" y="382634"/>
                  </a:cubicBezTo>
                  <a:lnTo>
                    <a:pt x="-252" y="464639"/>
                  </a:lnTo>
                  <a:cubicBezTo>
                    <a:pt x="355149" y="465142"/>
                    <a:pt x="694796" y="318038"/>
                    <a:pt x="937526" y="58452"/>
                  </a:cubicBezTo>
                  <a:close/>
                </a:path>
              </a:pathLst>
            </a:custGeom>
            <a:solidFill>
              <a:schemeClr val="accent6"/>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Freeform: Shape 368">
              <a:extLst>
                <a:ext uri="{FF2B5EF4-FFF2-40B4-BE49-F238E27FC236}">
                  <a16:creationId xmlns:a16="http://schemas.microsoft.com/office/drawing/2014/main" id="{038CE766-C027-F6AD-5DAA-A48B97AA7FD5}"/>
                </a:ext>
              </a:extLst>
            </p:cNvPr>
            <p:cNvSpPr/>
            <p:nvPr/>
          </p:nvSpPr>
          <p:spPr>
            <a:xfrm>
              <a:off x="3846658" y="5087192"/>
              <a:ext cx="6188178" cy="1054950"/>
            </a:xfrm>
            <a:custGeom>
              <a:avLst/>
              <a:gdLst>
                <a:gd name="connsiteX0" fmla="*/ 2200684 w 2670904"/>
                <a:gd name="connsiteY0" fmla="*/ 940361 h 940415"/>
                <a:gd name="connsiteX1" fmla="*/ -252 w 2670904"/>
                <a:gd name="connsiteY1" fmla="*/ 940361 h 940415"/>
                <a:gd name="connsiteX2" fmla="*/ -252 w 2670904"/>
                <a:gd name="connsiteY2" fmla="*/ -54 h 940415"/>
                <a:gd name="connsiteX3" fmla="*/ 2200684 w 2670904"/>
                <a:gd name="connsiteY3" fmla="*/ -54 h 940415"/>
                <a:gd name="connsiteX4" fmla="*/ 2670651 w 2670904"/>
                <a:gd name="connsiteY4" fmla="*/ 469435 h 940415"/>
                <a:gd name="connsiteX5" fmla="*/ 2670651 w 2670904"/>
                <a:gd name="connsiteY5" fmla="*/ 469914 h 940415"/>
                <a:gd name="connsiteX6" fmla="*/ 2670651 w 2670904"/>
                <a:gd name="connsiteY6" fmla="*/ 469914 h 940415"/>
                <a:gd name="connsiteX7" fmla="*/ 2201643 w 2670904"/>
                <a:gd name="connsiteY7" fmla="*/ 940361 h 940415"/>
                <a:gd name="connsiteX8" fmla="*/ 2200684 w 2670904"/>
                <a:gd name="connsiteY8" fmla="*/ 940361 h 940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0904" h="940415">
                  <a:moveTo>
                    <a:pt x="2200684" y="940361"/>
                  </a:moveTo>
                  <a:lnTo>
                    <a:pt x="-252" y="940361"/>
                  </a:lnTo>
                  <a:lnTo>
                    <a:pt x="-252" y="-54"/>
                  </a:lnTo>
                  <a:lnTo>
                    <a:pt x="2200684" y="-54"/>
                  </a:lnTo>
                  <a:cubicBezTo>
                    <a:pt x="2460102" y="-198"/>
                    <a:pt x="2670508" y="210017"/>
                    <a:pt x="2670651" y="469435"/>
                  </a:cubicBezTo>
                  <a:cubicBezTo>
                    <a:pt x="2670651" y="469602"/>
                    <a:pt x="2670651" y="469746"/>
                    <a:pt x="2670651" y="469914"/>
                  </a:cubicBezTo>
                  <a:lnTo>
                    <a:pt x="2670651" y="469914"/>
                  </a:lnTo>
                  <a:cubicBezTo>
                    <a:pt x="2671059" y="729332"/>
                    <a:pt x="2461060" y="939954"/>
                    <a:pt x="2201643" y="940361"/>
                  </a:cubicBezTo>
                  <a:cubicBezTo>
                    <a:pt x="2201331" y="940361"/>
                    <a:pt x="2200996" y="940361"/>
                    <a:pt x="2200684" y="940361"/>
                  </a:cubicBezTo>
                  <a:close/>
                </a:path>
              </a:pathLst>
            </a:custGeom>
            <a:solidFill>
              <a:schemeClr val="accent6"/>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Freeform: Shape 390">
              <a:extLst>
                <a:ext uri="{FF2B5EF4-FFF2-40B4-BE49-F238E27FC236}">
                  <a16:creationId xmlns:a16="http://schemas.microsoft.com/office/drawing/2014/main" id="{0240B92E-C3F8-45FE-5750-41EF2EFDB21A}"/>
                </a:ext>
              </a:extLst>
            </p:cNvPr>
            <p:cNvSpPr/>
            <p:nvPr/>
          </p:nvSpPr>
          <p:spPr>
            <a:xfrm>
              <a:off x="3054271" y="4850515"/>
              <a:ext cx="1419642" cy="1410644"/>
            </a:xfrm>
            <a:custGeom>
              <a:avLst/>
              <a:gdLst>
                <a:gd name="connsiteX0" fmla="*/ 1180149 w 1265513"/>
                <a:gd name="connsiteY0" fmla="*/ 877274 h 1257492"/>
                <a:gd name="connsiteX1" fmla="*/ 883782 w 1265513"/>
                <a:gd name="connsiteY1" fmla="*/ 1173402 h 1257492"/>
                <a:gd name="connsiteX2" fmla="*/ 477355 w 1265513"/>
                <a:gd name="connsiteY2" fmla="*/ 1173402 h 1257492"/>
                <a:gd name="connsiteX3" fmla="*/ 180988 w 1265513"/>
                <a:gd name="connsiteY3" fmla="*/ 877274 h 1257492"/>
                <a:gd name="connsiteX4" fmla="*/ 180292 w 1265513"/>
                <a:gd name="connsiteY4" fmla="*/ 470344 h 1257492"/>
                <a:gd name="connsiteX5" fmla="*/ 180988 w 1265513"/>
                <a:gd name="connsiteY5" fmla="*/ 469649 h 1257492"/>
                <a:gd name="connsiteX6" fmla="*/ 182426 w 1265513"/>
                <a:gd name="connsiteY6" fmla="*/ 468450 h 1257492"/>
                <a:gd name="connsiteX7" fmla="*/ 7867 w 1265513"/>
                <a:gd name="connsiteY7" fmla="*/ 96312 h 1257492"/>
                <a:gd name="connsiteX8" fmla="*/ 18897 w 1265513"/>
                <a:gd name="connsiteY8" fmla="*/ 19103 h 1257492"/>
                <a:gd name="connsiteX9" fmla="*/ 18897 w 1265513"/>
                <a:gd name="connsiteY9" fmla="*/ 19103 h 1257492"/>
                <a:gd name="connsiteX10" fmla="*/ 95386 w 1265513"/>
                <a:gd name="connsiteY10" fmla="*/ 7594 h 1257492"/>
                <a:gd name="connsiteX11" fmla="*/ 479034 w 1265513"/>
                <a:gd name="connsiteY11" fmla="*/ 174241 h 1257492"/>
                <a:gd name="connsiteX12" fmla="*/ 479034 w 1265513"/>
                <a:gd name="connsiteY12" fmla="*/ 174241 h 1257492"/>
                <a:gd name="connsiteX13" fmla="*/ 885460 w 1265513"/>
                <a:gd name="connsiteY13" fmla="*/ 174241 h 1257492"/>
                <a:gd name="connsiteX14" fmla="*/ 1181827 w 1265513"/>
                <a:gd name="connsiteY14" fmla="*/ 470369 h 1257492"/>
                <a:gd name="connsiteX15" fmla="*/ 1180149 w 1265513"/>
                <a:gd name="connsiteY15" fmla="*/ 877274 h 125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5513" h="1257492">
                  <a:moveTo>
                    <a:pt x="1180149" y="877274"/>
                  </a:moveTo>
                  <a:lnTo>
                    <a:pt x="883782" y="1173402"/>
                  </a:lnTo>
                  <a:cubicBezTo>
                    <a:pt x="771468" y="1285451"/>
                    <a:pt x="589667" y="1285451"/>
                    <a:pt x="477355" y="1173402"/>
                  </a:cubicBezTo>
                  <a:lnTo>
                    <a:pt x="180988" y="877274"/>
                  </a:lnTo>
                  <a:cubicBezTo>
                    <a:pt x="68435" y="765105"/>
                    <a:pt x="68099" y="582921"/>
                    <a:pt x="180292" y="470344"/>
                  </a:cubicBezTo>
                  <a:cubicBezTo>
                    <a:pt x="180508" y="470129"/>
                    <a:pt x="180748" y="469889"/>
                    <a:pt x="180988" y="469649"/>
                  </a:cubicBezTo>
                  <a:lnTo>
                    <a:pt x="182426" y="468450"/>
                  </a:lnTo>
                  <a:cubicBezTo>
                    <a:pt x="205205" y="444472"/>
                    <a:pt x="66133" y="197739"/>
                    <a:pt x="7867" y="96312"/>
                  </a:cubicBezTo>
                  <a:cubicBezTo>
                    <a:pt x="-6184" y="71015"/>
                    <a:pt x="-1677" y="39461"/>
                    <a:pt x="18897" y="19103"/>
                  </a:cubicBezTo>
                  <a:lnTo>
                    <a:pt x="18897" y="19103"/>
                  </a:lnTo>
                  <a:cubicBezTo>
                    <a:pt x="39038" y="-1206"/>
                    <a:pt x="70137" y="-5906"/>
                    <a:pt x="95386" y="7594"/>
                  </a:cubicBezTo>
                  <a:cubicBezTo>
                    <a:pt x="198012" y="62983"/>
                    <a:pt x="455056" y="197259"/>
                    <a:pt x="479034" y="174241"/>
                  </a:cubicBezTo>
                  <a:lnTo>
                    <a:pt x="479034" y="174241"/>
                  </a:lnTo>
                  <a:cubicBezTo>
                    <a:pt x="591346" y="62192"/>
                    <a:pt x="773147" y="62192"/>
                    <a:pt x="885460" y="174241"/>
                  </a:cubicBezTo>
                  <a:lnTo>
                    <a:pt x="1181827" y="470369"/>
                  </a:lnTo>
                  <a:cubicBezTo>
                    <a:pt x="1293732" y="583209"/>
                    <a:pt x="1292965" y="765369"/>
                    <a:pt x="1180149" y="877274"/>
                  </a:cubicBezTo>
                  <a:close/>
                </a:path>
              </a:pathLst>
            </a:custGeom>
            <a:solidFill>
              <a:schemeClr val="accent6"/>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0" name="Freeform: Shape 391">
              <a:extLst>
                <a:ext uri="{FF2B5EF4-FFF2-40B4-BE49-F238E27FC236}">
                  <a16:creationId xmlns:a16="http://schemas.microsoft.com/office/drawing/2014/main" id="{90C29B32-2D8A-3F11-08D2-118719FABCD2}"/>
                </a:ext>
              </a:extLst>
            </p:cNvPr>
            <p:cNvSpPr/>
            <p:nvPr/>
          </p:nvSpPr>
          <p:spPr>
            <a:xfrm>
              <a:off x="3383314" y="5166925"/>
              <a:ext cx="879627" cy="879343"/>
            </a:xfrm>
            <a:custGeom>
              <a:avLst/>
              <a:gdLst>
                <a:gd name="connsiteX0" fmla="*/ 255251 w 784127"/>
                <a:gd name="connsiteY0" fmla="*/ 56432 h 783874"/>
                <a:gd name="connsiteX1" fmla="*/ 255251 w 784127"/>
                <a:gd name="connsiteY1" fmla="*/ 56432 h 783874"/>
                <a:gd name="connsiteX2" fmla="*/ 528120 w 784127"/>
                <a:gd name="connsiteY2" fmla="*/ 56432 h 783874"/>
                <a:gd name="connsiteX3" fmla="*/ 726897 w 784127"/>
                <a:gd name="connsiteY3" fmla="*/ 255449 h 783874"/>
                <a:gd name="connsiteX4" fmla="*/ 728504 w 784127"/>
                <a:gd name="connsiteY4" fmla="*/ 526736 h 783874"/>
                <a:gd name="connsiteX5" fmla="*/ 726897 w 784127"/>
                <a:gd name="connsiteY5" fmla="*/ 528318 h 783874"/>
                <a:gd name="connsiteX6" fmla="*/ 528120 w 784127"/>
                <a:gd name="connsiteY6" fmla="*/ 727335 h 783874"/>
                <a:gd name="connsiteX7" fmla="*/ 255251 w 784127"/>
                <a:gd name="connsiteY7" fmla="*/ 727335 h 783874"/>
                <a:gd name="connsiteX8" fmla="*/ 56234 w 784127"/>
                <a:gd name="connsiteY8" fmla="*/ 528318 h 783874"/>
                <a:gd name="connsiteX9" fmla="*/ 56234 w 784127"/>
                <a:gd name="connsiteY9" fmla="*/ 255449 h 783874"/>
                <a:gd name="connsiteX10" fmla="*/ 56234 w 784127"/>
                <a:gd name="connsiteY10" fmla="*/ 255449 h 78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4127" h="783874">
                  <a:moveTo>
                    <a:pt x="255251" y="56432"/>
                  </a:moveTo>
                  <a:lnTo>
                    <a:pt x="255251" y="56432"/>
                  </a:lnTo>
                  <a:cubicBezTo>
                    <a:pt x="330614" y="-18883"/>
                    <a:pt x="452757" y="-18883"/>
                    <a:pt x="528120" y="56432"/>
                  </a:cubicBezTo>
                  <a:lnTo>
                    <a:pt x="726897" y="255449"/>
                  </a:lnTo>
                  <a:cubicBezTo>
                    <a:pt x="802236" y="329925"/>
                    <a:pt x="802955" y="451373"/>
                    <a:pt x="728504" y="526736"/>
                  </a:cubicBezTo>
                  <a:cubicBezTo>
                    <a:pt x="727952" y="527263"/>
                    <a:pt x="727425" y="527791"/>
                    <a:pt x="726897" y="528318"/>
                  </a:cubicBezTo>
                  <a:lnTo>
                    <a:pt x="528120" y="727335"/>
                  </a:lnTo>
                  <a:cubicBezTo>
                    <a:pt x="452757" y="802650"/>
                    <a:pt x="330614" y="802650"/>
                    <a:pt x="255251" y="727335"/>
                  </a:cubicBezTo>
                  <a:lnTo>
                    <a:pt x="56234" y="528318"/>
                  </a:lnTo>
                  <a:cubicBezTo>
                    <a:pt x="-19081" y="452955"/>
                    <a:pt x="-19081" y="330812"/>
                    <a:pt x="56234" y="255449"/>
                  </a:cubicBezTo>
                  <a:lnTo>
                    <a:pt x="56234" y="255449"/>
                  </a:lnTo>
                  <a:close/>
                </a:path>
              </a:pathLst>
            </a:custGeom>
            <a:gradFill>
              <a:gsLst>
                <a:gs pos="0">
                  <a:srgbClr val="FFFFFF"/>
                </a:gs>
                <a:gs pos="36000">
                  <a:srgbClr val="F4F2F2"/>
                </a:gs>
                <a:gs pos="100000">
                  <a:srgbClr val="D8D2D2"/>
                </a:gs>
              </a:gsLst>
              <a:lin ang="8100602"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1" name="TextBox 392">
              <a:extLst>
                <a:ext uri="{FF2B5EF4-FFF2-40B4-BE49-F238E27FC236}">
                  <a16:creationId xmlns:a16="http://schemas.microsoft.com/office/drawing/2014/main" id="{54AC4B0E-7673-E9CD-9353-773FA0B1E956}"/>
                </a:ext>
              </a:extLst>
            </p:cNvPr>
            <p:cNvSpPr txBox="1"/>
            <p:nvPr/>
          </p:nvSpPr>
          <p:spPr>
            <a:xfrm>
              <a:off x="3531392" y="5372354"/>
              <a:ext cx="548113" cy="48209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21" b="1" i="1" spc="0" baseline="0">
                  <a:ln/>
                  <a:latin typeface="Lora" pitchFamily="2" charset="0"/>
                  <a:cs typeface="Arial"/>
                  <a:sym typeface="Arial"/>
                  <a:rtl val="0"/>
                </a:rPr>
                <a:t>04</a:t>
              </a:r>
            </a:p>
          </p:txBody>
        </p:sp>
        <p:sp>
          <p:nvSpPr>
            <p:cNvPr id="42" name="Freeform: Shape 394">
              <a:extLst>
                <a:ext uri="{FF2B5EF4-FFF2-40B4-BE49-F238E27FC236}">
                  <a16:creationId xmlns:a16="http://schemas.microsoft.com/office/drawing/2014/main" id="{63961D6B-943C-1924-1CDB-4089B0825C8E}"/>
                </a:ext>
              </a:extLst>
            </p:cNvPr>
            <p:cNvSpPr/>
            <p:nvPr/>
          </p:nvSpPr>
          <p:spPr>
            <a:xfrm>
              <a:off x="2954711" y="4756612"/>
              <a:ext cx="284583" cy="284583"/>
            </a:xfrm>
            <a:custGeom>
              <a:avLst/>
              <a:gdLst>
                <a:gd name="connsiteX0" fmla="*/ -252 w 253686"/>
                <a:gd name="connsiteY0" fmla="*/ 126789 h 253686"/>
                <a:gd name="connsiteX1" fmla="*/ 126591 w 253686"/>
                <a:gd name="connsiteY1" fmla="*/ -54 h 253686"/>
                <a:gd name="connsiteX2" fmla="*/ 253434 w 253686"/>
                <a:gd name="connsiteY2" fmla="*/ 126789 h 253686"/>
                <a:gd name="connsiteX3" fmla="*/ 126591 w 253686"/>
                <a:gd name="connsiteY3" fmla="*/ 253633 h 253686"/>
                <a:gd name="connsiteX4" fmla="*/ -252 w 253686"/>
                <a:gd name="connsiteY4" fmla="*/ 127269 h 253686"/>
                <a:gd name="connsiteX5" fmla="*/ -252 w 253686"/>
                <a:gd name="connsiteY5" fmla="*/ 126789 h 253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686" h="253686">
                  <a:moveTo>
                    <a:pt x="-252" y="126789"/>
                  </a:moveTo>
                  <a:cubicBezTo>
                    <a:pt x="-252" y="56726"/>
                    <a:pt x="56528" y="-54"/>
                    <a:pt x="126591" y="-54"/>
                  </a:cubicBezTo>
                  <a:cubicBezTo>
                    <a:pt x="196655" y="-54"/>
                    <a:pt x="253434" y="56726"/>
                    <a:pt x="253434" y="126789"/>
                  </a:cubicBezTo>
                  <a:cubicBezTo>
                    <a:pt x="253434" y="196853"/>
                    <a:pt x="196655" y="253633"/>
                    <a:pt x="126591" y="253633"/>
                  </a:cubicBezTo>
                  <a:cubicBezTo>
                    <a:pt x="56671" y="253777"/>
                    <a:pt x="-108" y="197189"/>
                    <a:pt x="-252" y="127269"/>
                  </a:cubicBezTo>
                  <a:cubicBezTo>
                    <a:pt x="-252" y="127101"/>
                    <a:pt x="-252" y="126957"/>
                    <a:pt x="-252" y="126789"/>
                  </a:cubicBezTo>
                  <a:close/>
                </a:path>
              </a:pathLst>
            </a:custGeom>
            <a:gradFill>
              <a:gsLst>
                <a:gs pos="0">
                  <a:srgbClr val="FFFFFF"/>
                </a:gs>
                <a:gs pos="36000">
                  <a:srgbClr val="F4F2F2"/>
                </a:gs>
                <a:gs pos="100000">
                  <a:srgbClr val="D8D2D2"/>
                </a:gs>
              </a:gsLst>
              <a:lin ang="18900000" scaled="1"/>
            </a:gra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sp>
          <p:nvSpPr>
            <p:cNvPr id="43" name="Freeform: Shape 395">
              <a:extLst>
                <a:ext uri="{FF2B5EF4-FFF2-40B4-BE49-F238E27FC236}">
                  <a16:creationId xmlns:a16="http://schemas.microsoft.com/office/drawing/2014/main" id="{EECA4A6A-6DB3-6449-DBFF-181C37B66A81}"/>
                </a:ext>
              </a:extLst>
            </p:cNvPr>
            <p:cNvSpPr/>
            <p:nvPr/>
          </p:nvSpPr>
          <p:spPr>
            <a:xfrm>
              <a:off x="3019536" y="4821437"/>
              <a:ext cx="154934" cy="154934"/>
            </a:xfrm>
            <a:custGeom>
              <a:avLst/>
              <a:gdLst>
                <a:gd name="connsiteX0" fmla="*/ -252 w 138113"/>
                <a:gd name="connsiteY0" fmla="*/ 69003 h 138113"/>
                <a:gd name="connsiteX1" fmla="*/ 68804 w 138113"/>
                <a:gd name="connsiteY1" fmla="*/ -54 h 138113"/>
                <a:gd name="connsiteX2" fmla="*/ 137861 w 138113"/>
                <a:gd name="connsiteY2" fmla="*/ 69003 h 138113"/>
                <a:gd name="connsiteX3" fmla="*/ 68804 w 138113"/>
                <a:gd name="connsiteY3" fmla="*/ 138059 h 138113"/>
                <a:gd name="connsiteX4" fmla="*/ -252 w 138113"/>
                <a:gd name="connsiteY4" fmla="*/ 69003 h 1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13" h="138113">
                  <a:moveTo>
                    <a:pt x="-252" y="69003"/>
                  </a:moveTo>
                  <a:cubicBezTo>
                    <a:pt x="-252" y="30854"/>
                    <a:pt x="30655" y="-54"/>
                    <a:pt x="68804" y="-54"/>
                  </a:cubicBezTo>
                  <a:cubicBezTo>
                    <a:pt x="106953" y="-54"/>
                    <a:pt x="137861" y="30854"/>
                    <a:pt x="137861" y="69003"/>
                  </a:cubicBezTo>
                  <a:cubicBezTo>
                    <a:pt x="137861" y="107152"/>
                    <a:pt x="106953" y="138059"/>
                    <a:pt x="68804" y="138059"/>
                  </a:cubicBezTo>
                  <a:cubicBezTo>
                    <a:pt x="30655" y="138059"/>
                    <a:pt x="-252" y="107152"/>
                    <a:pt x="-252" y="69003"/>
                  </a:cubicBezTo>
                  <a:close/>
                </a:path>
              </a:pathLst>
            </a:custGeom>
            <a:solidFill>
              <a:schemeClr val="accent6"/>
            </a:solidFill>
            <a:ln w="2396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Lora" pitchFamily="2" charset="0"/>
              </a:endParaRPr>
            </a:p>
          </p:txBody>
        </p:sp>
      </p:grpSp>
      <p:sp>
        <p:nvSpPr>
          <p:cNvPr id="7" name="TextBox 399">
            <a:extLst>
              <a:ext uri="{FF2B5EF4-FFF2-40B4-BE49-F238E27FC236}">
                <a16:creationId xmlns:a16="http://schemas.microsoft.com/office/drawing/2014/main" id="{FDD451E3-B698-385A-E33C-D7E609504975}"/>
              </a:ext>
            </a:extLst>
          </p:cNvPr>
          <p:cNvSpPr txBox="1"/>
          <p:nvPr/>
        </p:nvSpPr>
        <p:spPr>
          <a:xfrm>
            <a:off x="1238066" y="1196035"/>
            <a:ext cx="2439067"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Objectifs</a:t>
            </a:r>
            <a:endParaRPr lang="fr-FR" sz="3600" b="1" dirty="0">
              <a:latin typeface="Lora" pitchFamily="2" charset="0"/>
            </a:endParaRPr>
          </a:p>
        </p:txBody>
      </p:sp>
      <p:sp>
        <p:nvSpPr>
          <p:cNvPr id="8" name="TextBox 402">
            <a:extLst>
              <a:ext uri="{FF2B5EF4-FFF2-40B4-BE49-F238E27FC236}">
                <a16:creationId xmlns:a16="http://schemas.microsoft.com/office/drawing/2014/main" id="{42A7332B-2F48-E080-88FE-B9385799DD61}"/>
              </a:ext>
            </a:extLst>
          </p:cNvPr>
          <p:cNvSpPr txBox="1"/>
          <p:nvPr/>
        </p:nvSpPr>
        <p:spPr>
          <a:xfrm>
            <a:off x="4963234" y="5398839"/>
            <a:ext cx="4714166"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600" b="1" dirty="0" smtClean="0">
                <a:solidFill>
                  <a:schemeClr val="bg1"/>
                </a:solidFill>
              </a:rPr>
              <a:t>I</a:t>
            </a:r>
            <a:r>
              <a:rPr lang="fr-CM" sz="1600" b="1" dirty="0" err="1" smtClean="0">
                <a:solidFill>
                  <a:schemeClr val="bg1"/>
                </a:solidFill>
              </a:rPr>
              <a:t>ntégration</a:t>
            </a:r>
            <a:r>
              <a:rPr lang="fr-CM" sz="1600" b="1" dirty="0" smtClean="0">
                <a:solidFill>
                  <a:schemeClr val="bg1"/>
                </a:solidFill>
              </a:rPr>
              <a:t> </a:t>
            </a:r>
            <a:r>
              <a:rPr lang="fr-CM" sz="1600" b="1" dirty="0">
                <a:solidFill>
                  <a:schemeClr val="bg1"/>
                </a:solidFill>
              </a:rPr>
              <a:t>d’un système automatisé d'administration, de monitoring et de supervision post-migration</a:t>
            </a:r>
            <a:endParaRPr lang="en-GB" sz="1100" b="1" dirty="0">
              <a:solidFill>
                <a:schemeClr val="bg1"/>
              </a:solidFill>
              <a:latin typeface="Lora" pitchFamily="2" charset="0"/>
              <a:ea typeface="Fira Sans Extra Condensed Medium"/>
              <a:cs typeface="Fira Sans Extra Condensed Medium"/>
              <a:sym typeface="Fira Sans Extra Condensed Medium"/>
            </a:endParaRPr>
          </a:p>
        </p:txBody>
      </p:sp>
      <p:sp>
        <p:nvSpPr>
          <p:cNvPr id="9" name="TextBox 403">
            <a:extLst>
              <a:ext uri="{FF2B5EF4-FFF2-40B4-BE49-F238E27FC236}">
                <a16:creationId xmlns:a16="http://schemas.microsoft.com/office/drawing/2014/main" id="{447C2F2A-6916-D2E1-4D1E-35596D4837A1}"/>
              </a:ext>
            </a:extLst>
          </p:cNvPr>
          <p:cNvSpPr txBox="1"/>
          <p:nvPr/>
        </p:nvSpPr>
        <p:spPr>
          <a:xfrm>
            <a:off x="5872454" y="4211581"/>
            <a:ext cx="3966872"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fr-FR" sz="1400" b="1" dirty="0" err="1" smtClean="0">
                <a:solidFill>
                  <a:schemeClr val="bg1"/>
                </a:solidFill>
              </a:rPr>
              <a:t>Lа</a:t>
            </a:r>
            <a:r>
              <a:rPr lang="fr-FR" sz="1400" b="1" dirty="0" smtClean="0">
                <a:solidFill>
                  <a:schemeClr val="bg1"/>
                </a:solidFill>
              </a:rPr>
              <a:t> réduction drastique </a:t>
            </a:r>
            <a:r>
              <a:rPr lang="fr-FR" sz="1400" b="1" dirty="0" err="1">
                <a:solidFill>
                  <a:schemeClr val="bg1"/>
                </a:solidFill>
              </a:rPr>
              <a:t>dе</a:t>
            </a:r>
            <a:r>
              <a:rPr lang="fr-FR" sz="1400" b="1" dirty="0">
                <a:solidFill>
                  <a:schemeClr val="bg1"/>
                </a:solidFill>
              </a:rPr>
              <a:t> l’</a:t>
            </a:r>
            <a:r>
              <a:rPr lang="fr-FR" sz="1400" b="1" dirty="0" err="1">
                <a:solidFill>
                  <a:schemeClr val="bg1"/>
                </a:solidFill>
              </a:rPr>
              <a:t>intеrvеntiоn</a:t>
            </a:r>
            <a:r>
              <a:rPr lang="fr-FR" sz="1400" b="1" dirty="0">
                <a:solidFill>
                  <a:schemeClr val="bg1"/>
                </a:solidFill>
              </a:rPr>
              <a:t> </a:t>
            </a:r>
            <a:r>
              <a:rPr lang="fr-FR" sz="1400" b="1" dirty="0" err="1">
                <a:solidFill>
                  <a:schemeClr val="bg1"/>
                </a:solidFill>
              </a:rPr>
              <a:t>humаinе</a:t>
            </a:r>
            <a:r>
              <a:rPr lang="fr-FR" sz="1400" b="1" dirty="0">
                <a:solidFill>
                  <a:schemeClr val="bg1"/>
                </a:solidFill>
              </a:rPr>
              <a:t> </a:t>
            </a:r>
            <a:r>
              <a:rPr lang="fr-FR" sz="1400" b="1" dirty="0" err="1">
                <a:solidFill>
                  <a:schemeClr val="bg1"/>
                </a:solidFill>
              </a:rPr>
              <a:t>dаns</a:t>
            </a:r>
            <a:r>
              <a:rPr lang="fr-FR" sz="1400" b="1" dirty="0">
                <a:solidFill>
                  <a:schemeClr val="bg1"/>
                </a:solidFill>
              </a:rPr>
              <a:t> </a:t>
            </a:r>
            <a:r>
              <a:rPr lang="fr-FR" sz="1400" b="1" dirty="0" err="1">
                <a:solidFill>
                  <a:schemeClr val="bg1"/>
                </a:solidFill>
              </a:rPr>
              <a:t>lе</a:t>
            </a:r>
            <a:r>
              <a:rPr lang="fr-FR" sz="1400" b="1" dirty="0">
                <a:solidFill>
                  <a:schemeClr val="bg1"/>
                </a:solidFill>
              </a:rPr>
              <a:t> </a:t>
            </a:r>
            <a:r>
              <a:rPr lang="fr-FR" sz="1400" b="1" dirty="0" err="1">
                <a:solidFill>
                  <a:schemeClr val="bg1"/>
                </a:solidFill>
              </a:rPr>
              <a:t>proсеssus</a:t>
            </a:r>
            <a:r>
              <a:rPr lang="fr-FR" sz="1400" b="1" dirty="0">
                <a:solidFill>
                  <a:schemeClr val="bg1"/>
                </a:solidFill>
              </a:rPr>
              <a:t> </a:t>
            </a:r>
            <a:r>
              <a:rPr lang="fr-FR" sz="1400" b="1" dirty="0" err="1">
                <a:solidFill>
                  <a:schemeClr val="bg1"/>
                </a:solidFill>
              </a:rPr>
              <a:t>glоbal</a:t>
            </a:r>
            <a:r>
              <a:rPr lang="fr-FR" sz="1400" b="1" dirty="0">
                <a:solidFill>
                  <a:schemeClr val="bg1"/>
                </a:solidFill>
              </a:rPr>
              <a:t>, </a:t>
            </a:r>
            <a:r>
              <a:rPr lang="fr-FR" sz="1400" b="1" dirty="0" err="1">
                <a:solidFill>
                  <a:schemeClr val="bg1"/>
                </a:solidFill>
              </a:rPr>
              <a:t>pаrticulièrеmеnt</a:t>
            </a:r>
            <a:r>
              <a:rPr lang="fr-FR" sz="1400" b="1" dirty="0">
                <a:solidFill>
                  <a:schemeClr val="bg1"/>
                </a:solidFill>
              </a:rPr>
              <a:t> </a:t>
            </a:r>
            <a:r>
              <a:rPr lang="fr-FR" sz="1400" b="1" dirty="0" err="1">
                <a:solidFill>
                  <a:schemeClr val="bg1"/>
                </a:solidFill>
              </a:rPr>
              <a:t>lоrs</a:t>
            </a:r>
            <a:r>
              <a:rPr lang="fr-FR" sz="1400" b="1" dirty="0">
                <a:solidFill>
                  <a:schemeClr val="bg1"/>
                </a:solidFill>
              </a:rPr>
              <a:t> </a:t>
            </a:r>
            <a:r>
              <a:rPr lang="fr-FR" sz="1400" b="1" dirty="0" err="1">
                <a:solidFill>
                  <a:schemeClr val="bg1"/>
                </a:solidFill>
              </a:rPr>
              <a:t>dеs</a:t>
            </a:r>
            <a:r>
              <a:rPr lang="fr-FR" sz="1400" b="1" dirty="0">
                <a:solidFill>
                  <a:schemeClr val="bg1"/>
                </a:solidFill>
              </a:rPr>
              <a:t> </a:t>
            </a:r>
            <a:r>
              <a:rPr lang="fr-FR" sz="1400" b="1" dirty="0" err="1">
                <a:solidFill>
                  <a:schemeClr val="bg1"/>
                </a:solidFill>
              </a:rPr>
              <a:t>phаses</a:t>
            </a:r>
            <a:r>
              <a:rPr lang="fr-FR" sz="1400" b="1" dirty="0">
                <a:solidFill>
                  <a:schemeClr val="bg1"/>
                </a:solidFill>
              </a:rPr>
              <a:t> d’</a:t>
            </a:r>
            <a:r>
              <a:rPr lang="fr-FR" sz="1400" b="1" dirty="0" err="1">
                <a:solidFill>
                  <a:schemeClr val="bg1"/>
                </a:solidFill>
              </a:rPr>
              <a:t>аnаlуsе</a:t>
            </a:r>
            <a:r>
              <a:rPr lang="fr-FR" sz="1400" b="1" dirty="0">
                <a:solidFill>
                  <a:schemeClr val="bg1"/>
                </a:solidFill>
              </a:rPr>
              <a:t>, </a:t>
            </a:r>
            <a:r>
              <a:rPr lang="fr-FR" sz="1400" b="1" dirty="0" err="1">
                <a:solidFill>
                  <a:schemeClr val="bg1"/>
                </a:solidFill>
              </a:rPr>
              <a:t>dе</a:t>
            </a:r>
            <a:r>
              <a:rPr lang="fr-FR" sz="1400" b="1" dirty="0">
                <a:solidFill>
                  <a:schemeClr val="bg1"/>
                </a:solidFill>
              </a:rPr>
              <a:t> </a:t>
            </a:r>
            <a:r>
              <a:rPr lang="fr-FR" sz="1400" b="1" dirty="0" err="1">
                <a:solidFill>
                  <a:schemeClr val="bg1"/>
                </a:solidFill>
              </a:rPr>
              <a:t>générаtiоn</a:t>
            </a:r>
            <a:r>
              <a:rPr lang="fr-FR" sz="1400" b="1" dirty="0">
                <a:solidFill>
                  <a:schemeClr val="bg1"/>
                </a:solidFill>
              </a:rPr>
              <a:t> </a:t>
            </a:r>
            <a:r>
              <a:rPr lang="fr-FR" sz="1400" b="1" dirty="0" err="1">
                <a:solidFill>
                  <a:schemeClr val="bg1"/>
                </a:solidFill>
              </a:rPr>
              <a:t>еt</a:t>
            </a:r>
            <a:r>
              <a:rPr lang="fr-FR" sz="1400" b="1" dirty="0">
                <a:solidFill>
                  <a:schemeClr val="bg1"/>
                </a:solidFill>
              </a:rPr>
              <a:t> </a:t>
            </a:r>
            <a:r>
              <a:rPr lang="fr-FR" sz="1400" b="1" dirty="0" err="1">
                <a:solidFill>
                  <a:schemeClr val="bg1"/>
                </a:solidFill>
              </a:rPr>
              <a:t>dе</a:t>
            </a:r>
            <a:r>
              <a:rPr lang="fr-FR" sz="1400" b="1" dirty="0">
                <a:solidFill>
                  <a:schemeClr val="bg1"/>
                </a:solidFill>
              </a:rPr>
              <a:t> </a:t>
            </a:r>
            <a:r>
              <a:rPr lang="fr-FR" sz="1400" b="1" dirty="0" err="1">
                <a:solidFill>
                  <a:schemeClr val="bg1"/>
                </a:solidFill>
              </a:rPr>
              <a:t>validаtiоn</a:t>
            </a:r>
            <a:r>
              <a:rPr lang="fr-FR" sz="1400" b="1" dirty="0">
                <a:solidFill>
                  <a:schemeClr val="bg1"/>
                </a:solidFill>
              </a:rPr>
              <a:t> </a:t>
            </a:r>
            <a:r>
              <a:rPr lang="fr-FR" sz="1400" b="1" dirty="0" err="1">
                <a:solidFill>
                  <a:schemeClr val="bg1"/>
                </a:solidFill>
              </a:rPr>
              <a:t>dеs</a:t>
            </a:r>
            <a:r>
              <a:rPr lang="fr-FR" sz="1400" b="1" dirty="0">
                <a:solidFill>
                  <a:schemeClr val="bg1"/>
                </a:solidFill>
              </a:rPr>
              <a:t> </a:t>
            </a:r>
            <a:r>
              <a:rPr lang="fr-FR" sz="1400" b="1" dirty="0" err="1">
                <a:solidFill>
                  <a:schemeClr val="bg1"/>
                </a:solidFill>
              </a:rPr>
              <a:t>аrtefaсts</a:t>
            </a:r>
            <a:r>
              <a:rPr lang="fr-FR" sz="1400" b="1" dirty="0">
                <a:solidFill>
                  <a:schemeClr val="bg1"/>
                </a:solidFill>
              </a:rPr>
              <a:t> </a:t>
            </a:r>
            <a:r>
              <a:rPr lang="fr-FR" sz="1400" b="1" dirty="0" err="1">
                <a:solidFill>
                  <a:schemeClr val="bg1"/>
                </a:solidFill>
              </a:rPr>
              <a:t>Dосkеr</a:t>
            </a:r>
            <a:r>
              <a:rPr lang="fr-FR" sz="1400" b="1" dirty="0">
                <a:solidFill>
                  <a:schemeClr val="bg1"/>
                </a:solidFill>
              </a:rPr>
              <a:t>. </a:t>
            </a:r>
            <a:endParaRPr lang="en-US" sz="1400" dirty="0">
              <a:solidFill>
                <a:schemeClr val="bg1"/>
              </a:solidFill>
            </a:endParaRPr>
          </a:p>
        </p:txBody>
      </p:sp>
      <p:sp>
        <p:nvSpPr>
          <p:cNvPr id="10" name="TextBox 404">
            <a:extLst>
              <a:ext uri="{FF2B5EF4-FFF2-40B4-BE49-F238E27FC236}">
                <a16:creationId xmlns:a16="http://schemas.microsoft.com/office/drawing/2014/main" id="{0A2E98CF-15D0-315D-B899-7EAF076858ED}"/>
              </a:ext>
            </a:extLst>
          </p:cNvPr>
          <p:cNvSpPr txBox="1"/>
          <p:nvPr/>
        </p:nvSpPr>
        <p:spPr>
          <a:xfrm>
            <a:off x="4906653" y="1958646"/>
            <a:ext cx="4258622"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Clr>
                <a:schemeClr val="dk1"/>
              </a:buClr>
              <a:buSzPts val="1100"/>
            </a:pPr>
            <a:r>
              <a:rPr lang="fr-FR" sz="1200" b="1" dirty="0" err="1" smtClean="0">
                <a:solidFill>
                  <a:schemeClr val="bg1"/>
                </a:solidFill>
              </a:rPr>
              <a:t>Lа</a:t>
            </a:r>
            <a:r>
              <a:rPr lang="fr-FR" sz="1200" b="1" dirty="0" smtClean="0">
                <a:solidFill>
                  <a:schemeClr val="bg1"/>
                </a:solidFill>
              </a:rPr>
              <a:t> </a:t>
            </a:r>
            <a:r>
              <a:rPr lang="fr-FR" sz="1200" b="1" dirty="0" err="1">
                <a:solidFill>
                  <a:schemeClr val="bg1"/>
                </a:solidFill>
              </a:rPr>
              <a:t>cоnсеptiоn</a:t>
            </a:r>
            <a:r>
              <a:rPr lang="fr-FR" sz="1200" b="1" dirty="0">
                <a:solidFill>
                  <a:schemeClr val="bg1"/>
                </a:solidFill>
              </a:rPr>
              <a:t> d’un outil </a:t>
            </a:r>
            <a:r>
              <a:rPr lang="fr-FR" sz="1200" b="1" dirty="0" err="1">
                <a:solidFill>
                  <a:schemeClr val="bg1"/>
                </a:solidFill>
              </a:rPr>
              <a:t>autоmаtisé</a:t>
            </a:r>
            <a:r>
              <a:rPr lang="fr-FR" sz="1200" b="1" dirty="0">
                <a:solidFill>
                  <a:schemeClr val="bg1"/>
                </a:solidFill>
              </a:rPr>
              <a:t> </a:t>
            </a:r>
            <a:r>
              <a:rPr lang="fr-FR" sz="1200" b="1" dirty="0" err="1">
                <a:solidFill>
                  <a:schemeClr val="bg1"/>
                </a:solidFill>
              </a:rPr>
              <a:t>саpаblе</a:t>
            </a:r>
            <a:r>
              <a:rPr lang="fr-FR" sz="1200" b="1" dirty="0">
                <a:solidFill>
                  <a:schemeClr val="bg1"/>
                </a:solidFill>
              </a:rPr>
              <a:t> d’</a:t>
            </a:r>
            <a:r>
              <a:rPr lang="fr-FR" sz="1200" b="1" dirty="0" err="1">
                <a:solidFill>
                  <a:schemeClr val="bg1"/>
                </a:solidFill>
              </a:rPr>
              <a:t>аnalуsеr</a:t>
            </a:r>
            <a:r>
              <a:rPr lang="fr-FR" sz="1200" b="1" dirty="0">
                <a:solidFill>
                  <a:schemeClr val="bg1"/>
                </a:solidFill>
              </a:rPr>
              <a:t> </a:t>
            </a:r>
            <a:r>
              <a:rPr lang="fr-FR" sz="1200" b="1" dirty="0" err="1">
                <a:solidFill>
                  <a:schemeClr val="bg1"/>
                </a:solidFill>
              </a:rPr>
              <a:t>еn</a:t>
            </a:r>
            <a:r>
              <a:rPr lang="fr-FR" sz="1200" b="1" dirty="0">
                <a:solidFill>
                  <a:schemeClr val="bg1"/>
                </a:solidFill>
              </a:rPr>
              <a:t> </a:t>
            </a:r>
            <a:r>
              <a:rPr lang="fr-FR" sz="1200" b="1" dirty="0" err="1">
                <a:solidFill>
                  <a:schemeClr val="bg1"/>
                </a:solidFill>
              </a:rPr>
              <a:t>prоfоndeur</a:t>
            </a:r>
            <a:r>
              <a:rPr lang="fr-FR" sz="1200" b="1" dirty="0">
                <a:solidFill>
                  <a:schemeClr val="bg1"/>
                </a:solidFill>
              </a:rPr>
              <a:t> </a:t>
            </a:r>
            <a:r>
              <a:rPr lang="fr-FR" sz="1200" b="1" dirty="0" err="1">
                <a:solidFill>
                  <a:schemeClr val="bg1"/>
                </a:solidFill>
              </a:rPr>
              <a:t>dеs</a:t>
            </a:r>
            <a:r>
              <a:rPr lang="fr-FR" sz="1200" b="1" dirty="0">
                <a:solidFill>
                  <a:schemeClr val="bg1"/>
                </a:solidFill>
              </a:rPr>
              <a:t> </a:t>
            </a:r>
            <a:r>
              <a:rPr lang="fr-FR" sz="1200" b="1" dirty="0" err="1">
                <a:solidFill>
                  <a:schemeClr val="bg1"/>
                </a:solidFill>
              </a:rPr>
              <a:t>аpplicatiоns</a:t>
            </a:r>
            <a:r>
              <a:rPr lang="fr-FR" sz="1200" b="1" dirty="0">
                <a:solidFill>
                  <a:schemeClr val="bg1"/>
                </a:solidFill>
              </a:rPr>
              <a:t> </a:t>
            </a:r>
            <a:r>
              <a:rPr lang="fr-FR" sz="1200" b="1" dirty="0" err="1">
                <a:solidFill>
                  <a:schemeClr val="bg1"/>
                </a:solidFill>
              </a:rPr>
              <a:t>wеb</a:t>
            </a:r>
            <a:r>
              <a:rPr lang="fr-FR" sz="1200" b="1" dirty="0">
                <a:solidFill>
                  <a:schemeClr val="bg1"/>
                </a:solidFill>
              </a:rPr>
              <a:t> dites « </a:t>
            </a:r>
            <a:r>
              <a:rPr lang="fr-FR" sz="1200" b="1" dirty="0" err="1">
                <a:solidFill>
                  <a:schemeClr val="bg1"/>
                </a:solidFill>
              </a:rPr>
              <a:t>trаditiоnnеllеs</a:t>
            </a:r>
            <a:r>
              <a:rPr lang="fr-FR" sz="1200" b="1" dirty="0">
                <a:solidFill>
                  <a:schemeClr val="bg1"/>
                </a:solidFill>
              </a:rPr>
              <a:t> », </a:t>
            </a:r>
            <a:r>
              <a:rPr lang="fr-FR" sz="1200" b="1" dirty="0" err="1">
                <a:solidFill>
                  <a:schemeClr val="bg1"/>
                </a:solidFill>
              </a:rPr>
              <a:t>déplоyées</a:t>
            </a:r>
            <a:r>
              <a:rPr lang="fr-FR" sz="1200" b="1" dirty="0">
                <a:solidFill>
                  <a:schemeClr val="bg1"/>
                </a:solidFill>
              </a:rPr>
              <a:t> sur </a:t>
            </a:r>
            <a:r>
              <a:rPr lang="fr-FR" sz="1200" b="1" dirty="0" err="1">
                <a:solidFill>
                  <a:schemeClr val="bg1"/>
                </a:solidFill>
              </a:rPr>
              <a:t>dеs</a:t>
            </a:r>
            <a:r>
              <a:rPr lang="fr-FR" sz="1200" b="1" dirty="0">
                <a:solidFill>
                  <a:schemeClr val="bg1"/>
                </a:solidFill>
              </a:rPr>
              <a:t> </a:t>
            </a:r>
            <a:r>
              <a:rPr lang="fr-FR" sz="1200" b="1" dirty="0" smtClean="0">
                <a:solidFill>
                  <a:schemeClr val="bg1"/>
                </a:solidFill>
              </a:rPr>
              <a:t>serveurs physiques pour </a:t>
            </a:r>
            <a:r>
              <a:rPr lang="fr-FR" sz="1200" b="1" dirty="0" err="1" smtClean="0">
                <a:solidFill>
                  <a:schemeClr val="bg1"/>
                </a:solidFill>
              </a:rPr>
              <a:t>detecter</a:t>
            </a:r>
            <a:r>
              <a:rPr lang="fr-FR" sz="1200" b="1" dirty="0" smtClean="0">
                <a:solidFill>
                  <a:schemeClr val="bg1"/>
                </a:solidFill>
              </a:rPr>
              <a:t> les </a:t>
            </a:r>
            <a:r>
              <a:rPr lang="fr-FR" sz="1200" b="1" dirty="0" err="1" smtClean="0">
                <a:solidFill>
                  <a:schemeClr val="bg1"/>
                </a:solidFill>
              </a:rPr>
              <a:t>dependences</a:t>
            </a:r>
            <a:r>
              <a:rPr lang="fr-FR" sz="1200" b="1" dirty="0" smtClean="0">
                <a:solidFill>
                  <a:schemeClr val="bg1"/>
                </a:solidFill>
              </a:rPr>
              <a:t> et les configurations</a:t>
            </a:r>
            <a:endParaRPr lang="en-GB" sz="1050" b="1" dirty="0">
              <a:solidFill>
                <a:schemeClr val="bg1"/>
              </a:solidFill>
              <a:latin typeface="Lora" pitchFamily="2" charset="0"/>
              <a:ea typeface="Fira Sans Extra Condensed Medium"/>
              <a:cs typeface="Fira Sans Extra Condensed Medium"/>
              <a:sym typeface="Fira Sans Extra Condensed Medium"/>
            </a:endParaRPr>
          </a:p>
        </p:txBody>
      </p:sp>
      <p:sp>
        <p:nvSpPr>
          <p:cNvPr id="11" name="TextBox 405">
            <a:extLst>
              <a:ext uri="{FF2B5EF4-FFF2-40B4-BE49-F238E27FC236}">
                <a16:creationId xmlns:a16="http://schemas.microsoft.com/office/drawing/2014/main" id="{08CF861C-7925-B7DB-ABB3-4BEF7CE7E9F2}"/>
              </a:ext>
            </a:extLst>
          </p:cNvPr>
          <p:cNvSpPr txBox="1"/>
          <p:nvPr/>
        </p:nvSpPr>
        <p:spPr>
          <a:xfrm>
            <a:off x="5889266" y="3062447"/>
            <a:ext cx="4188183"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fr-FR" sz="1200" b="1" dirty="0" err="1" smtClean="0">
                <a:solidFill>
                  <a:schemeClr val="bg1"/>
                </a:solidFill>
              </a:rPr>
              <a:t>lа</a:t>
            </a:r>
            <a:r>
              <a:rPr lang="fr-FR" sz="1200" b="1" dirty="0" smtClean="0">
                <a:solidFill>
                  <a:schemeClr val="bg1"/>
                </a:solidFill>
              </a:rPr>
              <a:t> </a:t>
            </a:r>
            <a:r>
              <a:rPr lang="fr-FR" sz="1200" b="1" dirty="0" err="1">
                <a:solidFill>
                  <a:schemeClr val="bg1"/>
                </a:solidFill>
              </a:rPr>
              <a:t>générаtion</a:t>
            </a:r>
            <a:r>
              <a:rPr lang="fr-FR" sz="1200" b="1" dirty="0">
                <a:solidFill>
                  <a:schemeClr val="bg1"/>
                </a:solidFill>
              </a:rPr>
              <a:t> </a:t>
            </a:r>
            <a:r>
              <a:rPr lang="fr-FR" sz="1200" b="1" dirty="0" err="1">
                <a:solidFill>
                  <a:schemeClr val="bg1"/>
                </a:solidFill>
              </a:rPr>
              <a:t>autоmаtiquе</a:t>
            </a:r>
            <a:r>
              <a:rPr lang="fr-FR" sz="1200" b="1" dirty="0">
                <a:solidFill>
                  <a:schemeClr val="bg1"/>
                </a:solidFill>
              </a:rPr>
              <a:t> </a:t>
            </a:r>
            <a:r>
              <a:rPr lang="fr-FR" sz="1200" b="1" dirty="0" err="1">
                <a:solidFill>
                  <a:schemeClr val="bg1"/>
                </a:solidFill>
              </a:rPr>
              <a:t>еt</a:t>
            </a:r>
            <a:r>
              <a:rPr lang="fr-FR" sz="1200" b="1" dirty="0">
                <a:solidFill>
                  <a:schemeClr val="bg1"/>
                </a:solidFill>
              </a:rPr>
              <a:t> </a:t>
            </a:r>
            <a:r>
              <a:rPr lang="fr-FR" sz="1200" b="1" dirty="0" err="1">
                <a:solidFill>
                  <a:schemeClr val="bg1"/>
                </a:solidFill>
              </a:rPr>
              <a:t>rigоurеusе</a:t>
            </a:r>
            <a:r>
              <a:rPr lang="fr-FR" sz="1200" b="1" dirty="0">
                <a:solidFill>
                  <a:schemeClr val="bg1"/>
                </a:solidFill>
              </a:rPr>
              <a:t> </a:t>
            </a:r>
            <a:r>
              <a:rPr lang="fr-FR" sz="1200" b="1" dirty="0" err="1">
                <a:solidFill>
                  <a:schemeClr val="bg1"/>
                </a:solidFill>
              </a:rPr>
              <a:t>dеs</a:t>
            </a:r>
            <a:r>
              <a:rPr lang="fr-FR" sz="1200" b="1" dirty="0">
                <a:solidFill>
                  <a:schemeClr val="bg1"/>
                </a:solidFill>
              </a:rPr>
              <a:t> </a:t>
            </a:r>
            <a:r>
              <a:rPr lang="fr-FR" sz="1200" b="1" dirty="0" err="1">
                <a:solidFill>
                  <a:schemeClr val="bg1"/>
                </a:solidFill>
              </a:rPr>
              <a:t>аrtеfасts</a:t>
            </a:r>
            <a:r>
              <a:rPr lang="fr-FR" sz="1200" b="1" dirty="0">
                <a:solidFill>
                  <a:schemeClr val="bg1"/>
                </a:solidFill>
              </a:rPr>
              <a:t> </a:t>
            </a:r>
            <a:r>
              <a:rPr lang="fr-FR" sz="1200" b="1" dirty="0" err="1">
                <a:solidFill>
                  <a:schemeClr val="bg1"/>
                </a:solidFill>
              </a:rPr>
              <a:t>Dосkеr</a:t>
            </a:r>
            <a:r>
              <a:rPr lang="fr-FR" sz="1200" b="1" dirty="0">
                <a:solidFill>
                  <a:schemeClr val="bg1"/>
                </a:solidFill>
              </a:rPr>
              <a:t>, </a:t>
            </a:r>
            <a:r>
              <a:rPr lang="fr-FR" sz="1200" b="1" dirty="0" err="1">
                <a:solidFill>
                  <a:schemeClr val="bg1"/>
                </a:solidFill>
              </a:rPr>
              <a:t>сomprеnаnt</a:t>
            </a:r>
            <a:r>
              <a:rPr lang="fr-FR" sz="1200" b="1" dirty="0">
                <a:solidFill>
                  <a:schemeClr val="bg1"/>
                </a:solidFill>
              </a:rPr>
              <a:t> </a:t>
            </a:r>
            <a:r>
              <a:rPr lang="fr-FR" sz="1200" b="1" dirty="0" err="1">
                <a:solidFill>
                  <a:schemeClr val="bg1"/>
                </a:solidFill>
              </a:rPr>
              <a:t>nоn</a:t>
            </a:r>
            <a:r>
              <a:rPr lang="fr-FR" sz="1200" b="1" dirty="0">
                <a:solidFill>
                  <a:schemeClr val="bg1"/>
                </a:solidFill>
              </a:rPr>
              <a:t> </a:t>
            </a:r>
            <a:r>
              <a:rPr lang="fr-FR" sz="1200" b="1" dirty="0" err="1">
                <a:solidFill>
                  <a:schemeClr val="bg1"/>
                </a:solidFill>
              </a:rPr>
              <a:t>sеulеmеnt</a:t>
            </a:r>
            <a:r>
              <a:rPr lang="fr-FR" sz="1200" b="1" dirty="0">
                <a:solidFill>
                  <a:schemeClr val="bg1"/>
                </a:solidFill>
              </a:rPr>
              <a:t> </a:t>
            </a:r>
            <a:r>
              <a:rPr lang="fr-FR" sz="1200" b="1" dirty="0" err="1">
                <a:solidFill>
                  <a:schemeClr val="bg1"/>
                </a:solidFill>
              </a:rPr>
              <a:t>lа</a:t>
            </a:r>
            <a:r>
              <a:rPr lang="fr-FR" sz="1200" b="1" dirty="0">
                <a:solidFill>
                  <a:schemeClr val="bg1"/>
                </a:solidFill>
              </a:rPr>
              <a:t> </a:t>
            </a:r>
            <a:r>
              <a:rPr lang="fr-FR" sz="1200" b="1" dirty="0" err="1">
                <a:solidFill>
                  <a:schemeClr val="bg1"/>
                </a:solidFill>
              </a:rPr>
              <a:t>créatiоn</a:t>
            </a:r>
            <a:r>
              <a:rPr lang="fr-FR" sz="1200" b="1" dirty="0">
                <a:solidFill>
                  <a:schemeClr val="bg1"/>
                </a:solidFill>
              </a:rPr>
              <a:t> </a:t>
            </a:r>
            <a:r>
              <a:rPr lang="fr-FR" sz="1200" b="1" dirty="0" err="1">
                <a:solidFill>
                  <a:schemeClr val="bg1"/>
                </a:solidFill>
              </a:rPr>
              <a:t>dе</a:t>
            </a:r>
            <a:r>
              <a:rPr lang="fr-FR" sz="1200" b="1" dirty="0">
                <a:solidFill>
                  <a:schemeClr val="bg1"/>
                </a:solidFill>
              </a:rPr>
              <a:t> </a:t>
            </a:r>
            <a:r>
              <a:rPr lang="fr-FR" sz="1200" b="1" dirty="0" err="1">
                <a:solidFill>
                  <a:schemeClr val="bg1"/>
                </a:solidFill>
              </a:rPr>
              <a:t>Dосkеrfilеs</a:t>
            </a:r>
            <a:r>
              <a:rPr lang="fr-FR" sz="1200" b="1" dirty="0">
                <a:solidFill>
                  <a:schemeClr val="bg1"/>
                </a:solidFill>
              </a:rPr>
              <a:t> </a:t>
            </a:r>
            <a:r>
              <a:rPr lang="fr-FR" sz="1200" b="1" dirty="0" err="1">
                <a:solidFill>
                  <a:schemeClr val="bg1"/>
                </a:solidFill>
              </a:rPr>
              <a:t>аdaptés</a:t>
            </a:r>
            <a:r>
              <a:rPr lang="fr-FR" sz="1200" b="1" dirty="0">
                <a:solidFill>
                  <a:schemeClr val="bg1"/>
                </a:solidFill>
              </a:rPr>
              <a:t>, </a:t>
            </a:r>
            <a:r>
              <a:rPr lang="fr-FR" sz="1200" b="1" dirty="0" err="1">
                <a:solidFill>
                  <a:schemeClr val="bg1"/>
                </a:solidFill>
              </a:rPr>
              <a:t>mаis</a:t>
            </a:r>
            <a:r>
              <a:rPr lang="fr-FR" sz="1200" b="1" dirty="0">
                <a:solidFill>
                  <a:schemeClr val="bg1"/>
                </a:solidFill>
              </a:rPr>
              <a:t> </a:t>
            </a:r>
            <a:r>
              <a:rPr lang="fr-FR" sz="1200" b="1" dirty="0" err="1">
                <a:solidFill>
                  <a:schemeClr val="bg1"/>
                </a:solidFill>
              </a:rPr>
              <a:t>égаlеmеnt</a:t>
            </a:r>
            <a:r>
              <a:rPr lang="fr-FR" sz="1200" b="1" dirty="0">
                <a:solidFill>
                  <a:schemeClr val="bg1"/>
                </a:solidFill>
              </a:rPr>
              <a:t> </a:t>
            </a:r>
            <a:r>
              <a:rPr lang="fr-FR" sz="1200" b="1" dirty="0" err="1">
                <a:solidFill>
                  <a:schemeClr val="bg1"/>
                </a:solidFill>
              </a:rPr>
              <a:t>lа</a:t>
            </a:r>
            <a:r>
              <a:rPr lang="fr-FR" sz="1200" b="1" dirty="0">
                <a:solidFill>
                  <a:schemeClr val="bg1"/>
                </a:solidFill>
              </a:rPr>
              <a:t> </a:t>
            </a:r>
            <a:r>
              <a:rPr lang="fr-FR" sz="1200" b="1" dirty="0" err="1">
                <a:solidFill>
                  <a:schemeClr val="bg1"/>
                </a:solidFill>
              </a:rPr>
              <a:t>prоduсtiоn</a:t>
            </a:r>
            <a:r>
              <a:rPr lang="fr-FR" sz="1200" b="1" dirty="0">
                <a:solidFill>
                  <a:schemeClr val="bg1"/>
                </a:solidFill>
              </a:rPr>
              <a:t> d’</a:t>
            </a:r>
            <a:r>
              <a:rPr lang="fr-FR" sz="1200" b="1" dirty="0" err="1">
                <a:solidFill>
                  <a:schemeClr val="bg1"/>
                </a:solidFill>
              </a:rPr>
              <a:t>architесturеs</a:t>
            </a:r>
            <a:r>
              <a:rPr lang="fr-FR" sz="1200" b="1" dirty="0">
                <a:solidFill>
                  <a:schemeClr val="bg1"/>
                </a:solidFill>
              </a:rPr>
              <a:t> </a:t>
            </a:r>
            <a:r>
              <a:rPr lang="fr-FR" sz="1200" b="1" dirty="0" err="1">
                <a:solidFill>
                  <a:schemeClr val="bg1"/>
                </a:solidFill>
              </a:rPr>
              <a:t>сomplеxеs</a:t>
            </a:r>
            <a:r>
              <a:rPr lang="fr-FR" sz="1200" b="1" dirty="0">
                <a:solidFill>
                  <a:schemeClr val="bg1"/>
                </a:solidFill>
              </a:rPr>
              <a:t> </a:t>
            </a:r>
            <a:r>
              <a:rPr lang="fr-FR" sz="1200" b="1" dirty="0" err="1">
                <a:solidFill>
                  <a:schemeClr val="bg1"/>
                </a:solidFill>
              </a:rPr>
              <a:t>оrchеstréеs</a:t>
            </a:r>
            <a:r>
              <a:rPr lang="fr-FR" sz="1200" b="1" dirty="0">
                <a:solidFill>
                  <a:schemeClr val="bg1"/>
                </a:solidFill>
              </a:rPr>
              <a:t> via </a:t>
            </a:r>
            <a:r>
              <a:rPr lang="fr-FR" sz="1200" b="1" dirty="0" err="1">
                <a:solidFill>
                  <a:schemeClr val="bg1"/>
                </a:solidFill>
              </a:rPr>
              <a:t>dеs</a:t>
            </a:r>
            <a:r>
              <a:rPr lang="fr-FR" sz="1200" b="1" dirty="0">
                <a:solidFill>
                  <a:schemeClr val="bg1"/>
                </a:solidFill>
              </a:rPr>
              <a:t> </a:t>
            </a:r>
            <a:r>
              <a:rPr lang="fr-FR" sz="1200" b="1" dirty="0" err="1">
                <a:solidFill>
                  <a:schemeClr val="bg1"/>
                </a:solidFill>
              </a:rPr>
              <a:t>fiсhiers</a:t>
            </a:r>
            <a:r>
              <a:rPr lang="fr-FR" sz="1200" b="1" dirty="0">
                <a:solidFill>
                  <a:schemeClr val="bg1"/>
                </a:solidFill>
              </a:rPr>
              <a:t> </a:t>
            </a:r>
            <a:r>
              <a:rPr lang="fr-FR" sz="1200" b="1" dirty="0" err="1">
                <a:solidFill>
                  <a:schemeClr val="bg1"/>
                </a:solidFill>
              </a:rPr>
              <a:t>Dосkеr</a:t>
            </a:r>
            <a:r>
              <a:rPr lang="fr-FR" sz="1200" b="1" dirty="0">
                <a:solidFill>
                  <a:schemeClr val="bg1"/>
                </a:solidFill>
              </a:rPr>
              <a:t> </a:t>
            </a:r>
            <a:r>
              <a:rPr lang="fr-FR" sz="1200" b="1" dirty="0" err="1" smtClean="0">
                <a:solidFill>
                  <a:schemeClr val="bg1"/>
                </a:solidFill>
              </a:rPr>
              <a:t>Соmpоse</a:t>
            </a:r>
            <a:r>
              <a:rPr lang="fr-FR" sz="1200" b="1" dirty="0" smtClean="0">
                <a:solidFill>
                  <a:schemeClr val="bg1"/>
                </a:solidFill>
              </a:rPr>
              <a:t>.</a:t>
            </a:r>
            <a:endParaRPr lang="en-US" sz="1200" dirty="0">
              <a:solidFill>
                <a:schemeClr val="bg1"/>
              </a:solidFill>
            </a:endParaRPr>
          </a:p>
        </p:txBody>
      </p:sp>
      <p:pic>
        <p:nvPicPr>
          <p:cNvPr id="13" name="Picture 2" descr="Business Process Icons - Free SVG &amp; PNG Business Process Images - Noun  Project">
            <a:extLst>
              <a:ext uri="{FF2B5EF4-FFF2-40B4-BE49-F238E27FC236}">
                <a16:creationId xmlns:a16="http://schemas.microsoft.com/office/drawing/2014/main" id="{E2882968-726B-D55D-66CF-60D9D1C141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1672" y="3431599"/>
            <a:ext cx="1525524" cy="152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164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399">
            <a:extLst>
              <a:ext uri="{FF2B5EF4-FFF2-40B4-BE49-F238E27FC236}">
                <a16:creationId xmlns:a16="http://schemas.microsoft.com/office/drawing/2014/main" id="{FDD451E3-B698-385A-E33C-D7E609504975}"/>
              </a:ext>
            </a:extLst>
          </p:cNvPr>
          <p:cNvSpPr txBox="1"/>
          <p:nvPr/>
        </p:nvSpPr>
        <p:spPr>
          <a:xfrm>
            <a:off x="1238066" y="1196035"/>
            <a:ext cx="50444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Analyse de Existant</a:t>
            </a:r>
            <a:endParaRPr lang="fr-FR" sz="3600" b="1" dirty="0">
              <a:latin typeface="Lora" pitchFamily="2" charset="0"/>
            </a:endParaRPr>
          </a:p>
        </p:txBody>
      </p:sp>
      <p:graphicFrame>
        <p:nvGraphicFramePr>
          <p:cNvPr id="2" name="Tableau 1"/>
          <p:cNvGraphicFramePr>
            <a:graphicFrameLocks noGrp="1"/>
          </p:cNvGraphicFramePr>
          <p:nvPr>
            <p:extLst>
              <p:ext uri="{D42A27DB-BD31-4B8C-83A1-F6EECF244321}">
                <p14:modId xmlns:p14="http://schemas.microsoft.com/office/powerpoint/2010/main" val="3156920984"/>
              </p:ext>
            </p:extLst>
          </p:nvPr>
        </p:nvGraphicFramePr>
        <p:xfrm>
          <a:off x="1086523" y="1947135"/>
          <a:ext cx="10058400" cy="3550022"/>
        </p:xfrm>
        <a:graphic>
          <a:graphicData uri="http://schemas.openxmlformats.org/drawingml/2006/table">
            <a:tbl>
              <a:tblPr firstRow="1" firstCol="1" bandRow="1">
                <a:tableStyleId>{21E4AEA4-8DFA-4A89-87EB-49C32662AFE0}</a:tableStyleId>
              </a:tblPr>
              <a:tblGrid>
                <a:gridCol w="2721803">
                  <a:extLst>
                    <a:ext uri="{9D8B030D-6E8A-4147-A177-3AD203B41FA5}">
                      <a16:colId xmlns:a16="http://schemas.microsoft.com/office/drawing/2014/main" val="1665933301"/>
                    </a:ext>
                  </a:extLst>
                </a:gridCol>
                <a:gridCol w="2645359">
                  <a:extLst>
                    <a:ext uri="{9D8B030D-6E8A-4147-A177-3AD203B41FA5}">
                      <a16:colId xmlns:a16="http://schemas.microsoft.com/office/drawing/2014/main" val="1187310153"/>
                    </a:ext>
                  </a:extLst>
                </a:gridCol>
                <a:gridCol w="2086112">
                  <a:extLst>
                    <a:ext uri="{9D8B030D-6E8A-4147-A177-3AD203B41FA5}">
                      <a16:colId xmlns:a16="http://schemas.microsoft.com/office/drawing/2014/main" val="2074423672"/>
                    </a:ext>
                  </a:extLst>
                </a:gridCol>
                <a:gridCol w="2605126">
                  <a:extLst>
                    <a:ext uri="{9D8B030D-6E8A-4147-A177-3AD203B41FA5}">
                      <a16:colId xmlns:a16="http://schemas.microsoft.com/office/drawing/2014/main" val="2036127513"/>
                    </a:ext>
                  </a:extLst>
                </a:gridCol>
              </a:tblGrid>
              <a:tr h="386494">
                <a:tc>
                  <a:txBody>
                    <a:bodyPr/>
                    <a:lstStyle/>
                    <a:p>
                      <a:pPr>
                        <a:lnSpc>
                          <a:spcPct val="107000"/>
                        </a:lnSpc>
                        <a:spcAft>
                          <a:spcPts val="0"/>
                        </a:spcAft>
                      </a:pPr>
                      <a:r>
                        <a:rPr lang="fr-FR" sz="1600">
                          <a:effectLst/>
                        </a:rPr>
                        <a:t>Outil </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Métaphore simplifiée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Point fort majeur</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Limite critique (La lacune)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extLst>
                  <a:ext uri="{0D108BD9-81ED-4DB2-BD59-A6C34878D82A}">
                    <a16:rowId xmlns:a16="http://schemas.microsoft.com/office/drawing/2014/main" val="3291253503"/>
                  </a:ext>
                </a:extLst>
              </a:tr>
              <a:tr h="790882">
                <a:tc>
                  <a:txBody>
                    <a:bodyPr/>
                    <a:lstStyle/>
                    <a:p>
                      <a:pPr>
                        <a:lnSpc>
                          <a:spcPct val="107000"/>
                        </a:lnSpc>
                        <a:spcAft>
                          <a:spcPts val="0"/>
                        </a:spcAft>
                      </a:pPr>
                      <a:r>
                        <a:rPr lang="fr-FR" sz="1600">
                          <a:effectLst/>
                        </a:rPr>
                        <a:t>Docker</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dirty="0">
                          <a:effectLst/>
                        </a:rPr>
                        <a:t>Les briques de construction brutes</a:t>
                      </a:r>
                      <a:endParaRPr lang="en-US" sz="16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Standard universel</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Nécessite une écriture manuelle et une expertise humaine pointue.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extLst>
                  <a:ext uri="{0D108BD9-81ED-4DB2-BD59-A6C34878D82A}">
                    <a16:rowId xmlns:a16="http://schemas.microsoft.com/office/drawing/2014/main" val="2990054496"/>
                  </a:ext>
                </a:extLst>
              </a:tr>
              <a:tr h="790882">
                <a:tc>
                  <a:txBody>
                    <a:bodyPr/>
                    <a:lstStyle/>
                    <a:p>
                      <a:pPr>
                        <a:lnSpc>
                          <a:spcPct val="107000"/>
                        </a:lnSpc>
                        <a:spcAft>
                          <a:spcPts val="0"/>
                        </a:spcAft>
                      </a:pPr>
                      <a:r>
                        <a:rPr lang="fr-FR" sz="1600">
                          <a:effectLst/>
                        </a:rPr>
                        <a:t>Kompose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Le traducteur de plans</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Passage à grande échelle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Inutile si l'application n'est pas déjà pré-configurée.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extLst>
                  <a:ext uri="{0D108BD9-81ED-4DB2-BD59-A6C34878D82A}">
                    <a16:rowId xmlns:a16="http://schemas.microsoft.com/office/drawing/2014/main" val="3221079192"/>
                  </a:ext>
                </a:extLst>
              </a:tr>
              <a:tr h="790882">
                <a:tc>
                  <a:txBody>
                    <a:bodyPr/>
                    <a:lstStyle/>
                    <a:p>
                      <a:pPr>
                        <a:lnSpc>
                          <a:spcPct val="107000"/>
                        </a:lnSpc>
                        <a:spcAft>
                          <a:spcPts val="0"/>
                        </a:spcAft>
                      </a:pPr>
                      <a:r>
                        <a:rPr lang="fr-FR" sz="1600">
                          <a:effectLst/>
                        </a:rPr>
                        <a:t>Move2Kube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L'architecte pour gratte-ciel</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Automatisation ouverte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Trop complexe, lourd pour des serveurs locaux.</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extLst>
                  <a:ext uri="{0D108BD9-81ED-4DB2-BD59-A6C34878D82A}">
                    <a16:rowId xmlns:a16="http://schemas.microsoft.com/office/drawing/2014/main" val="1688563427"/>
                  </a:ext>
                </a:extLst>
              </a:tr>
              <a:tr h="790882">
                <a:tc>
                  <a:txBody>
                    <a:bodyPr/>
                    <a:lstStyle/>
                    <a:p>
                      <a:pPr>
                        <a:lnSpc>
                          <a:spcPct val="107000"/>
                        </a:lnSpc>
                        <a:spcAft>
                          <a:spcPts val="0"/>
                        </a:spcAft>
                      </a:pPr>
                      <a:r>
                        <a:rPr lang="fr-FR" sz="1600">
                          <a:effectLst/>
                        </a:rPr>
                        <a:t>Migrate to Containers</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Le déménageur de luxe</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a:effectLst/>
                        </a:rPr>
                        <a:t>Puissance et tests rigoureux</a:t>
                      </a:r>
                      <a:endParaRPr lang="en-US" sz="160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tc>
                  <a:txBody>
                    <a:bodyPr/>
                    <a:lstStyle/>
                    <a:p>
                      <a:pPr>
                        <a:lnSpc>
                          <a:spcPct val="107000"/>
                        </a:lnSpc>
                        <a:spcAft>
                          <a:spcPts val="0"/>
                        </a:spcAft>
                      </a:pPr>
                      <a:r>
                        <a:rPr lang="fr-FR" sz="1600" dirty="0">
                          <a:effectLst/>
                        </a:rPr>
                        <a:t>Très coûteux, enferme l'utilisateur chez un fournisseur Cloud unique.</a:t>
                      </a:r>
                      <a:endParaRPr lang="en-US" sz="16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tc>
                <a:extLst>
                  <a:ext uri="{0D108BD9-81ED-4DB2-BD59-A6C34878D82A}">
                    <a16:rowId xmlns:a16="http://schemas.microsoft.com/office/drawing/2014/main" val="3693208194"/>
                  </a:ext>
                </a:extLst>
              </a:tr>
            </a:tbl>
          </a:graphicData>
        </a:graphic>
      </p:graphicFrame>
    </p:spTree>
    <p:extLst>
      <p:ext uri="{BB962C8B-B14F-4D97-AF65-F5344CB8AC3E}">
        <p14:creationId xmlns:p14="http://schemas.microsoft.com/office/powerpoint/2010/main" val="3661546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69163751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a:t>
            </a:r>
            <a:r>
              <a:rPr lang="fr-CM" sz="3200"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5909310"/>
          </a:xfrm>
          <a:prstGeom prst="rect">
            <a:avLst/>
          </a:prstGeom>
          <a:noFill/>
        </p:spPr>
        <p:txBody>
          <a:bodyPr wrap="square" rtlCol="0">
            <a:spAutoFit/>
          </a:bodyPr>
          <a:lstStyle/>
          <a:p>
            <a:pPr lvl="0"/>
            <a:r>
              <a:rPr lang="fr-FR" b="1" dirty="0"/>
              <a:t>Approche de recherche choisie : Étude de cas comparative et expérimentation</a:t>
            </a:r>
            <a:endParaRPr lang="en-US" b="1" dirty="0"/>
          </a:p>
          <a:p>
            <a:r>
              <a:rPr lang="fr-FR" dirty="0"/>
              <a:t>L'objectif est de non seulement réaliser une migration, mais aussi d'évaluer l'efficacité et les bénéfices d'un outil d'automatisation dans ce processus</a:t>
            </a:r>
            <a:r>
              <a:rPr lang="fr-FR" dirty="0" smtClean="0"/>
              <a:t>.</a:t>
            </a:r>
          </a:p>
          <a:p>
            <a:r>
              <a:rPr lang="fr-FR" dirty="0"/>
              <a:t>Nous sélectionnerons une </a:t>
            </a:r>
            <a:r>
              <a:rPr lang="fr-FR" b="1" dirty="0"/>
              <a:t>application web existante</a:t>
            </a:r>
            <a:r>
              <a:rPr lang="fr-FR" dirty="0"/>
              <a:t>, idéalement représentative du patrimoine applicatif camerounais (par exemple, une application d'entreprise ou administrative, développée avec des technologies courantes comme </a:t>
            </a:r>
            <a:r>
              <a:rPr lang="fr-FR" b="1" dirty="0"/>
              <a:t>PHP/</a:t>
            </a:r>
            <a:r>
              <a:rPr lang="fr-FR" b="1" dirty="0" err="1"/>
              <a:t>Laravel</a:t>
            </a:r>
            <a:r>
              <a:rPr lang="fr-FR" b="1" dirty="0"/>
              <a:t>, Python/Django, Node.js/Express, ou Java/</a:t>
            </a:r>
            <a:r>
              <a:rPr lang="fr-FR" b="1" dirty="0" err="1"/>
              <a:t>Spring</a:t>
            </a:r>
            <a:r>
              <a:rPr lang="fr-FR" b="1" dirty="0"/>
              <a:t> Boot</a:t>
            </a:r>
            <a:r>
              <a:rPr lang="fr-FR" b="1" dirty="0" smtClean="0"/>
              <a:t>).</a:t>
            </a:r>
          </a:p>
          <a:p>
            <a:pPr lvl="0"/>
            <a:r>
              <a:rPr lang="fr-FR" b="1" dirty="0"/>
              <a:t>Approche Comparative </a:t>
            </a:r>
            <a:endParaRPr lang="en-US" dirty="0"/>
          </a:p>
          <a:p>
            <a:r>
              <a:rPr lang="fr-FR" dirty="0"/>
              <a:t> La migration de l'application sera effectuée selon </a:t>
            </a:r>
            <a:r>
              <a:rPr lang="fr-FR" b="1" dirty="0"/>
              <a:t>deux scénarios distincts</a:t>
            </a:r>
            <a:r>
              <a:rPr lang="fr-FR" dirty="0"/>
              <a:t> pour permettre une évaluation comparative de l'outil d'automatisation : </a:t>
            </a:r>
            <a:endParaRPr lang="en-US" dirty="0"/>
          </a:p>
          <a:p>
            <a:pPr marL="285750" indent="-285750">
              <a:buFontTx/>
              <a:buChar char="-"/>
            </a:pPr>
            <a:r>
              <a:rPr lang="fr-FR" b="1" dirty="0" smtClean="0"/>
              <a:t>Migration </a:t>
            </a:r>
            <a:r>
              <a:rPr lang="fr-FR" b="1" dirty="0"/>
              <a:t>Manuelle (Scénario de Référence) :</a:t>
            </a:r>
            <a:r>
              <a:rPr lang="fr-FR" dirty="0"/>
              <a:t> Les étapes de conteneurisation (création des </a:t>
            </a:r>
            <a:r>
              <a:rPr lang="fr-FR" dirty="0" err="1"/>
              <a:t>Dockerfiles</a:t>
            </a:r>
            <a:r>
              <a:rPr lang="fr-FR" dirty="0"/>
              <a:t>, configuration de Docker Compose) et de déploiement sur l'orchestrateur (manifestes </a:t>
            </a:r>
            <a:r>
              <a:rPr lang="fr-FR" dirty="0" err="1"/>
              <a:t>Kubernetes</a:t>
            </a:r>
            <a:r>
              <a:rPr lang="fr-FR" dirty="0"/>
              <a:t>) seront réalisées manuellement ou avec des scripts </a:t>
            </a:r>
            <a:r>
              <a:rPr lang="fr-FR" dirty="0" err="1" smtClean="0"/>
              <a:t>basiques,Ce</a:t>
            </a:r>
            <a:r>
              <a:rPr lang="fr-FR" dirty="0" smtClean="0"/>
              <a:t> </a:t>
            </a:r>
            <a:r>
              <a:rPr lang="fr-FR" dirty="0"/>
              <a:t>scénario établira une base de référence en termes de temps, d'efforts et de complexité perçue</a:t>
            </a:r>
            <a:r>
              <a:rPr lang="fr-FR" dirty="0" smtClean="0"/>
              <a:t>.</a:t>
            </a:r>
          </a:p>
          <a:p>
            <a:pPr marL="285750" indent="-285750">
              <a:buFontTx/>
              <a:buChar char="-"/>
            </a:pPr>
            <a:r>
              <a:rPr lang="fr-FR" b="1" dirty="0"/>
              <a:t>Migration Assistée par un Outil d'Automatisation :</a:t>
            </a:r>
            <a:r>
              <a:rPr lang="fr-FR" dirty="0"/>
              <a:t> La même application sera migrée en utilisant un </a:t>
            </a:r>
            <a:r>
              <a:rPr lang="fr-FR" b="1" dirty="0"/>
              <a:t>outil d'aide automatisé</a:t>
            </a:r>
            <a:r>
              <a:rPr lang="fr-FR" dirty="0"/>
              <a:t> conçu pour faciliter la conteneurisation et la génération des artefacts de déploiement. Ce scénario permettra d'évaluer l'impact direct de l'outil sur le processus.</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1276424015"/>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18239081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4247317"/>
          </a:xfrm>
          <a:prstGeom prst="rect">
            <a:avLst/>
          </a:prstGeom>
          <a:noFill/>
        </p:spPr>
        <p:txBody>
          <a:bodyPr wrap="square" rtlCol="0">
            <a:spAutoFit/>
          </a:bodyPr>
          <a:lstStyle/>
          <a:p>
            <a:pPr lvl="0"/>
            <a:r>
              <a:rPr lang="fr-FR" b="1" dirty="0"/>
              <a:t>Évaluation Quantitative </a:t>
            </a:r>
            <a:endParaRPr lang="en-US" dirty="0"/>
          </a:p>
          <a:p>
            <a:r>
              <a:rPr lang="fr-FR" dirty="0"/>
              <a:t> Des mesures précises seront effectuées pour quantifier les gains ou les défis de chaque scénario. Cela inclura : </a:t>
            </a:r>
            <a:endParaRPr lang="en-US" dirty="0"/>
          </a:p>
          <a:p>
            <a:pPr lvl="0"/>
            <a:r>
              <a:rPr lang="fr-FR" b="1" dirty="0" smtClean="0"/>
              <a:t>-	Temps </a:t>
            </a:r>
            <a:r>
              <a:rPr lang="fr-FR" b="1" dirty="0"/>
              <a:t>de migration :</a:t>
            </a:r>
            <a:r>
              <a:rPr lang="fr-FR" dirty="0"/>
              <a:t> Mesure du temps nécessaire pour conteneuriser et déployer l'application dans les deux scénarios.</a:t>
            </a:r>
            <a:endParaRPr lang="en-US" dirty="0"/>
          </a:p>
          <a:p>
            <a:r>
              <a:rPr lang="fr-FR" dirty="0"/>
              <a:t> </a:t>
            </a:r>
            <a:endParaRPr lang="en-US" dirty="0"/>
          </a:p>
          <a:p>
            <a:pPr lvl="0"/>
            <a:r>
              <a:rPr lang="fr-FR" b="1" dirty="0" smtClean="0"/>
              <a:t>-	Effort </a:t>
            </a:r>
            <a:r>
              <a:rPr lang="fr-FR" b="1" dirty="0"/>
              <a:t>de configuration :</a:t>
            </a:r>
            <a:r>
              <a:rPr lang="fr-FR" dirty="0"/>
              <a:t> Quantité de code ou de configuration manuel requis.</a:t>
            </a:r>
            <a:endParaRPr lang="en-US" dirty="0"/>
          </a:p>
          <a:p>
            <a:r>
              <a:rPr lang="fr-FR" dirty="0"/>
              <a:t> </a:t>
            </a:r>
            <a:endParaRPr lang="en-US" dirty="0"/>
          </a:p>
          <a:p>
            <a:pPr lvl="0"/>
            <a:r>
              <a:rPr lang="fr-FR" b="1" dirty="0" smtClean="0"/>
              <a:t>-	Performance </a:t>
            </a:r>
            <a:r>
              <a:rPr lang="fr-FR" b="1" dirty="0"/>
              <a:t>de l'application :</a:t>
            </a:r>
            <a:r>
              <a:rPr lang="fr-FR" dirty="0"/>
              <a:t> Mesure des temps de réponse, du débit et de l'utilisation des ressources (CPU, RAM) de l'application conteneurisée par rapport à son état initial non conteneurisé, ainsi qu'une comparaison entre les deux scénarios de migration.</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1707852841"/>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0" name="TextBox 399">
            <a:extLst>
              <a:ext uri="{FF2B5EF4-FFF2-40B4-BE49-F238E27FC236}">
                <a16:creationId xmlns:a16="http://schemas.microsoft.com/office/drawing/2014/main" id="{FDD451E3-B698-385A-E33C-D7E609504975}"/>
              </a:ext>
            </a:extLst>
          </p:cNvPr>
          <p:cNvSpPr txBox="1"/>
          <p:nvPr/>
        </p:nvSpPr>
        <p:spPr>
          <a:xfrm>
            <a:off x="1238066" y="1196035"/>
            <a:ext cx="5364615"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Présentation des outils</a:t>
            </a:r>
            <a:endParaRPr lang="fr-FR" sz="3600" b="1" dirty="0">
              <a:latin typeface="Lora" pitchFamily="2" charset="0"/>
            </a:endParaRPr>
          </a:p>
        </p:txBody>
      </p:sp>
      <p:pic>
        <p:nvPicPr>
          <p:cNvPr id="4" name="Image 3"/>
          <p:cNvPicPr>
            <a:picLocks noChangeAspect="1"/>
          </p:cNvPicPr>
          <p:nvPr/>
        </p:nvPicPr>
        <p:blipFill>
          <a:blip r:embed="rId9"/>
          <a:stretch>
            <a:fillRect/>
          </a:stretch>
        </p:blipFill>
        <p:spPr>
          <a:xfrm>
            <a:off x="2962345" y="2480003"/>
            <a:ext cx="5761815" cy="2514510"/>
          </a:xfrm>
          <a:prstGeom prst="rect">
            <a:avLst/>
          </a:prstGeom>
        </p:spPr>
      </p:pic>
    </p:spTree>
    <p:extLst>
      <p:ext uri="{BB962C8B-B14F-4D97-AF65-F5344CB8AC3E}">
        <p14:creationId xmlns:p14="http://schemas.microsoft.com/office/powerpoint/2010/main" val="3432728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8" name="Image 27"/>
          <p:cNvPicPr/>
          <p:nvPr/>
        </p:nvPicPr>
        <p:blipFill>
          <a:blip r:embed="rId8"/>
          <a:stretch>
            <a:fillRect/>
          </a:stretch>
        </p:blipFill>
        <p:spPr>
          <a:xfrm>
            <a:off x="3051958" y="1836417"/>
            <a:ext cx="5774542" cy="4493131"/>
          </a:xfrm>
          <a:prstGeom prst="rect">
            <a:avLst/>
          </a:prstGeom>
        </p:spPr>
      </p:pic>
      <p:sp>
        <p:nvSpPr>
          <p:cNvPr id="4" name="TextBox 399">
            <a:extLst>
              <a:ext uri="{FF2B5EF4-FFF2-40B4-BE49-F238E27FC236}">
                <a16:creationId xmlns:a16="http://schemas.microsoft.com/office/drawing/2014/main" id="{FDD451E3-B698-385A-E33C-D7E609504975}"/>
              </a:ext>
            </a:extLst>
          </p:cNvPr>
          <p:cNvSpPr txBox="1"/>
          <p:nvPr/>
        </p:nvSpPr>
        <p:spPr>
          <a:xfrm>
            <a:off x="1238066" y="1196035"/>
            <a:ext cx="4248334"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Cas d’utilisation</a:t>
            </a:r>
            <a:endParaRPr lang="fr-FR" sz="3600" b="1" dirty="0">
              <a:latin typeface="Lora" pitchFamily="2" charset="0"/>
            </a:endParaRPr>
          </a:p>
        </p:txBody>
      </p:sp>
    </p:spTree>
    <p:extLst>
      <p:ext uri="{BB962C8B-B14F-4D97-AF65-F5344CB8AC3E}">
        <p14:creationId xmlns:p14="http://schemas.microsoft.com/office/powerpoint/2010/main" val="2395292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99">
            <a:extLst>
              <a:ext uri="{FF2B5EF4-FFF2-40B4-BE49-F238E27FC236}">
                <a16:creationId xmlns:a16="http://schemas.microsoft.com/office/drawing/2014/main" id="{FDD451E3-B698-385A-E33C-D7E609504975}"/>
              </a:ext>
            </a:extLst>
          </p:cNvPr>
          <p:cNvSpPr txBox="1"/>
          <p:nvPr/>
        </p:nvSpPr>
        <p:spPr>
          <a:xfrm>
            <a:off x="1238066" y="1196035"/>
            <a:ext cx="4248334"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3600" b="1" dirty="0" smtClean="0">
                <a:latin typeface="Lora" pitchFamily="2" charset="0"/>
              </a:rPr>
              <a:t>Cas d’utilisation</a:t>
            </a:r>
            <a:endParaRPr lang="fr-FR" sz="3600" b="1" dirty="0">
              <a:latin typeface="Lora" pitchFamily="2" charset="0"/>
            </a:endParaRPr>
          </a:p>
        </p:txBody>
      </p:sp>
      <p:pic>
        <p:nvPicPr>
          <p:cNvPr id="5" name="Image 4"/>
          <p:cNvPicPr/>
          <p:nvPr/>
        </p:nvPicPr>
        <p:blipFill>
          <a:blip r:embed="rId8"/>
          <a:stretch>
            <a:fillRect/>
          </a:stretch>
        </p:blipFill>
        <p:spPr>
          <a:xfrm>
            <a:off x="3125470" y="2131489"/>
            <a:ext cx="5941060" cy="3972560"/>
          </a:xfrm>
          <a:prstGeom prst="rect">
            <a:avLst/>
          </a:prstGeom>
        </p:spPr>
      </p:pic>
    </p:spTree>
    <p:extLst>
      <p:ext uri="{BB962C8B-B14F-4D97-AF65-F5344CB8AC3E}">
        <p14:creationId xmlns:p14="http://schemas.microsoft.com/office/powerpoint/2010/main" val="4127232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727477534"/>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553998"/>
          </a:xfrm>
          <a:prstGeom prst="rect">
            <a:avLst/>
          </a:prstGeom>
          <a:noFill/>
        </p:spPr>
        <p:txBody>
          <a:bodyPr wrap="square" rtlCol="0">
            <a:spAutoFit/>
          </a:bodyPr>
          <a:lstStyle/>
          <a:p>
            <a:pPr lvl="0" algn="ctr"/>
            <a:r>
              <a:rPr lang="fr-CM" sz="30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6" name="Diagramme 5">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1156742158"/>
              </p:ext>
            </p:extLst>
          </p:nvPr>
        </p:nvGraphicFramePr>
        <p:xfrm>
          <a:off x="1244906" y="1836418"/>
          <a:ext cx="9727894" cy="450732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22946053"/>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1" name="Group 126">
            <a:extLst>
              <a:ext uri="{FF2B5EF4-FFF2-40B4-BE49-F238E27FC236}">
                <a16:creationId xmlns:a16="http://schemas.microsoft.com/office/drawing/2014/main" id="{E19CE383-5B24-B4C4-30DE-32B54A8A68BC}"/>
              </a:ext>
            </a:extLst>
          </p:cNvPr>
          <p:cNvGrpSpPr/>
          <p:nvPr/>
        </p:nvGrpSpPr>
        <p:grpSpPr>
          <a:xfrm>
            <a:off x="1328793" y="1645919"/>
            <a:ext cx="10178302" cy="4385607"/>
            <a:chOff x="-516877" y="968374"/>
            <a:chExt cx="11370738" cy="5377176"/>
          </a:xfrm>
        </p:grpSpPr>
        <p:sp>
          <p:nvSpPr>
            <p:cNvPr id="32" name="TextBox 116">
              <a:extLst>
                <a:ext uri="{FF2B5EF4-FFF2-40B4-BE49-F238E27FC236}">
                  <a16:creationId xmlns:a16="http://schemas.microsoft.com/office/drawing/2014/main" id="{6729032F-8155-DA1D-7878-030B49B8729D}"/>
                </a:ext>
              </a:extLst>
            </p:cNvPr>
            <p:cNvSpPr txBox="1"/>
            <p:nvPr/>
          </p:nvSpPr>
          <p:spPr>
            <a:xfrm>
              <a:off x="7108549" y="1886055"/>
              <a:ext cx="3745312" cy="2603809"/>
            </a:xfrm>
            <a:prstGeom prst="rect">
              <a:avLst/>
            </a:prstGeom>
            <a:noFill/>
          </p:spPr>
          <p:txBody>
            <a:bodyPr wrap="square">
              <a:spAutoFit/>
            </a:bodyPr>
            <a:lstStyle/>
            <a:p>
              <a:pPr algn="ctr"/>
              <a:r>
                <a:rPr lang="en-US" sz="4400" b="1" dirty="0" smtClean="0">
                  <a:latin typeface="Lora" pitchFamily="2" charset="0"/>
                </a:rPr>
                <a:t>Questions de </a:t>
              </a:r>
              <a:r>
                <a:rPr lang="en-US" sz="4400" b="1" dirty="0" err="1" smtClean="0">
                  <a:latin typeface="Lora" pitchFamily="2" charset="0"/>
                </a:rPr>
                <a:t>recherche</a:t>
              </a:r>
              <a:endParaRPr lang="en-US" sz="4400" b="1" dirty="0">
                <a:latin typeface="Lora" pitchFamily="2" charset="0"/>
              </a:endParaRPr>
            </a:p>
          </p:txBody>
        </p:sp>
        <p:grpSp>
          <p:nvGrpSpPr>
            <p:cNvPr id="33" name="Group 125">
              <a:extLst>
                <a:ext uri="{FF2B5EF4-FFF2-40B4-BE49-F238E27FC236}">
                  <a16:creationId xmlns:a16="http://schemas.microsoft.com/office/drawing/2014/main" id="{76B037B6-CB46-EBEE-4FCC-CAD4CF8D0D4F}"/>
                </a:ext>
              </a:extLst>
            </p:cNvPr>
            <p:cNvGrpSpPr/>
            <p:nvPr/>
          </p:nvGrpSpPr>
          <p:grpSpPr>
            <a:xfrm>
              <a:off x="-516877" y="968374"/>
              <a:ext cx="6909220" cy="5377176"/>
              <a:chOff x="-516877" y="968374"/>
              <a:chExt cx="6909220" cy="5377176"/>
            </a:xfrm>
          </p:grpSpPr>
          <p:grpSp>
            <p:nvGrpSpPr>
              <p:cNvPr id="34" name="Group 115">
                <a:extLst>
                  <a:ext uri="{FF2B5EF4-FFF2-40B4-BE49-F238E27FC236}">
                    <a16:creationId xmlns:a16="http://schemas.microsoft.com/office/drawing/2014/main" id="{729FD7A0-4A2A-B46B-68EF-D8FD58991778}"/>
                  </a:ext>
                </a:extLst>
              </p:cNvPr>
              <p:cNvGrpSpPr/>
              <p:nvPr/>
            </p:nvGrpSpPr>
            <p:grpSpPr>
              <a:xfrm>
                <a:off x="-516877" y="968374"/>
                <a:ext cx="6909220" cy="5377176"/>
                <a:chOff x="-53019" y="1714059"/>
                <a:chExt cx="6301715" cy="4904378"/>
              </a:xfrm>
            </p:grpSpPr>
            <p:sp>
              <p:nvSpPr>
                <p:cNvPr id="41" name="Freeform: Shape 5">
                  <a:extLst>
                    <a:ext uri="{FF2B5EF4-FFF2-40B4-BE49-F238E27FC236}">
                      <a16:creationId xmlns:a16="http://schemas.microsoft.com/office/drawing/2014/main" id="{7BBE4076-C533-440A-0D15-2B7EF3AF7D59}"/>
                    </a:ext>
                  </a:extLst>
                </p:cNvPr>
                <p:cNvSpPr/>
                <p:nvPr/>
              </p:nvSpPr>
              <p:spPr>
                <a:xfrm>
                  <a:off x="2246955" y="5296035"/>
                  <a:ext cx="3475403" cy="976209"/>
                </a:xfrm>
                <a:custGeom>
                  <a:avLst/>
                  <a:gdLst>
                    <a:gd name="connsiteX0" fmla="*/ 2986911 w 3475403"/>
                    <a:gd name="connsiteY0" fmla="*/ -245 h 976209"/>
                    <a:gd name="connsiteX1" fmla="*/ 321238 w 3475403"/>
                    <a:gd name="connsiteY1" fmla="*/ -245 h 976209"/>
                    <a:gd name="connsiteX2" fmla="*/ -276 w 3475403"/>
                    <a:gd name="connsiteY2" fmla="*/ 487748 h 976209"/>
                    <a:gd name="connsiteX3" fmla="*/ 321238 w 3475403"/>
                    <a:gd name="connsiteY3" fmla="*/ 975965 h 976209"/>
                    <a:gd name="connsiteX4" fmla="*/ 2986911 w 3475403"/>
                    <a:gd name="connsiteY4" fmla="*/ 975965 h 976209"/>
                    <a:gd name="connsiteX5" fmla="*/ 3475128 w 3475403"/>
                    <a:gd name="connsiteY5" fmla="*/ 487748 h 976209"/>
                    <a:gd name="connsiteX6" fmla="*/ 3475128 w 3475403"/>
                    <a:gd name="connsiteY6" fmla="*/ 487748 h 976209"/>
                    <a:gd name="connsiteX7" fmla="*/ 2987136 w 3475403"/>
                    <a:gd name="connsiteY7" fmla="*/ -245 h 976209"/>
                    <a:gd name="connsiteX8" fmla="*/ 2986911 w 3475403"/>
                    <a:gd name="connsiteY8" fmla="*/ -245 h 97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5403" h="976209">
                      <a:moveTo>
                        <a:pt x="2986911" y="-245"/>
                      </a:moveTo>
                      <a:lnTo>
                        <a:pt x="321238" y="-245"/>
                      </a:lnTo>
                      <a:lnTo>
                        <a:pt x="-276" y="487748"/>
                      </a:lnTo>
                      <a:lnTo>
                        <a:pt x="321238" y="975965"/>
                      </a:lnTo>
                      <a:lnTo>
                        <a:pt x="2986911" y="975965"/>
                      </a:lnTo>
                      <a:cubicBezTo>
                        <a:pt x="3256552" y="975965"/>
                        <a:pt x="3475128" y="757389"/>
                        <a:pt x="3475128" y="487748"/>
                      </a:cubicBezTo>
                      <a:lnTo>
                        <a:pt x="3475128" y="487748"/>
                      </a:lnTo>
                      <a:cubicBezTo>
                        <a:pt x="3475128" y="218242"/>
                        <a:pt x="3256642" y="-245"/>
                        <a:pt x="2987136" y="-245"/>
                      </a:cubicBezTo>
                      <a:cubicBezTo>
                        <a:pt x="2987069" y="-245"/>
                        <a:pt x="2986978" y="-245"/>
                        <a:pt x="2986911" y="-245"/>
                      </a:cubicBezTo>
                      <a:close/>
                    </a:path>
                  </a:pathLst>
                </a:custGeom>
                <a:solidFill>
                  <a:srgbClr val="0070C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Freeform: Shape 34">
                  <a:extLst>
                    <a:ext uri="{FF2B5EF4-FFF2-40B4-BE49-F238E27FC236}">
                      <a16:creationId xmlns:a16="http://schemas.microsoft.com/office/drawing/2014/main" id="{38D2B057-64D2-56E6-F279-37A4E774962B}"/>
                    </a:ext>
                  </a:extLst>
                </p:cNvPr>
                <p:cNvSpPr/>
                <p:nvPr/>
              </p:nvSpPr>
              <p:spPr>
                <a:xfrm>
                  <a:off x="4398385" y="4960834"/>
                  <a:ext cx="1657603" cy="1657603"/>
                </a:xfrm>
                <a:custGeom>
                  <a:avLst/>
                  <a:gdLst>
                    <a:gd name="connsiteX0" fmla="*/ 828302 w 1657603"/>
                    <a:gd name="connsiteY0" fmla="*/ 1657359 h 1657603"/>
                    <a:gd name="connsiteX1" fmla="*/ -276 w 1657603"/>
                    <a:gd name="connsiteY1" fmla="*/ 828334 h 1657603"/>
                    <a:gd name="connsiteX2" fmla="*/ 828751 w 1657603"/>
                    <a:gd name="connsiteY2" fmla="*/ -244 h 1657603"/>
                    <a:gd name="connsiteX3" fmla="*/ 1657328 w 1657603"/>
                    <a:gd name="connsiteY3" fmla="*/ 828782 h 1657603"/>
                    <a:gd name="connsiteX4" fmla="*/ 828302 w 1657603"/>
                    <a:gd name="connsiteY4" fmla="*/ 1657359 h 1657603"/>
                    <a:gd name="connsiteX5" fmla="*/ 828302 w 1657603"/>
                    <a:gd name="connsiteY5" fmla="*/ 21295 h 1657603"/>
                    <a:gd name="connsiteX6" fmla="*/ 20590 w 1657603"/>
                    <a:gd name="connsiteY6" fmla="*/ 829007 h 1657603"/>
                    <a:gd name="connsiteX7" fmla="*/ 828302 w 1657603"/>
                    <a:gd name="connsiteY7" fmla="*/ 1636718 h 1657603"/>
                    <a:gd name="connsiteX8" fmla="*/ 1636013 w 1657603"/>
                    <a:gd name="connsiteY8" fmla="*/ 829007 h 1657603"/>
                    <a:gd name="connsiteX9" fmla="*/ 828302 w 1657603"/>
                    <a:gd name="connsiteY9" fmla="*/ 21295 h 16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7603" h="1657603">
                      <a:moveTo>
                        <a:pt x="828302" y="1657359"/>
                      </a:moveTo>
                      <a:cubicBezTo>
                        <a:pt x="370576" y="1657225"/>
                        <a:pt x="-410" y="1286059"/>
                        <a:pt x="-276" y="828334"/>
                      </a:cubicBezTo>
                      <a:cubicBezTo>
                        <a:pt x="-141" y="370608"/>
                        <a:pt x="371025" y="-379"/>
                        <a:pt x="828751" y="-244"/>
                      </a:cubicBezTo>
                      <a:cubicBezTo>
                        <a:pt x="1286477" y="-110"/>
                        <a:pt x="1657463" y="371056"/>
                        <a:pt x="1657328" y="828782"/>
                      </a:cubicBezTo>
                      <a:cubicBezTo>
                        <a:pt x="1656453" y="1286216"/>
                        <a:pt x="1285736" y="1656731"/>
                        <a:pt x="828302" y="1657359"/>
                      </a:cubicBezTo>
                      <a:close/>
                      <a:moveTo>
                        <a:pt x="828302" y="21295"/>
                      </a:moveTo>
                      <a:cubicBezTo>
                        <a:pt x="382221" y="21295"/>
                        <a:pt x="20590" y="382925"/>
                        <a:pt x="20590" y="829007"/>
                      </a:cubicBezTo>
                      <a:cubicBezTo>
                        <a:pt x="20590" y="1275087"/>
                        <a:pt x="382221" y="1636718"/>
                        <a:pt x="828302" y="1636718"/>
                      </a:cubicBezTo>
                      <a:cubicBezTo>
                        <a:pt x="1274383" y="1636718"/>
                        <a:pt x="1636013" y="1275087"/>
                        <a:pt x="1636013" y="829007"/>
                      </a:cubicBezTo>
                      <a:cubicBezTo>
                        <a:pt x="1636013" y="382925"/>
                        <a:pt x="1274383" y="21295"/>
                        <a:pt x="828302" y="21295"/>
                      </a:cubicBezTo>
                      <a:close/>
                    </a:path>
                  </a:pathLst>
                </a:custGeom>
                <a:solidFill>
                  <a:srgbClr val="FFFFFF"/>
                </a:solidFill>
                <a:ln w="22415" cap="flat">
                  <a:noFill/>
                  <a:prstDash val="solid"/>
                  <a:miter/>
                </a:ln>
              </p:spPr>
              <p:txBody>
                <a:bodyPr rtlCol="0" anchor="ctr"/>
                <a:lstStyle/>
                <a:p>
                  <a:endParaRPr lang="en-US"/>
                </a:p>
              </p:txBody>
            </p:sp>
            <p:sp>
              <p:nvSpPr>
                <p:cNvPr id="43" name="Freeform: Shape 36">
                  <a:extLst>
                    <a:ext uri="{FF2B5EF4-FFF2-40B4-BE49-F238E27FC236}">
                      <a16:creationId xmlns:a16="http://schemas.microsoft.com/office/drawing/2014/main" id="{F420EFA1-2726-AB4E-6FB8-356283A2C2F1}"/>
                    </a:ext>
                  </a:extLst>
                </p:cNvPr>
                <p:cNvSpPr/>
                <p:nvPr/>
              </p:nvSpPr>
              <p:spPr>
                <a:xfrm rot="18900000">
                  <a:off x="4515877" y="5078787"/>
                  <a:ext cx="1422021" cy="1422021"/>
                </a:xfrm>
                <a:custGeom>
                  <a:avLst/>
                  <a:gdLst>
                    <a:gd name="connsiteX0" fmla="*/ 1421746 w 1422021"/>
                    <a:gd name="connsiteY0" fmla="*/ 710766 h 1422021"/>
                    <a:gd name="connsiteX1" fmla="*/ 710735 w 1422021"/>
                    <a:gd name="connsiteY1" fmla="*/ 1421777 h 1422021"/>
                    <a:gd name="connsiteX2" fmla="*/ -276 w 1422021"/>
                    <a:gd name="connsiteY2" fmla="*/ 710766 h 1422021"/>
                    <a:gd name="connsiteX3" fmla="*/ 710735 w 1422021"/>
                    <a:gd name="connsiteY3" fmla="*/ -245 h 1422021"/>
                    <a:gd name="connsiteX4" fmla="*/ 1421746 w 1422021"/>
                    <a:gd name="connsiteY4" fmla="*/ 710766 h 1422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021" h="1422021">
                      <a:moveTo>
                        <a:pt x="1421746" y="710766"/>
                      </a:moveTo>
                      <a:cubicBezTo>
                        <a:pt x="1421746" y="1103446"/>
                        <a:pt x="1103415" y="1421777"/>
                        <a:pt x="710735" y="1421777"/>
                      </a:cubicBezTo>
                      <a:cubicBezTo>
                        <a:pt x="318055" y="1421777"/>
                        <a:pt x="-276" y="1103446"/>
                        <a:pt x="-276" y="710766"/>
                      </a:cubicBezTo>
                      <a:cubicBezTo>
                        <a:pt x="-276" y="318086"/>
                        <a:pt x="318055" y="-245"/>
                        <a:pt x="710735" y="-245"/>
                      </a:cubicBezTo>
                      <a:cubicBezTo>
                        <a:pt x="1103415" y="-245"/>
                        <a:pt x="1421746" y="318086"/>
                        <a:pt x="1421746" y="710766"/>
                      </a:cubicBezTo>
                      <a:close/>
                    </a:path>
                  </a:pathLst>
                </a:custGeom>
                <a:solidFill>
                  <a:srgbClr val="0070C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TextBox 40">
                  <a:extLst>
                    <a:ext uri="{FF2B5EF4-FFF2-40B4-BE49-F238E27FC236}">
                      <a16:creationId xmlns:a16="http://schemas.microsoft.com/office/drawing/2014/main" id="{F24C8A7A-CF69-FFBA-F41C-5E057AE4B0AE}"/>
                    </a:ext>
                  </a:extLst>
                </p:cNvPr>
                <p:cNvSpPr txBox="1"/>
                <p:nvPr/>
              </p:nvSpPr>
              <p:spPr>
                <a:xfrm>
                  <a:off x="2007435" y="4968289"/>
                  <a:ext cx="424289" cy="530551"/>
                </a:xfrm>
                <a:prstGeom prst="rect">
                  <a:avLst/>
                </a:prstGeom>
                <a:noFill/>
              </p:spPr>
              <p:txBody>
                <a:bodyPr wrap="none" rtlCol="0">
                  <a:spAutoFit/>
                </a:bodyPr>
                <a:lstStyle/>
                <a:p>
                  <a:pPr algn="l"/>
                  <a:r>
                    <a:rPr lang="en-US" sz="3180" b="1" spc="0" baseline="0" dirty="0">
                      <a:ln/>
                      <a:latin typeface="Lora" pitchFamily="2" charset="0"/>
                      <a:cs typeface="Arial"/>
                      <a:sym typeface="Arial"/>
                      <a:rtl val="0"/>
                    </a:rPr>
                    <a:t>C</a:t>
                  </a:r>
                </a:p>
              </p:txBody>
            </p:sp>
            <p:sp>
              <p:nvSpPr>
                <p:cNvPr id="45" name="Freeform: Shape 41">
                  <a:extLst>
                    <a:ext uri="{FF2B5EF4-FFF2-40B4-BE49-F238E27FC236}">
                      <a16:creationId xmlns:a16="http://schemas.microsoft.com/office/drawing/2014/main" id="{1D94CC3E-34DD-12CA-B113-6A5E200113E1}"/>
                    </a:ext>
                  </a:extLst>
                </p:cNvPr>
                <p:cNvSpPr/>
                <p:nvPr/>
              </p:nvSpPr>
              <p:spPr>
                <a:xfrm>
                  <a:off x="105693" y="2197115"/>
                  <a:ext cx="5616665" cy="976209"/>
                </a:xfrm>
                <a:custGeom>
                  <a:avLst/>
                  <a:gdLst>
                    <a:gd name="connsiteX0" fmla="*/ 2986911 w 3475403"/>
                    <a:gd name="connsiteY0" fmla="*/ -245 h 976209"/>
                    <a:gd name="connsiteX1" fmla="*/ 321238 w 3475403"/>
                    <a:gd name="connsiteY1" fmla="*/ -245 h 976209"/>
                    <a:gd name="connsiteX2" fmla="*/ -276 w 3475403"/>
                    <a:gd name="connsiteY2" fmla="*/ 487972 h 976209"/>
                    <a:gd name="connsiteX3" fmla="*/ 321238 w 3475403"/>
                    <a:gd name="connsiteY3" fmla="*/ 975965 h 976209"/>
                    <a:gd name="connsiteX4" fmla="*/ 2986911 w 3475403"/>
                    <a:gd name="connsiteY4" fmla="*/ 975965 h 976209"/>
                    <a:gd name="connsiteX5" fmla="*/ 3475128 w 3475403"/>
                    <a:gd name="connsiteY5" fmla="*/ 488196 h 976209"/>
                    <a:gd name="connsiteX6" fmla="*/ 3475128 w 3475403"/>
                    <a:gd name="connsiteY6" fmla="*/ 487972 h 976209"/>
                    <a:gd name="connsiteX7" fmla="*/ 3475128 w 3475403"/>
                    <a:gd name="connsiteY7" fmla="*/ 487972 h 976209"/>
                    <a:gd name="connsiteX8" fmla="*/ 2986911 w 3475403"/>
                    <a:gd name="connsiteY8" fmla="*/ -245 h 97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5403" h="976209">
                      <a:moveTo>
                        <a:pt x="2986911" y="-245"/>
                      </a:moveTo>
                      <a:lnTo>
                        <a:pt x="321238" y="-245"/>
                      </a:lnTo>
                      <a:lnTo>
                        <a:pt x="-276" y="487972"/>
                      </a:lnTo>
                      <a:lnTo>
                        <a:pt x="321238" y="975965"/>
                      </a:lnTo>
                      <a:lnTo>
                        <a:pt x="2986911" y="975965"/>
                      </a:lnTo>
                      <a:cubicBezTo>
                        <a:pt x="3256417" y="976099"/>
                        <a:pt x="3474993" y="757703"/>
                        <a:pt x="3475128" y="488196"/>
                      </a:cubicBezTo>
                      <a:cubicBezTo>
                        <a:pt x="3475128" y="488129"/>
                        <a:pt x="3475128" y="488040"/>
                        <a:pt x="3475128" y="487972"/>
                      </a:cubicBezTo>
                      <a:lnTo>
                        <a:pt x="3475128" y="487972"/>
                      </a:lnTo>
                      <a:cubicBezTo>
                        <a:pt x="3475128" y="218331"/>
                        <a:pt x="3256552" y="-245"/>
                        <a:pt x="2986911" y="-245"/>
                      </a:cubicBezTo>
                      <a:close/>
                    </a:path>
                  </a:pathLst>
                </a:custGeom>
                <a:gradFill>
                  <a:gsLst>
                    <a:gs pos="0">
                      <a:schemeClr val="accent5"/>
                    </a:gs>
                    <a:gs pos="50000">
                      <a:schemeClr val="accent5">
                        <a:lumMod val="60000"/>
                        <a:lumOff val="40000"/>
                      </a:schemeClr>
                    </a:gs>
                    <a:gs pos="100000">
                      <a:schemeClr val="accent5">
                        <a:lumMod val="60000"/>
                        <a:lumOff val="40000"/>
                      </a:schemeClr>
                    </a:gs>
                  </a:gsLst>
                  <a:lin ang="2699811" scaled="1"/>
                </a:gra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6" name="Freeform: Shape 70">
                  <a:extLst>
                    <a:ext uri="{FF2B5EF4-FFF2-40B4-BE49-F238E27FC236}">
                      <a16:creationId xmlns:a16="http://schemas.microsoft.com/office/drawing/2014/main" id="{A08CE87F-542E-2D9E-61CC-4A57356DE5AE}"/>
                    </a:ext>
                  </a:extLst>
                </p:cNvPr>
                <p:cNvSpPr/>
                <p:nvPr/>
              </p:nvSpPr>
              <p:spPr>
                <a:xfrm>
                  <a:off x="4398385" y="1861914"/>
                  <a:ext cx="1657603" cy="1657603"/>
                </a:xfrm>
                <a:custGeom>
                  <a:avLst/>
                  <a:gdLst>
                    <a:gd name="connsiteX0" fmla="*/ 828302 w 1657603"/>
                    <a:gd name="connsiteY0" fmla="*/ 1657359 h 1657603"/>
                    <a:gd name="connsiteX1" fmla="*/ -276 w 1657603"/>
                    <a:gd name="connsiteY1" fmla="*/ 828333 h 1657603"/>
                    <a:gd name="connsiteX2" fmla="*/ 828751 w 1657603"/>
                    <a:gd name="connsiteY2" fmla="*/ -244 h 1657603"/>
                    <a:gd name="connsiteX3" fmla="*/ 1657328 w 1657603"/>
                    <a:gd name="connsiteY3" fmla="*/ 828782 h 1657603"/>
                    <a:gd name="connsiteX4" fmla="*/ 828302 w 1657603"/>
                    <a:gd name="connsiteY4" fmla="*/ 1657359 h 1657603"/>
                    <a:gd name="connsiteX5" fmla="*/ 828302 w 1657603"/>
                    <a:gd name="connsiteY5" fmla="*/ 21519 h 1657603"/>
                    <a:gd name="connsiteX6" fmla="*/ 20590 w 1657603"/>
                    <a:gd name="connsiteY6" fmla="*/ 829230 h 1657603"/>
                    <a:gd name="connsiteX7" fmla="*/ 828302 w 1657603"/>
                    <a:gd name="connsiteY7" fmla="*/ 1636942 h 1657603"/>
                    <a:gd name="connsiteX8" fmla="*/ 1636013 w 1657603"/>
                    <a:gd name="connsiteY8" fmla="*/ 829230 h 1657603"/>
                    <a:gd name="connsiteX9" fmla="*/ 828302 w 1657603"/>
                    <a:gd name="connsiteY9" fmla="*/ 21519 h 16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7603" h="1657603">
                      <a:moveTo>
                        <a:pt x="828302" y="1657359"/>
                      </a:moveTo>
                      <a:cubicBezTo>
                        <a:pt x="370576" y="1657224"/>
                        <a:pt x="-410" y="1286059"/>
                        <a:pt x="-276" y="828333"/>
                      </a:cubicBezTo>
                      <a:cubicBezTo>
                        <a:pt x="-141" y="370607"/>
                        <a:pt x="371025" y="-379"/>
                        <a:pt x="828751" y="-244"/>
                      </a:cubicBezTo>
                      <a:cubicBezTo>
                        <a:pt x="1286477" y="-110"/>
                        <a:pt x="1657463" y="371056"/>
                        <a:pt x="1657328" y="828782"/>
                      </a:cubicBezTo>
                      <a:cubicBezTo>
                        <a:pt x="1656453" y="1286216"/>
                        <a:pt x="1285736" y="1656753"/>
                        <a:pt x="828302" y="1657359"/>
                      </a:cubicBezTo>
                      <a:close/>
                      <a:moveTo>
                        <a:pt x="828302" y="21519"/>
                      </a:moveTo>
                      <a:cubicBezTo>
                        <a:pt x="382221" y="21519"/>
                        <a:pt x="20590" y="383150"/>
                        <a:pt x="20590" y="829230"/>
                      </a:cubicBezTo>
                      <a:cubicBezTo>
                        <a:pt x="20590" y="1275311"/>
                        <a:pt x="382221" y="1636942"/>
                        <a:pt x="828302" y="1636942"/>
                      </a:cubicBezTo>
                      <a:cubicBezTo>
                        <a:pt x="1274383" y="1636942"/>
                        <a:pt x="1636013" y="1275311"/>
                        <a:pt x="1636013" y="829230"/>
                      </a:cubicBezTo>
                      <a:cubicBezTo>
                        <a:pt x="1636013" y="383150"/>
                        <a:pt x="1274383" y="21519"/>
                        <a:pt x="828302" y="21519"/>
                      </a:cubicBezTo>
                      <a:close/>
                    </a:path>
                  </a:pathLst>
                </a:custGeom>
                <a:solidFill>
                  <a:srgbClr val="FFFFFF"/>
                </a:solidFill>
                <a:ln w="22415" cap="flat">
                  <a:noFill/>
                  <a:prstDash val="solid"/>
                  <a:miter/>
                </a:ln>
              </p:spPr>
              <p:txBody>
                <a:bodyPr rtlCol="0" anchor="ctr"/>
                <a:lstStyle/>
                <a:p>
                  <a:endParaRPr lang="en-US"/>
                </a:p>
              </p:txBody>
            </p:sp>
            <p:sp>
              <p:nvSpPr>
                <p:cNvPr id="47" name="Freeform: Shape 72">
                  <a:extLst>
                    <a:ext uri="{FF2B5EF4-FFF2-40B4-BE49-F238E27FC236}">
                      <a16:creationId xmlns:a16="http://schemas.microsoft.com/office/drawing/2014/main" id="{45202F45-894E-B2A0-A7D1-8E820ABC38BE}"/>
                    </a:ext>
                  </a:extLst>
                </p:cNvPr>
                <p:cNvSpPr/>
                <p:nvPr/>
              </p:nvSpPr>
              <p:spPr>
                <a:xfrm>
                  <a:off x="4515952" y="1979930"/>
                  <a:ext cx="1422021" cy="1422021"/>
                </a:xfrm>
                <a:custGeom>
                  <a:avLst/>
                  <a:gdLst>
                    <a:gd name="connsiteX0" fmla="*/ 1422021 w 1422021"/>
                    <a:gd name="connsiteY0" fmla="*/ 711011 h 1422021"/>
                    <a:gd name="connsiteX1" fmla="*/ 711011 w 1422021"/>
                    <a:gd name="connsiteY1" fmla="*/ 1422021 h 1422021"/>
                    <a:gd name="connsiteX2" fmla="*/ 0 w 1422021"/>
                    <a:gd name="connsiteY2" fmla="*/ 711011 h 1422021"/>
                    <a:gd name="connsiteX3" fmla="*/ 711011 w 1422021"/>
                    <a:gd name="connsiteY3" fmla="*/ 0 h 1422021"/>
                    <a:gd name="connsiteX4" fmla="*/ 1422021 w 1422021"/>
                    <a:gd name="connsiteY4" fmla="*/ 711011 h 1422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021" h="1422021">
                      <a:moveTo>
                        <a:pt x="1422021" y="711011"/>
                      </a:moveTo>
                      <a:cubicBezTo>
                        <a:pt x="1422021" y="1103691"/>
                        <a:pt x="1103691" y="1422021"/>
                        <a:pt x="711011" y="1422021"/>
                      </a:cubicBezTo>
                      <a:cubicBezTo>
                        <a:pt x="318330" y="1422021"/>
                        <a:pt x="0" y="1103691"/>
                        <a:pt x="0" y="711011"/>
                      </a:cubicBezTo>
                      <a:cubicBezTo>
                        <a:pt x="0" y="318330"/>
                        <a:pt x="318330" y="0"/>
                        <a:pt x="711011" y="0"/>
                      </a:cubicBezTo>
                      <a:cubicBezTo>
                        <a:pt x="1103691" y="0"/>
                        <a:pt x="1422021" y="318330"/>
                        <a:pt x="1422021" y="711011"/>
                      </a:cubicBezTo>
                      <a:close/>
                    </a:path>
                  </a:pathLst>
                </a:custGeom>
                <a:gradFill>
                  <a:gsLst>
                    <a:gs pos="0">
                      <a:schemeClr val="accent5"/>
                    </a:gs>
                    <a:gs pos="50000">
                      <a:schemeClr val="accent5">
                        <a:lumMod val="60000"/>
                        <a:lumOff val="40000"/>
                      </a:schemeClr>
                    </a:gs>
                    <a:gs pos="100000">
                      <a:schemeClr val="accent5">
                        <a:lumMod val="60000"/>
                        <a:lumOff val="40000"/>
                      </a:schemeClr>
                    </a:gs>
                  </a:gsLst>
                  <a:lin ang="2699811" scaled="1"/>
                </a:gra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TextBox 76">
                  <a:extLst>
                    <a:ext uri="{FF2B5EF4-FFF2-40B4-BE49-F238E27FC236}">
                      <a16:creationId xmlns:a16="http://schemas.microsoft.com/office/drawing/2014/main" id="{4384BB05-A221-1226-478E-60301568B0CB}"/>
                    </a:ext>
                  </a:extLst>
                </p:cNvPr>
                <p:cNvSpPr txBox="1"/>
                <p:nvPr/>
              </p:nvSpPr>
              <p:spPr>
                <a:xfrm>
                  <a:off x="-53019" y="1928509"/>
                  <a:ext cx="416978" cy="530551"/>
                </a:xfrm>
                <a:prstGeom prst="rect">
                  <a:avLst/>
                </a:prstGeom>
                <a:noFill/>
              </p:spPr>
              <p:txBody>
                <a:bodyPr wrap="none" rtlCol="0">
                  <a:spAutoFit/>
                </a:bodyPr>
                <a:lstStyle/>
                <a:p>
                  <a:pPr algn="l"/>
                  <a:r>
                    <a:rPr lang="en-US" sz="3180" b="1" spc="0" baseline="0" dirty="0">
                      <a:ln/>
                      <a:latin typeface="Lora" pitchFamily="2" charset="0"/>
                      <a:cs typeface="Arial"/>
                      <a:sym typeface="Arial"/>
                      <a:rtl val="0"/>
                    </a:rPr>
                    <a:t>A</a:t>
                  </a:r>
                </a:p>
              </p:txBody>
            </p:sp>
            <p:sp>
              <p:nvSpPr>
                <p:cNvPr id="49" name="Freeform: Shape 77">
                  <a:extLst>
                    <a:ext uri="{FF2B5EF4-FFF2-40B4-BE49-F238E27FC236}">
                      <a16:creationId xmlns:a16="http://schemas.microsoft.com/office/drawing/2014/main" id="{6FD5CD06-E1FC-6C71-0D87-6FC970D7D9E3}"/>
                    </a:ext>
                  </a:extLst>
                </p:cNvPr>
                <p:cNvSpPr/>
                <p:nvPr/>
              </p:nvSpPr>
              <p:spPr>
                <a:xfrm>
                  <a:off x="2246955" y="1714059"/>
                  <a:ext cx="636521" cy="971273"/>
                </a:xfrm>
                <a:custGeom>
                  <a:avLst/>
                  <a:gdLst>
                    <a:gd name="connsiteX0" fmla="*/ 0 w 636521"/>
                    <a:gd name="connsiteY0" fmla="*/ 971273 h 971273"/>
                    <a:gd name="connsiteX1" fmla="*/ 636522 w 636521"/>
                    <a:gd name="connsiteY1" fmla="*/ 0 h 971273"/>
                  </a:gdLst>
                  <a:ahLst/>
                  <a:cxnLst>
                    <a:cxn ang="0">
                      <a:pos x="connsiteX0" y="connsiteY0"/>
                    </a:cxn>
                    <a:cxn ang="0">
                      <a:pos x="connsiteX1" y="connsiteY1"/>
                    </a:cxn>
                  </a:cxnLst>
                  <a:rect l="l" t="t" r="r" b="b"/>
                  <a:pathLst>
                    <a:path w="636521" h="971273">
                      <a:moveTo>
                        <a:pt x="0" y="971273"/>
                      </a:moveTo>
                      <a:lnTo>
                        <a:pt x="636522" y="0"/>
                      </a:lnTo>
                    </a:path>
                  </a:pathLst>
                </a:custGeom>
                <a:ln w="22415" cap="flat">
                  <a:noFill/>
                  <a:prstDash val="solid"/>
                  <a:miter/>
                </a:ln>
              </p:spPr>
              <p:txBody>
                <a:bodyPr rtlCol="0" anchor="ctr"/>
                <a:lstStyle/>
                <a:p>
                  <a:endParaRPr lang="en-US"/>
                </a:p>
              </p:txBody>
            </p:sp>
            <p:sp>
              <p:nvSpPr>
                <p:cNvPr id="50" name="Freeform: Shape 78">
                  <a:extLst>
                    <a:ext uri="{FF2B5EF4-FFF2-40B4-BE49-F238E27FC236}">
                      <a16:creationId xmlns:a16="http://schemas.microsoft.com/office/drawing/2014/main" id="{FB98E4F2-2664-D41F-B990-0E6DB839CEB9}"/>
                    </a:ext>
                  </a:extLst>
                </p:cNvPr>
                <p:cNvSpPr/>
                <p:nvPr/>
              </p:nvSpPr>
              <p:spPr>
                <a:xfrm>
                  <a:off x="2246955" y="1714059"/>
                  <a:ext cx="636521" cy="971273"/>
                </a:xfrm>
                <a:custGeom>
                  <a:avLst/>
                  <a:gdLst>
                    <a:gd name="connsiteX0" fmla="*/ 0 w 636521"/>
                    <a:gd name="connsiteY0" fmla="*/ 971273 h 971273"/>
                    <a:gd name="connsiteX1" fmla="*/ 636522 w 636521"/>
                    <a:gd name="connsiteY1" fmla="*/ 0 h 971273"/>
                  </a:gdLst>
                  <a:ahLst/>
                  <a:cxnLst>
                    <a:cxn ang="0">
                      <a:pos x="connsiteX0" y="connsiteY0"/>
                    </a:cxn>
                    <a:cxn ang="0">
                      <a:pos x="connsiteX1" y="connsiteY1"/>
                    </a:cxn>
                  </a:cxnLst>
                  <a:rect l="l" t="t" r="r" b="b"/>
                  <a:pathLst>
                    <a:path w="636521" h="971273">
                      <a:moveTo>
                        <a:pt x="0" y="971273"/>
                      </a:moveTo>
                      <a:lnTo>
                        <a:pt x="636522" y="0"/>
                      </a:lnTo>
                    </a:path>
                  </a:pathLst>
                </a:custGeom>
                <a:ln w="22415" cap="flat">
                  <a:noFill/>
                  <a:prstDash val="solid"/>
                  <a:miter/>
                </a:ln>
              </p:spPr>
              <p:txBody>
                <a:bodyPr rtlCol="0" anchor="ctr"/>
                <a:lstStyle/>
                <a:p>
                  <a:endParaRPr lang="en-US"/>
                </a:p>
              </p:txBody>
            </p:sp>
            <p:sp>
              <p:nvSpPr>
                <p:cNvPr id="51" name="Freeform: Shape 79">
                  <a:extLst>
                    <a:ext uri="{FF2B5EF4-FFF2-40B4-BE49-F238E27FC236}">
                      <a16:creationId xmlns:a16="http://schemas.microsoft.com/office/drawing/2014/main" id="{8766DA12-808F-1C43-C3B7-D12F6239FC1E}"/>
                    </a:ext>
                  </a:extLst>
                </p:cNvPr>
                <p:cNvSpPr/>
                <p:nvPr/>
              </p:nvSpPr>
              <p:spPr>
                <a:xfrm>
                  <a:off x="410121" y="3721446"/>
                  <a:ext cx="5527851" cy="975984"/>
                </a:xfrm>
                <a:custGeom>
                  <a:avLst/>
                  <a:gdLst>
                    <a:gd name="connsiteX0" fmla="*/ 487941 w 3474505"/>
                    <a:gd name="connsiteY0" fmla="*/ -244 h 975984"/>
                    <a:gd name="connsiteX1" fmla="*/ 3153614 w 3474505"/>
                    <a:gd name="connsiteY1" fmla="*/ -244 h 975984"/>
                    <a:gd name="connsiteX2" fmla="*/ 3474230 w 3474505"/>
                    <a:gd name="connsiteY2" fmla="*/ 487523 h 975984"/>
                    <a:gd name="connsiteX3" fmla="*/ 3153614 w 3474505"/>
                    <a:gd name="connsiteY3" fmla="*/ 975740 h 975984"/>
                    <a:gd name="connsiteX4" fmla="*/ 487941 w 3474505"/>
                    <a:gd name="connsiteY4" fmla="*/ 975740 h 975984"/>
                    <a:gd name="connsiteX5" fmla="*/ -276 w 3474505"/>
                    <a:gd name="connsiteY5" fmla="*/ 487523 h 975984"/>
                    <a:gd name="connsiteX6" fmla="*/ -276 w 3474505"/>
                    <a:gd name="connsiteY6" fmla="*/ 487523 h 975984"/>
                    <a:gd name="connsiteX7" fmla="*/ 487941 w 3474505"/>
                    <a:gd name="connsiteY7" fmla="*/ -244 h 975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4505" h="975984">
                      <a:moveTo>
                        <a:pt x="487941" y="-244"/>
                      </a:moveTo>
                      <a:lnTo>
                        <a:pt x="3153614" y="-244"/>
                      </a:lnTo>
                      <a:lnTo>
                        <a:pt x="3474230" y="487523"/>
                      </a:lnTo>
                      <a:lnTo>
                        <a:pt x="3153614" y="975740"/>
                      </a:lnTo>
                      <a:lnTo>
                        <a:pt x="487941" y="975740"/>
                      </a:lnTo>
                      <a:cubicBezTo>
                        <a:pt x="218300" y="975740"/>
                        <a:pt x="-276" y="757165"/>
                        <a:pt x="-276" y="487523"/>
                      </a:cubicBezTo>
                      <a:lnTo>
                        <a:pt x="-276" y="487523"/>
                      </a:lnTo>
                      <a:cubicBezTo>
                        <a:pt x="-141" y="218017"/>
                        <a:pt x="218434" y="-379"/>
                        <a:pt x="487941" y="-244"/>
                      </a:cubicBezTo>
                      <a:close/>
                    </a:path>
                  </a:pathLst>
                </a:custGeom>
                <a:gradFill>
                  <a:gsLst>
                    <a:gs pos="0">
                      <a:schemeClr val="accent2">
                        <a:lumMod val="60000"/>
                        <a:lumOff val="40000"/>
                      </a:schemeClr>
                    </a:gs>
                    <a:gs pos="100000">
                      <a:schemeClr val="accent2"/>
                    </a:gs>
                  </a:gsLst>
                  <a:lin ang="2699811" scaled="1"/>
                </a:gra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2" name="Freeform: Shape 108">
                  <a:extLst>
                    <a:ext uri="{FF2B5EF4-FFF2-40B4-BE49-F238E27FC236}">
                      <a16:creationId xmlns:a16="http://schemas.microsoft.com/office/drawing/2014/main" id="{B0287249-DF52-ECCA-194B-A7437E866F06}"/>
                    </a:ext>
                  </a:extLst>
                </p:cNvPr>
                <p:cNvSpPr/>
                <p:nvPr/>
              </p:nvSpPr>
              <p:spPr>
                <a:xfrm>
                  <a:off x="43824" y="3386021"/>
                  <a:ext cx="1657603" cy="1657604"/>
                </a:xfrm>
                <a:custGeom>
                  <a:avLst/>
                  <a:gdLst>
                    <a:gd name="connsiteX0" fmla="*/ 828526 w 1657603"/>
                    <a:gd name="connsiteY0" fmla="*/ 1657359 h 1657603"/>
                    <a:gd name="connsiteX1" fmla="*/ -276 w 1657603"/>
                    <a:gd name="connsiteY1" fmla="*/ 828557 h 1657603"/>
                    <a:gd name="connsiteX2" fmla="*/ 828526 w 1657603"/>
                    <a:gd name="connsiteY2" fmla="*/ -245 h 1657603"/>
                    <a:gd name="connsiteX3" fmla="*/ 1657328 w 1657603"/>
                    <a:gd name="connsiteY3" fmla="*/ 828557 h 1657603"/>
                    <a:gd name="connsiteX4" fmla="*/ 1657328 w 1657603"/>
                    <a:gd name="connsiteY4" fmla="*/ 828782 h 1657603"/>
                    <a:gd name="connsiteX5" fmla="*/ 828526 w 1657603"/>
                    <a:gd name="connsiteY5" fmla="*/ 1657359 h 1657603"/>
                    <a:gd name="connsiteX6" fmla="*/ 828526 w 1657603"/>
                    <a:gd name="connsiteY6" fmla="*/ 21295 h 1657603"/>
                    <a:gd name="connsiteX7" fmla="*/ 20815 w 1657603"/>
                    <a:gd name="connsiteY7" fmla="*/ 829007 h 1657603"/>
                    <a:gd name="connsiteX8" fmla="*/ 828526 w 1657603"/>
                    <a:gd name="connsiteY8" fmla="*/ 1636718 h 1657603"/>
                    <a:gd name="connsiteX9" fmla="*/ 1636238 w 1657603"/>
                    <a:gd name="connsiteY9" fmla="*/ 829007 h 1657603"/>
                    <a:gd name="connsiteX10" fmla="*/ 828751 w 1657603"/>
                    <a:gd name="connsiteY10" fmla="*/ 21070 h 1657603"/>
                    <a:gd name="connsiteX11" fmla="*/ 828526 w 1657603"/>
                    <a:gd name="connsiteY11" fmla="*/ 21070 h 16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603" h="1657603">
                      <a:moveTo>
                        <a:pt x="828526" y="1657359"/>
                      </a:moveTo>
                      <a:cubicBezTo>
                        <a:pt x="370801" y="1657359"/>
                        <a:pt x="-276" y="1286283"/>
                        <a:pt x="-276" y="828557"/>
                      </a:cubicBezTo>
                      <a:cubicBezTo>
                        <a:pt x="-276" y="370832"/>
                        <a:pt x="370801" y="-245"/>
                        <a:pt x="828526" y="-245"/>
                      </a:cubicBezTo>
                      <a:cubicBezTo>
                        <a:pt x="1286252" y="-245"/>
                        <a:pt x="1657328" y="370832"/>
                        <a:pt x="1657328" y="828557"/>
                      </a:cubicBezTo>
                      <a:cubicBezTo>
                        <a:pt x="1657328" y="828625"/>
                        <a:pt x="1657328" y="828715"/>
                        <a:pt x="1657328" y="828782"/>
                      </a:cubicBezTo>
                      <a:cubicBezTo>
                        <a:pt x="1656453" y="1286126"/>
                        <a:pt x="1285871" y="1656619"/>
                        <a:pt x="828526" y="1657359"/>
                      </a:cubicBezTo>
                      <a:close/>
                      <a:moveTo>
                        <a:pt x="828526" y="21295"/>
                      </a:moveTo>
                      <a:cubicBezTo>
                        <a:pt x="382445" y="21295"/>
                        <a:pt x="20815" y="382925"/>
                        <a:pt x="20815" y="829007"/>
                      </a:cubicBezTo>
                      <a:cubicBezTo>
                        <a:pt x="20815" y="1275087"/>
                        <a:pt x="382445" y="1636718"/>
                        <a:pt x="828526" y="1636718"/>
                      </a:cubicBezTo>
                      <a:cubicBezTo>
                        <a:pt x="1274607" y="1636718"/>
                        <a:pt x="1636238" y="1275087"/>
                        <a:pt x="1636238" y="829007"/>
                      </a:cubicBezTo>
                      <a:cubicBezTo>
                        <a:pt x="1636373" y="382925"/>
                        <a:pt x="1274832" y="21205"/>
                        <a:pt x="828751" y="21070"/>
                      </a:cubicBezTo>
                      <a:cubicBezTo>
                        <a:pt x="828683" y="21070"/>
                        <a:pt x="828593" y="21070"/>
                        <a:pt x="828526" y="21070"/>
                      </a:cubicBezTo>
                      <a:close/>
                    </a:path>
                  </a:pathLst>
                </a:custGeom>
                <a:solidFill>
                  <a:srgbClr val="FFFFFF"/>
                </a:solidFill>
                <a:ln w="22415" cap="flat">
                  <a:noFill/>
                  <a:prstDash val="solid"/>
                  <a:miter/>
                </a:ln>
              </p:spPr>
              <p:txBody>
                <a:bodyPr rtlCol="0" anchor="ctr"/>
                <a:lstStyle/>
                <a:p>
                  <a:endParaRPr lang="en-US"/>
                </a:p>
              </p:txBody>
            </p:sp>
            <p:sp>
              <p:nvSpPr>
                <p:cNvPr id="53" name="Freeform: Shape 110">
                  <a:extLst>
                    <a:ext uri="{FF2B5EF4-FFF2-40B4-BE49-F238E27FC236}">
                      <a16:creationId xmlns:a16="http://schemas.microsoft.com/office/drawing/2014/main" id="{C0024C51-65DB-138B-3C41-1DF1AB3DA477}"/>
                    </a:ext>
                  </a:extLst>
                </p:cNvPr>
                <p:cNvSpPr/>
                <p:nvPr/>
              </p:nvSpPr>
              <p:spPr>
                <a:xfrm rot="20791801">
                  <a:off x="194878" y="3503659"/>
                  <a:ext cx="1422021" cy="1422020"/>
                </a:xfrm>
                <a:custGeom>
                  <a:avLst/>
                  <a:gdLst>
                    <a:gd name="connsiteX0" fmla="*/ 1421746 w 1422021"/>
                    <a:gd name="connsiteY0" fmla="*/ 710766 h 1422020"/>
                    <a:gd name="connsiteX1" fmla="*/ 710735 w 1422021"/>
                    <a:gd name="connsiteY1" fmla="*/ 1421776 h 1422020"/>
                    <a:gd name="connsiteX2" fmla="*/ -275 w 1422021"/>
                    <a:gd name="connsiteY2" fmla="*/ 710766 h 1422020"/>
                    <a:gd name="connsiteX3" fmla="*/ 710735 w 1422021"/>
                    <a:gd name="connsiteY3" fmla="*/ -245 h 1422020"/>
                    <a:gd name="connsiteX4" fmla="*/ 1421746 w 1422021"/>
                    <a:gd name="connsiteY4" fmla="*/ 710766 h 1422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021" h="1422020">
                      <a:moveTo>
                        <a:pt x="1421746" y="710766"/>
                      </a:moveTo>
                      <a:cubicBezTo>
                        <a:pt x="1421746" y="1103446"/>
                        <a:pt x="1103415" y="1421776"/>
                        <a:pt x="710735" y="1421776"/>
                      </a:cubicBezTo>
                      <a:cubicBezTo>
                        <a:pt x="318055" y="1421776"/>
                        <a:pt x="-275" y="1103446"/>
                        <a:pt x="-275" y="710766"/>
                      </a:cubicBezTo>
                      <a:cubicBezTo>
                        <a:pt x="-275" y="318086"/>
                        <a:pt x="318055" y="-245"/>
                        <a:pt x="710735" y="-245"/>
                      </a:cubicBezTo>
                      <a:cubicBezTo>
                        <a:pt x="1103415" y="-245"/>
                        <a:pt x="1421746" y="318086"/>
                        <a:pt x="1421746" y="710766"/>
                      </a:cubicBezTo>
                      <a:close/>
                    </a:path>
                  </a:pathLst>
                </a:custGeom>
                <a:gradFill>
                  <a:gsLst>
                    <a:gs pos="0">
                      <a:schemeClr val="accent2">
                        <a:lumMod val="60000"/>
                        <a:lumOff val="40000"/>
                      </a:schemeClr>
                    </a:gs>
                    <a:gs pos="100000">
                      <a:schemeClr val="accent2"/>
                    </a:gs>
                  </a:gsLst>
                  <a:lin ang="2699811" scaled="1"/>
                </a:gra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4" name="TextBox 114">
                  <a:extLst>
                    <a:ext uri="{FF2B5EF4-FFF2-40B4-BE49-F238E27FC236}">
                      <a16:creationId xmlns:a16="http://schemas.microsoft.com/office/drawing/2014/main" id="{6C1A7705-8AC8-0704-F29E-F92A6B84A1EA}"/>
                    </a:ext>
                  </a:extLst>
                </p:cNvPr>
                <p:cNvSpPr txBox="1"/>
                <p:nvPr/>
              </p:nvSpPr>
              <p:spPr>
                <a:xfrm>
                  <a:off x="5834642" y="3448669"/>
                  <a:ext cx="414054" cy="530551"/>
                </a:xfrm>
                <a:prstGeom prst="rect">
                  <a:avLst/>
                </a:prstGeom>
                <a:noFill/>
              </p:spPr>
              <p:txBody>
                <a:bodyPr wrap="none" rtlCol="0">
                  <a:spAutoFit/>
                </a:bodyPr>
                <a:lstStyle/>
                <a:p>
                  <a:pPr algn="l"/>
                  <a:r>
                    <a:rPr lang="en-US" sz="3180" b="1" spc="0" baseline="0" dirty="0">
                      <a:ln/>
                      <a:latin typeface="Lora" pitchFamily="2" charset="0"/>
                      <a:cs typeface="Arial"/>
                      <a:sym typeface="Arial"/>
                      <a:rtl val="0"/>
                    </a:rPr>
                    <a:t>B</a:t>
                  </a:r>
                </a:p>
              </p:txBody>
            </p:sp>
          </p:grpSp>
          <p:pic>
            <p:nvPicPr>
              <p:cNvPr id="35" name="Picture 2" descr="Introduction Svg Png Icon Free Download (#343134) - OnlineWebFonts.COM">
                <a:extLst>
                  <a:ext uri="{FF2B5EF4-FFF2-40B4-BE49-F238E27FC236}">
                    <a16:creationId xmlns:a16="http://schemas.microsoft.com/office/drawing/2014/main" id="{F58E2740-8DD0-2DE7-6A33-673D4C3FBA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10225" y="1784682"/>
                <a:ext cx="523606" cy="58706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a:extLst>
                  <a:ext uri="{FF2B5EF4-FFF2-40B4-BE49-F238E27FC236}">
                    <a16:creationId xmlns:a16="http://schemas.microsoft.com/office/drawing/2014/main" id="{3D1A711A-3E14-36AA-7EF2-AE55ACAB37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456" y="3322511"/>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Maturity Icons &amp; Symbols">
                <a:extLst>
                  <a:ext uri="{FF2B5EF4-FFF2-40B4-BE49-F238E27FC236}">
                    <a16:creationId xmlns:a16="http://schemas.microsoft.com/office/drawing/2014/main" id="{296C8C0C-86BC-30F6-3ACE-B5A61B39F2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79420" y="5067394"/>
                <a:ext cx="585216" cy="585216"/>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121">
                <a:extLst>
                  <a:ext uri="{FF2B5EF4-FFF2-40B4-BE49-F238E27FC236}">
                    <a16:creationId xmlns:a16="http://schemas.microsoft.com/office/drawing/2014/main" id="{DEE50716-9642-9A48-812D-337629E1BEE5}"/>
                  </a:ext>
                </a:extLst>
              </p:cNvPr>
              <p:cNvSpPr txBox="1"/>
              <p:nvPr/>
            </p:nvSpPr>
            <p:spPr>
              <a:xfrm>
                <a:off x="173905" y="1553086"/>
                <a:ext cx="4191684" cy="1018882"/>
              </a:xfrm>
              <a:prstGeom prst="rect">
                <a:avLst/>
              </a:prstGeom>
              <a:noFill/>
            </p:spPr>
            <p:txBody>
              <a:bodyPr wrap="square">
                <a:spAutoFit/>
              </a:bodyPr>
              <a:lstStyle/>
              <a:p>
                <a:pPr algn="r">
                  <a:spcAft>
                    <a:spcPts val="600"/>
                  </a:spcAft>
                  <a:buClr>
                    <a:schemeClr val="dk1"/>
                  </a:buClr>
                  <a:buSzPts val="1100"/>
                </a:pPr>
                <a:r>
                  <a:rPr lang="fr-CM" sz="1200" dirty="0">
                    <a:solidFill>
                      <a:schemeClr val="bg1"/>
                    </a:solidFill>
                  </a:rPr>
                  <a:t>Comment mettre en œuvre un mécanisme d'extraction exhaustif et fiable capable de cartographier les dépendances logicielles, les configurations et les particularités d’exécution d'une </a:t>
                </a:r>
                <a:r>
                  <a:rPr lang="fr-CM" sz="1200" dirty="0">
                    <a:solidFill>
                      <a:schemeClr val="bg1"/>
                    </a:solidFill>
                  </a:rPr>
                  <a:t>application </a:t>
                </a:r>
                <a:r>
                  <a:rPr lang="fr-CM" sz="1200" dirty="0">
                    <a:solidFill>
                      <a:schemeClr val="bg1"/>
                    </a:solidFill>
                  </a:rPr>
                  <a:t>existante</a:t>
                </a:r>
                <a:r>
                  <a:rPr lang="en-GB" sz="1200" dirty="0">
                    <a:solidFill>
                      <a:schemeClr val="bg1"/>
                    </a:solidFill>
                  </a:rPr>
                  <a:t>?</a:t>
                </a:r>
                <a:r>
                  <a:rPr lang="en-GB" sz="1200" dirty="0">
                    <a:solidFill>
                      <a:schemeClr val="bg1"/>
                    </a:solidFill>
                  </a:rPr>
                  <a:t> </a:t>
                </a:r>
                <a:endParaRPr lang="en-GB" sz="1200" dirty="0">
                  <a:solidFill>
                    <a:schemeClr val="bg1"/>
                  </a:solidFill>
                  <a:sym typeface="Fira Sans Extra Condensed Medium"/>
                </a:endParaRPr>
              </a:p>
            </p:txBody>
          </p:sp>
          <p:sp>
            <p:nvSpPr>
              <p:cNvPr id="39" name="TextBox 122">
                <a:extLst>
                  <a:ext uri="{FF2B5EF4-FFF2-40B4-BE49-F238E27FC236}">
                    <a16:creationId xmlns:a16="http://schemas.microsoft.com/office/drawing/2014/main" id="{90C74435-CA0B-022E-9CBF-24D49A0D9545}"/>
                  </a:ext>
                </a:extLst>
              </p:cNvPr>
              <p:cNvSpPr txBox="1"/>
              <p:nvPr/>
            </p:nvSpPr>
            <p:spPr>
              <a:xfrm>
                <a:off x="2112371" y="4989219"/>
                <a:ext cx="2228721" cy="846386"/>
              </a:xfrm>
              <a:prstGeom prst="rect">
                <a:avLst/>
              </a:prstGeom>
              <a:noFill/>
            </p:spPr>
            <p:txBody>
              <a:bodyPr wrap="square">
                <a:spAutoFit/>
              </a:bodyPr>
              <a:lstStyle/>
              <a:p>
                <a:pPr algn="r">
                  <a:spcAft>
                    <a:spcPts val="600"/>
                  </a:spcAft>
                  <a:buClr>
                    <a:schemeClr val="dk1"/>
                  </a:buClr>
                  <a:buSzPts val="1100"/>
                </a:pPr>
                <a:r>
                  <a:rPr lang="en-US" sz="1400" b="1" dirty="0">
                    <a:solidFill>
                      <a:schemeClr val="bg1"/>
                    </a:solidFill>
                    <a:latin typeface="Lora" pitchFamily="2" charset="0"/>
                  </a:rPr>
                  <a:t>Maturity</a:t>
                </a:r>
                <a:endParaRPr lang="en-US" sz="1000" b="1" dirty="0">
                  <a:solidFill>
                    <a:schemeClr val="bg1"/>
                  </a:solidFill>
                  <a:latin typeface="Lora" pitchFamily="2" charset="0"/>
                </a:endParaRPr>
              </a:p>
              <a:p>
                <a:pPr algn="r">
                  <a:spcAft>
                    <a:spcPts val="600"/>
                  </a:spcAft>
                  <a:buClr>
                    <a:schemeClr val="dk1"/>
                  </a:buClr>
                  <a:buSzPts val="1100"/>
                </a:pPr>
                <a:r>
                  <a:rPr lang="en-GB" sz="1000" dirty="0">
                    <a:solidFill>
                      <a:schemeClr val="bg1"/>
                    </a:solidFill>
                    <a:latin typeface="Lora" pitchFamily="2" charset="0"/>
                  </a:rPr>
                  <a:t>Maecenas non laoreet odio. Fusce lobortis porttitor purus, vel vestibulum libero pharetra vel. </a:t>
                </a:r>
                <a:endParaRPr lang="en-GB" sz="1000" b="1" dirty="0">
                  <a:solidFill>
                    <a:schemeClr val="bg1"/>
                  </a:solidFill>
                  <a:latin typeface="Lora" pitchFamily="2" charset="0"/>
                  <a:ea typeface="Fira Sans Extra Condensed Medium"/>
                  <a:cs typeface="Fira Sans Extra Condensed Medium"/>
                  <a:sym typeface="Fira Sans Extra Condensed Medium"/>
                </a:endParaRPr>
              </a:p>
            </p:txBody>
          </p:sp>
          <p:sp>
            <p:nvSpPr>
              <p:cNvPr id="40" name="TextBox 124">
                <a:extLst>
                  <a:ext uri="{FF2B5EF4-FFF2-40B4-BE49-F238E27FC236}">
                    <a16:creationId xmlns:a16="http://schemas.microsoft.com/office/drawing/2014/main" id="{8ADEDFB9-63C3-86DC-B9A9-2F3C5AF6E8AC}"/>
                  </a:ext>
                </a:extLst>
              </p:cNvPr>
              <p:cNvSpPr txBox="1"/>
              <p:nvPr/>
            </p:nvSpPr>
            <p:spPr>
              <a:xfrm>
                <a:off x="1436143" y="3214845"/>
                <a:ext cx="4097687" cy="1056618"/>
              </a:xfrm>
              <a:prstGeom prst="rect">
                <a:avLst/>
              </a:prstGeom>
              <a:noFill/>
            </p:spPr>
            <p:txBody>
              <a:bodyPr wrap="square">
                <a:spAutoFit/>
              </a:bodyPr>
              <a:lstStyle/>
              <a:p>
                <a:r>
                  <a:rPr lang="fr-CM" sz="1000" dirty="0">
                    <a:solidFill>
                      <a:schemeClr val="bg1"/>
                    </a:solidFill>
                  </a:rPr>
                  <a:t>Comment formaliser les règles de correspondance (</a:t>
                </a:r>
                <a:r>
                  <a:rPr lang="fr-CM" sz="1000" dirty="0" err="1">
                    <a:solidFill>
                      <a:schemeClr val="bg1"/>
                    </a:solidFill>
                  </a:rPr>
                  <a:t>mapping</a:t>
                </a:r>
                <a:r>
                  <a:rPr lang="fr-CM" sz="1000" dirty="0">
                    <a:solidFill>
                      <a:schemeClr val="bg1"/>
                    </a:solidFill>
                  </a:rPr>
                  <a:t>) permettant de traduire ces configurations hétérogènes en artefacts Docker (</a:t>
                </a:r>
                <a:r>
                  <a:rPr lang="fr-CM" sz="1000" dirty="0" err="1">
                    <a:solidFill>
                      <a:schemeClr val="bg1"/>
                    </a:solidFill>
                  </a:rPr>
                  <a:t>Dockerfiles</a:t>
                </a:r>
                <a:r>
                  <a:rPr lang="fr-CM" sz="1000" dirty="0">
                    <a:solidFill>
                      <a:schemeClr val="bg1"/>
                    </a:solidFill>
                  </a:rPr>
                  <a:t> et </a:t>
                </a:r>
                <a:r>
                  <a:rPr lang="fr-CM" sz="1000" dirty="0" err="1">
                    <a:solidFill>
                      <a:schemeClr val="bg1"/>
                    </a:solidFill>
                  </a:rPr>
                  <a:t>manifests</a:t>
                </a:r>
                <a:r>
                  <a:rPr lang="fr-CM" sz="1000" dirty="0">
                    <a:solidFill>
                      <a:schemeClr val="bg1"/>
                    </a:solidFill>
                  </a:rPr>
                  <a:t> Docker Compose) optimisés, sécurisés et respectant l'équivalence fonctionnelle de l'application source </a:t>
                </a:r>
                <a:r>
                  <a:rPr lang="fr-CM" sz="1000" dirty="0" smtClean="0">
                    <a:solidFill>
                      <a:schemeClr val="bg1"/>
                    </a:solidFill>
                  </a:rPr>
                  <a:t>?</a:t>
                </a:r>
                <a:endParaRPr lang="en-US" sz="1000" dirty="0">
                  <a:solidFill>
                    <a:schemeClr val="bg1"/>
                  </a:solidFill>
                </a:endParaRPr>
              </a:p>
            </p:txBody>
          </p:sp>
        </p:grpSp>
      </p:grpSp>
    </p:spTree>
    <p:extLst>
      <p:ext uri="{BB962C8B-B14F-4D97-AF65-F5344CB8AC3E}">
        <p14:creationId xmlns:p14="http://schemas.microsoft.com/office/powerpoint/2010/main" val="3273149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0940231"/>
              </p:ext>
            </p:extLst>
          </p:nvPr>
        </p:nvGraphicFramePr>
        <p:xfrm>
          <a:off x="118110" y="-297180"/>
          <a:ext cx="11925300" cy="1897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252">
            <a:extLst>
              <a:ext uri="{FF2B5EF4-FFF2-40B4-BE49-F238E27FC236}">
                <a16:creationId xmlns:a16="http://schemas.microsoft.com/office/drawing/2014/main" id="{73CEE92D-FCC0-4954-8E65-B9C4DDE52048}"/>
              </a:ext>
            </a:extLst>
          </p:cNvPr>
          <p:cNvGrpSpPr/>
          <p:nvPr/>
        </p:nvGrpSpPr>
        <p:grpSpPr>
          <a:xfrm>
            <a:off x="2000921" y="1699707"/>
            <a:ext cx="9011881" cy="4476882"/>
            <a:chOff x="1112712" y="1135759"/>
            <a:chExt cx="10140677" cy="5387804"/>
          </a:xfrm>
        </p:grpSpPr>
        <p:sp>
          <p:nvSpPr>
            <p:cNvPr id="7" name="TextBox 123">
              <a:extLst>
                <a:ext uri="{FF2B5EF4-FFF2-40B4-BE49-F238E27FC236}">
                  <a16:creationId xmlns:a16="http://schemas.microsoft.com/office/drawing/2014/main" id="{03EEFC57-66B7-C8A4-C2BC-53750537AFE3}"/>
                </a:ext>
              </a:extLst>
            </p:cNvPr>
            <p:cNvSpPr txBox="1"/>
            <p:nvPr/>
          </p:nvSpPr>
          <p:spPr>
            <a:xfrm>
              <a:off x="7508077" y="2099809"/>
              <a:ext cx="3745312" cy="2123658"/>
            </a:xfrm>
            <a:prstGeom prst="rect">
              <a:avLst/>
            </a:prstGeom>
            <a:noFill/>
          </p:spPr>
          <p:txBody>
            <a:bodyPr wrap="square">
              <a:spAutoFit/>
            </a:bodyPr>
            <a:lstStyle/>
            <a:p>
              <a:pPr algn="ctr"/>
              <a:r>
                <a:rPr lang="en-US" sz="4400" b="1" dirty="0">
                  <a:latin typeface="Lora" pitchFamily="2" charset="0"/>
                </a:rPr>
                <a:t>Infographics PowerPoint Templates</a:t>
              </a:r>
            </a:p>
          </p:txBody>
        </p:sp>
        <p:grpSp>
          <p:nvGrpSpPr>
            <p:cNvPr id="8" name="Group 251">
              <a:extLst>
                <a:ext uri="{FF2B5EF4-FFF2-40B4-BE49-F238E27FC236}">
                  <a16:creationId xmlns:a16="http://schemas.microsoft.com/office/drawing/2014/main" id="{D280197C-4928-934E-D35F-107F417F4223}"/>
                </a:ext>
              </a:extLst>
            </p:cNvPr>
            <p:cNvGrpSpPr/>
            <p:nvPr/>
          </p:nvGrpSpPr>
          <p:grpSpPr>
            <a:xfrm>
              <a:off x="1112712" y="1135759"/>
              <a:ext cx="5918926" cy="5387804"/>
              <a:chOff x="1112712" y="1135759"/>
              <a:chExt cx="5918926" cy="5387804"/>
            </a:xfrm>
          </p:grpSpPr>
          <p:sp>
            <p:nvSpPr>
              <p:cNvPr id="9" name="Freeform: Shape 209">
                <a:extLst>
                  <a:ext uri="{FF2B5EF4-FFF2-40B4-BE49-F238E27FC236}">
                    <a16:creationId xmlns:a16="http://schemas.microsoft.com/office/drawing/2014/main" id="{98AE9F44-B0A6-5625-2D0F-CBE1627D8490}"/>
                  </a:ext>
                </a:extLst>
              </p:cNvPr>
              <p:cNvSpPr/>
              <p:nvPr/>
            </p:nvSpPr>
            <p:spPr>
              <a:xfrm>
                <a:off x="3536827" y="5946242"/>
                <a:ext cx="480704" cy="480705"/>
              </a:xfrm>
              <a:custGeom>
                <a:avLst/>
                <a:gdLst>
                  <a:gd name="connsiteX0" fmla="*/ 153636 w 480704"/>
                  <a:gd name="connsiteY0" fmla="*/ 480705 h 480705"/>
                  <a:gd name="connsiteX1" fmla="*/ 480705 w 480704"/>
                  <a:gd name="connsiteY1" fmla="*/ 480705 h 480705"/>
                  <a:gd name="connsiteX2" fmla="*/ 480705 w 480704"/>
                  <a:gd name="connsiteY2" fmla="*/ 153900 h 480705"/>
                  <a:gd name="connsiteX3" fmla="*/ 384617 w 480704"/>
                  <a:gd name="connsiteY3" fmla="*/ 249988 h 480705"/>
                  <a:gd name="connsiteX4" fmla="*/ 134365 w 480704"/>
                  <a:gd name="connsiteY4" fmla="*/ 0 h 480705"/>
                  <a:gd name="connsiteX5" fmla="*/ 0 w 480704"/>
                  <a:gd name="connsiteY5" fmla="*/ 134629 h 480705"/>
                  <a:gd name="connsiteX6" fmla="*/ 249988 w 480704"/>
                  <a:gd name="connsiteY6" fmla="*/ 384617 h 480705"/>
                  <a:gd name="connsiteX7" fmla="*/ 153636 w 480704"/>
                  <a:gd name="connsiteY7" fmla="*/ 480705 h 480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704" h="480705">
                    <a:moveTo>
                      <a:pt x="153636" y="480705"/>
                    </a:moveTo>
                    <a:lnTo>
                      <a:pt x="480705" y="480705"/>
                    </a:lnTo>
                    <a:lnTo>
                      <a:pt x="480705" y="153900"/>
                    </a:lnTo>
                    <a:lnTo>
                      <a:pt x="384617" y="249988"/>
                    </a:lnTo>
                    <a:lnTo>
                      <a:pt x="134365" y="0"/>
                    </a:lnTo>
                    <a:lnTo>
                      <a:pt x="0" y="134629"/>
                    </a:lnTo>
                    <a:lnTo>
                      <a:pt x="249988" y="384617"/>
                    </a:lnTo>
                    <a:lnTo>
                      <a:pt x="153636" y="480705"/>
                    </a:lnTo>
                    <a:close/>
                  </a:path>
                </a:pathLst>
              </a:custGeom>
              <a:solidFill>
                <a:srgbClr val="FF000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Freeform: Shape 125">
                <a:extLst>
                  <a:ext uri="{FF2B5EF4-FFF2-40B4-BE49-F238E27FC236}">
                    <a16:creationId xmlns:a16="http://schemas.microsoft.com/office/drawing/2014/main" id="{D5E404A1-59DA-4048-068D-8995B705CAF7}"/>
                  </a:ext>
                </a:extLst>
              </p:cNvPr>
              <p:cNvSpPr/>
              <p:nvPr/>
            </p:nvSpPr>
            <p:spPr>
              <a:xfrm>
                <a:off x="1112712" y="3215119"/>
                <a:ext cx="2730858" cy="1387207"/>
              </a:xfrm>
              <a:custGeom>
                <a:avLst/>
                <a:gdLst>
                  <a:gd name="connsiteX0" fmla="*/ 2422055 w 2730858"/>
                  <a:gd name="connsiteY0" fmla="*/ 1387163 h 1387207"/>
                  <a:gd name="connsiteX1" fmla="*/ 2422055 w 2730858"/>
                  <a:gd name="connsiteY1" fmla="*/ 1074349 h 1387207"/>
                  <a:gd name="connsiteX2" fmla="*/ 2473267 w 2730858"/>
                  <a:gd name="connsiteY2" fmla="*/ 950543 h 1387207"/>
                  <a:gd name="connsiteX3" fmla="*/ 2730382 w 2730858"/>
                  <a:gd name="connsiteY3" fmla="*/ 693428 h 1387207"/>
                  <a:gd name="connsiteX4" fmla="*/ 2473267 w 2730858"/>
                  <a:gd name="connsiteY4" fmla="*/ 436576 h 1387207"/>
                  <a:gd name="connsiteX5" fmla="*/ 2422055 w 2730858"/>
                  <a:gd name="connsiteY5" fmla="*/ 312770 h 1387207"/>
                  <a:gd name="connsiteX6" fmla="*/ 2422055 w 2730858"/>
                  <a:gd name="connsiteY6" fmla="*/ -44 h 1387207"/>
                  <a:gd name="connsiteX7" fmla="*/ -477 w 2730858"/>
                  <a:gd name="connsiteY7" fmla="*/ -44 h 1387207"/>
                  <a:gd name="connsiteX8" fmla="*/ -477 w 2730858"/>
                  <a:gd name="connsiteY8" fmla="*/ 1387163 h 1387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0858" h="1387207">
                    <a:moveTo>
                      <a:pt x="2422055" y="1387163"/>
                    </a:moveTo>
                    <a:lnTo>
                      <a:pt x="2422055" y="1074349"/>
                    </a:lnTo>
                    <a:cubicBezTo>
                      <a:pt x="2422055" y="1027915"/>
                      <a:pt x="2440481" y="983408"/>
                      <a:pt x="2473267" y="950543"/>
                    </a:cubicBezTo>
                    <a:lnTo>
                      <a:pt x="2730382" y="693428"/>
                    </a:lnTo>
                    <a:lnTo>
                      <a:pt x="2473267" y="436576"/>
                    </a:lnTo>
                    <a:cubicBezTo>
                      <a:pt x="2440533" y="403685"/>
                      <a:pt x="2422107" y="359178"/>
                      <a:pt x="2422055" y="312770"/>
                    </a:cubicBezTo>
                    <a:lnTo>
                      <a:pt x="2422055" y="-44"/>
                    </a:lnTo>
                    <a:lnTo>
                      <a:pt x="-477" y="-44"/>
                    </a:lnTo>
                    <a:lnTo>
                      <a:pt x="-477" y="1387163"/>
                    </a:lnTo>
                    <a:close/>
                  </a:path>
                </a:pathLst>
              </a:custGeom>
              <a:solidFill>
                <a:schemeClr val="bg1">
                  <a:lumMod val="85000"/>
                </a:schemeClr>
              </a:solidFill>
              <a:ln w="26364" cap="flat">
                <a:noFill/>
                <a:prstDash val="solid"/>
                <a:miter/>
              </a:ln>
            </p:spPr>
            <p:txBody>
              <a:bodyPr rtlCol="0" anchor="ctr"/>
              <a:lstStyle/>
              <a:p>
                <a:endParaRPr lang="en-US"/>
              </a:p>
            </p:txBody>
          </p:sp>
          <p:sp>
            <p:nvSpPr>
              <p:cNvPr id="11" name="Freeform: Shape 175">
                <a:extLst>
                  <a:ext uri="{FF2B5EF4-FFF2-40B4-BE49-F238E27FC236}">
                    <a16:creationId xmlns:a16="http://schemas.microsoft.com/office/drawing/2014/main" id="{F828111A-32B6-0FA7-8219-E6A8B740621A}"/>
                  </a:ext>
                </a:extLst>
              </p:cNvPr>
              <p:cNvSpPr/>
              <p:nvPr/>
            </p:nvSpPr>
            <p:spPr>
              <a:xfrm>
                <a:off x="3911676" y="4173362"/>
                <a:ext cx="561746" cy="562010"/>
              </a:xfrm>
              <a:custGeom>
                <a:avLst/>
                <a:gdLst>
                  <a:gd name="connsiteX0" fmla="*/ 0 w 561746"/>
                  <a:gd name="connsiteY0" fmla="*/ 179769 h 562010"/>
                  <a:gd name="connsiteX1" fmla="*/ 0 w 561746"/>
                  <a:gd name="connsiteY1" fmla="*/ 562011 h 562010"/>
                  <a:gd name="connsiteX2" fmla="*/ 381977 w 561746"/>
                  <a:gd name="connsiteY2" fmla="*/ 562011 h 562010"/>
                  <a:gd name="connsiteX3" fmla="*/ 269522 w 561746"/>
                  <a:gd name="connsiteY3" fmla="*/ 449556 h 562010"/>
                  <a:gd name="connsiteX4" fmla="*/ 561746 w 561746"/>
                  <a:gd name="connsiteY4" fmla="*/ 157331 h 562010"/>
                  <a:gd name="connsiteX5" fmla="*/ 404415 w 561746"/>
                  <a:gd name="connsiteY5" fmla="*/ 0 h 562010"/>
                  <a:gd name="connsiteX6" fmla="*/ 112191 w 561746"/>
                  <a:gd name="connsiteY6" fmla="*/ 292224 h 562010"/>
                  <a:gd name="connsiteX7" fmla="*/ 0 w 561746"/>
                  <a:gd name="connsiteY7" fmla="*/ 179769 h 56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746" h="562010">
                    <a:moveTo>
                      <a:pt x="0" y="179769"/>
                    </a:moveTo>
                    <a:lnTo>
                      <a:pt x="0" y="562011"/>
                    </a:lnTo>
                    <a:lnTo>
                      <a:pt x="381977" y="562011"/>
                    </a:lnTo>
                    <a:lnTo>
                      <a:pt x="269522" y="449556"/>
                    </a:lnTo>
                    <a:lnTo>
                      <a:pt x="561746" y="157331"/>
                    </a:lnTo>
                    <a:lnTo>
                      <a:pt x="404415" y="0"/>
                    </a:lnTo>
                    <a:lnTo>
                      <a:pt x="112191" y="292224"/>
                    </a:lnTo>
                    <a:lnTo>
                      <a:pt x="0" y="179769"/>
                    </a:lnTo>
                    <a:close/>
                  </a:path>
                </a:pathLst>
              </a:custGeom>
              <a:solidFill>
                <a:srgbClr val="0070C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Freeform: Shape 176">
                <a:extLst>
                  <a:ext uri="{FF2B5EF4-FFF2-40B4-BE49-F238E27FC236}">
                    <a16:creationId xmlns:a16="http://schemas.microsoft.com/office/drawing/2014/main" id="{93C62124-A43F-81C0-3F62-31956612B43E}"/>
                  </a:ext>
                </a:extLst>
              </p:cNvPr>
              <p:cNvSpPr/>
              <p:nvPr/>
            </p:nvSpPr>
            <p:spPr>
              <a:xfrm>
                <a:off x="3913524" y="3006840"/>
                <a:ext cx="1726419" cy="1726420"/>
              </a:xfrm>
              <a:custGeom>
                <a:avLst/>
                <a:gdLst>
                  <a:gd name="connsiteX0" fmla="*/ 1726420 w 1726419"/>
                  <a:gd name="connsiteY0" fmla="*/ 863210 h 1726420"/>
                  <a:gd name="connsiteX1" fmla="*/ 863210 w 1726419"/>
                  <a:gd name="connsiteY1" fmla="*/ 1726420 h 1726420"/>
                  <a:gd name="connsiteX2" fmla="*/ 0 w 1726419"/>
                  <a:gd name="connsiteY2" fmla="*/ 863210 h 1726420"/>
                  <a:gd name="connsiteX3" fmla="*/ 863210 w 1726419"/>
                  <a:gd name="connsiteY3" fmla="*/ 0 h 1726420"/>
                  <a:gd name="connsiteX4" fmla="*/ 1726420 w 1726419"/>
                  <a:gd name="connsiteY4" fmla="*/ 863210 h 1726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419" h="1726420">
                    <a:moveTo>
                      <a:pt x="1726420" y="863210"/>
                    </a:moveTo>
                    <a:cubicBezTo>
                      <a:pt x="1726420" y="1339948"/>
                      <a:pt x="1339948" y="1726420"/>
                      <a:pt x="863210" y="1726420"/>
                    </a:cubicBezTo>
                    <a:cubicBezTo>
                      <a:pt x="386472" y="1726420"/>
                      <a:pt x="0" y="1339948"/>
                      <a:pt x="0" y="863210"/>
                    </a:cubicBezTo>
                    <a:cubicBezTo>
                      <a:pt x="0" y="386472"/>
                      <a:pt x="386472" y="0"/>
                      <a:pt x="863210" y="0"/>
                    </a:cubicBezTo>
                    <a:cubicBezTo>
                      <a:pt x="1339948" y="0"/>
                      <a:pt x="1726420" y="386472"/>
                      <a:pt x="1726420" y="863210"/>
                    </a:cubicBezTo>
                    <a:close/>
                  </a:path>
                </a:pathLst>
              </a:custGeom>
              <a:solidFill>
                <a:srgbClr val="0070C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Freeform: Shape 177">
                <a:extLst>
                  <a:ext uri="{FF2B5EF4-FFF2-40B4-BE49-F238E27FC236}">
                    <a16:creationId xmlns:a16="http://schemas.microsoft.com/office/drawing/2014/main" id="{8760C2FD-A06B-80A4-E305-DDB77D43C174}"/>
                  </a:ext>
                </a:extLst>
              </p:cNvPr>
              <p:cNvSpPr/>
              <p:nvPr/>
            </p:nvSpPr>
            <p:spPr>
              <a:xfrm>
                <a:off x="4124971" y="3218551"/>
                <a:ext cx="651763" cy="1303526"/>
              </a:xfrm>
              <a:custGeom>
                <a:avLst/>
                <a:gdLst>
                  <a:gd name="connsiteX0" fmla="*/ 651286 w 651763"/>
                  <a:gd name="connsiteY0" fmla="*/ 1091771 h 1303526"/>
                  <a:gd name="connsiteX1" fmla="*/ 210970 w 651763"/>
                  <a:gd name="connsiteY1" fmla="*/ 651455 h 1303526"/>
                  <a:gd name="connsiteX2" fmla="*/ 651286 w 651763"/>
                  <a:gd name="connsiteY2" fmla="*/ 211138 h 1303526"/>
                  <a:gd name="connsiteX3" fmla="*/ 651286 w 651763"/>
                  <a:gd name="connsiteY3" fmla="*/ -44 h 1303526"/>
                  <a:gd name="connsiteX4" fmla="*/ -477 w 651763"/>
                  <a:gd name="connsiteY4" fmla="*/ 651719 h 1303526"/>
                  <a:gd name="connsiteX5" fmla="*/ 651286 w 651763"/>
                  <a:gd name="connsiteY5" fmla="*/ 1303482 h 130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763" h="1303526">
                    <a:moveTo>
                      <a:pt x="651286" y="1091771"/>
                    </a:moveTo>
                    <a:cubicBezTo>
                      <a:pt x="408110" y="1091771"/>
                      <a:pt x="210970" y="894632"/>
                      <a:pt x="210970" y="651455"/>
                    </a:cubicBezTo>
                    <a:cubicBezTo>
                      <a:pt x="210970" y="408278"/>
                      <a:pt x="408110" y="211138"/>
                      <a:pt x="651286" y="211138"/>
                    </a:cubicBezTo>
                    <a:lnTo>
                      <a:pt x="651286" y="-44"/>
                    </a:lnTo>
                    <a:cubicBezTo>
                      <a:pt x="291326" y="-44"/>
                      <a:pt x="-477" y="291758"/>
                      <a:pt x="-477" y="651719"/>
                    </a:cubicBezTo>
                    <a:cubicBezTo>
                      <a:pt x="-477" y="1011680"/>
                      <a:pt x="291326" y="1303482"/>
                      <a:pt x="651286" y="1303482"/>
                    </a:cubicBezTo>
                    <a:close/>
                  </a:path>
                </a:pathLst>
              </a:custGeom>
              <a:solidFill>
                <a:srgbClr val="FFFFFF"/>
              </a:solidFill>
              <a:ln w="26364" cap="flat">
                <a:noFill/>
                <a:prstDash val="solid"/>
                <a:miter/>
              </a:ln>
            </p:spPr>
            <p:txBody>
              <a:bodyPr rtlCol="0" anchor="ctr"/>
              <a:lstStyle/>
              <a:p>
                <a:endParaRPr lang="en-US">
                  <a:solidFill>
                    <a:schemeClr val="bg1"/>
                  </a:solidFill>
                </a:endParaRPr>
              </a:p>
            </p:txBody>
          </p:sp>
          <p:sp>
            <p:nvSpPr>
              <p:cNvPr id="15" name="TextBox 178">
                <a:extLst>
                  <a:ext uri="{FF2B5EF4-FFF2-40B4-BE49-F238E27FC236}">
                    <a16:creationId xmlns:a16="http://schemas.microsoft.com/office/drawing/2014/main" id="{518E06CF-7E1E-5FBD-2104-A9ACA138B229}"/>
                  </a:ext>
                </a:extLst>
              </p:cNvPr>
              <p:cNvSpPr txBox="1"/>
              <p:nvPr/>
            </p:nvSpPr>
            <p:spPr>
              <a:xfrm>
                <a:off x="4469096" y="3660663"/>
                <a:ext cx="793807" cy="444096"/>
              </a:xfrm>
              <a:prstGeom prst="rect">
                <a:avLst/>
              </a:prstGeom>
              <a:noFill/>
            </p:spPr>
            <p:txBody>
              <a:bodyPr wrap="none" rtlCol="0">
                <a:spAutoFit/>
              </a:bodyPr>
              <a:lstStyle/>
              <a:p>
                <a:pPr algn="ctr"/>
                <a:r>
                  <a:rPr lang="en-US" sz="2286" b="1" spc="0" baseline="0" dirty="0">
                    <a:ln/>
                    <a:solidFill>
                      <a:srgbClr val="FFFFFF"/>
                    </a:solidFill>
                    <a:latin typeface="Lora" pitchFamily="2" charset="0"/>
                    <a:cs typeface="Arial"/>
                    <a:sym typeface="Arial"/>
                    <a:rtl val="0"/>
                  </a:rPr>
                  <a:t>50%</a:t>
                </a:r>
              </a:p>
            </p:txBody>
          </p:sp>
          <p:sp>
            <p:nvSpPr>
              <p:cNvPr id="16" name="Freeform: Shape 181">
                <a:extLst>
                  <a:ext uri="{FF2B5EF4-FFF2-40B4-BE49-F238E27FC236}">
                    <a16:creationId xmlns:a16="http://schemas.microsoft.com/office/drawing/2014/main" id="{06B0241D-68BC-AAF0-994B-4F664EB50412}"/>
                  </a:ext>
                </a:extLst>
              </p:cNvPr>
              <p:cNvSpPr/>
              <p:nvPr/>
            </p:nvSpPr>
            <p:spPr>
              <a:xfrm>
                <a:off x="4301044" y="5136884"/>
                <a:ext cx="2730594" cy="1386679"/>
              </a:xfrm>
              <a:custGeom>
                <a:avLst/>
                <a:gdLst>
                  <a:gd name="connsiteX0" fmla="*/ 307852 w 2730594"/>
                  <a:gd name="connsiteY0" fmla="*/ -44 h 1386679"/>
                  <a:gd name="connsiteX1" fmla="*/ 307852 w 2730594"/>
                  <a:gd name="connsiteY1" fmla="*/ 311450 h 1386679"/>
                  <a:gd name="connsiteX2" fmla="*/ 256376 w 2730594"/>
                  <a:gd name="connsiteY2" fmla="*/ 435256 h 1386679"/>
                  <a:gd name="connsiteX3" fmla="*/ -477 w 2730594"/>
                  <a:gd name="connsiteY3" fmla="*/ 692108 h 1386679"/>
                  <a:gd name="connsiteX4" fmla="*/ 256376 w 2730594"/>
                  <a:gd name="connsiteY4" fmla="*/ 950279 h 1386679"/>
                  <a:gd name="connsiteX5" fmla="*/ 307852 w 2730594"/>
                  <a:gd name="connsiteY5" fmla="*/ 1074085 h 1386679"/>
                  <a:gd name="connsiteX6" fmla="*/ 307852 w 2730594"/>
                  <a:gd name="connsiteY6" fmla="*/ 1386635 h 1386679"/>
                  <a:gd name="connsiteX7" fmla="*/ 2730118 w 2730594"/>
                  <a:gd name="connsiteY7" fmla="*/ 1386635 h 1386679"/>
                  <a:gd name="connsiteX8" fmla="*/ 2730118 w 2730594"/>
                  <a:gd name="connsiteY8" fmla="*/ -44 h 138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0594" h="1386679">
                    <a:moveTo>
                      <a:pt x="307852" y="-44"/>
                    </a:moveTo>
                    <a:lnTo>
                      <a:pt x="307852" y="311450"/>
                    </a:lnTo>
                    <a:cubicBezTo>
                      <a:pt x="307824" y="357911"/>
                      <a:pt x="289320" y="402470"/>
                      <a:pt x="256376" y="435256"/>
                    </a:cubicBezTo>
                    <a:lnTo>
                      <a:pt x="-477" y="692108"/>
                    </a:lnTo>
                    <a:lnTo>
                      <a:pt x="256376" y="950279"/>
                    </a:lnTo>
                    <a:cubicBezTo>
                      <a:pt x="289346" y="983038"/>
                      <a:pt x="307877" y="1027598"/>
                      <a:pt x="307852" y="1074085"/>
                    </a:cubicBezTo>
                    <a:lnTo>
                      <a:pt x="307852" y="1386635"/>
                    </a:lnTo>
                    <a:lnTo>
                      <a:pt x="2730118" y="1386635"/>
                    </a:lnTo>
                    <a:lnTo>
                      <a:pt x="2730118" y="-44"/>
                    </a:lnTo>
                    <a:close/>
                  </a:path>
                </a:pathLst>
              </a:custGeom>
              <a:solidFill>
                <a:schemeClr val="bg1">
                  <a:lumMod val="85000"/>
                </a:schemeClr>
              </a:solidFill>
              <a:ln w="26364" cap="flat">
                <a:noFill/>
                <a:prstDash val="solid"/>
                <a:miter/>
              </a:ln>
            </p:spPr>
            <p:txBody>
              <a:bodyPr rtlCol="0" anchor="ctr"/>
              <a:lstStyle/>
              <a:p>
                <a:endParaRPr lang="en-US"/>
              </a:p>
            </p:txBody>
          </p:sp>
          <p:sp>
            <p:nvSpPr>
              <p:cNvPr id="17" name="Freeform: Shape 207">
                <a:extLst>
                  <a:ext uri="{FF2B5EF4-FFF2-40B4-BE49-F238E27FC236}">
                    <a16:creationId xmlns:a16="http://schemas.microsoft.com/office/drawing/2014/main" id="{D0F332BE-C3F2-BE66-B3B5-919E85E84C66}"/>
                  </a:ext>
                </a:extLst>
              </p:cNvPr>
              <p:cNvSpPr/>
              <p:nvPr/>
            </p:nvSpPr>
            <p:spPr>
              <a:xfrm>
                <a:off x="2538460" y="4948139"/>
                <a:ext cx="1477224" cy="1477224"/>
              </a:xfrm>
              <a:custGeom>
                <a:avLst/>
                <a:gdLst>
                  <a:gd name="connsiteX0" fmla="*/ 1477224 w 1477224"/>
                  <a:gd name="connsiteY0" fmla="*/ 738612 h 1477224"/>
                  <a:gd name="connsiteX1" fmla="*/ 738612 w 1477224"/>
                  <a:gd name="connsiteY1" fmla="*/ 1477224 h 1477224"/>
                  <a:gd name="connsiteX2" fmla="*/ 0 w 1477224"/>
                  <a:gd name="connsiteY2" fmla="*/ 738612 h 1477224"/>
                  <a:gd name="connsiteX3" fmla="*/ 738612 w 1477224"/>
                  <a:gd name="connsiteY3" fmla="*/ 0 h 1477224"/>
                  <a:gd name="connsiteX4" fmla="*/ 1477224 w 1477224"/>
                  <a:gd name="connsiteY4" fmla="*/ 738612 h 1477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7224" h="1477224">
                    <a:moveTo>
                      <a:pt x="1477224" y="738612"/>
                    </a:moveTo>
                    <a:cubicBezTo>
                      <a:pt x="1477224" y="1146536"/>
                      <a:pt x="1146536" y="1477224"/>
                      <a:pt x="738612" y="1477224"/>
                    </a:cubicBezTo>
                    <a:cubicBezTo>
                      <a:pt x="330688" y="1477224"/>
                      <a:pt x="0" y="1146536"/>
                      <a:pt x="0" y="738612"/>
                    </a:cubicBezTo>
                    <a:cubicBezTo>
                      <a:pt x="0" y="330688"/>
                      <a:pt x="330688" y="0"/>
                      <a:pt x="738612" y="0"/>
                    </a:cubicBezTo>
                    <a:cubicBezTo>
                      <a:pt x="1146536" y="0"/>
                      <a:pt x="1477224" y="330688"/>
                      <a:pt x="1477224" y="738612"/>
                    </a:cubicBezTo>
                    <a:close/>
                  </a:path>
                </a:pathLst>
              </a:custGeom>
              <a:solidFill>
                <a:srgbClr val="FF000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8" name="Freeform: Shape 208">
                <a:extLst>
                  <a:ext uri="{FF2B5EF4-FFF2-40B4-BE49-F238E27FC236}">
                    <a16:creationId xmlns:a16="http://schemas.microsoft.com/office/drawing/2014/main" id="{331AB014-FFAF-55B4-BC4D-58559A95A846}"/>
                  </a:ext>
                </a:extLst>
              </p:cNvPr>
              <p:cNvSpPr/>
              <p:nvPr/>
            </p:nvSpPr>
            <p:spPr>
              <a:xfrm>
                <a:off x="2749114" y="5159586"/>
                <a:ext cx="527957" cy="527957"/>
              </a:xfrm>
              <a:custGeom>
                <a:avLst/>
                <a:gdLst>
                  <a:gd name="connsiteX0" fmla="*/ 527480 w 527957"/>
                  <a:gd name="connsiteY0" fmla="*/ -44 h 527957"/>
                  <a:gd name="connsiteX1" fmla="*/ -477 w 527957"/>
                  <a:gd name="connsiteY1" fmla="*/ 527913 h 527957"/>
                  <a:gd name="connsiteX2" fmla="*/ 210706 w 527957"/>
                  <a:gd name="connsiteY2" fmla="*/ 527913 h 527957"/>
                  <a:gd name="connsiteX3" fmla="*/ 524841 w 527957"/>
                  <a:gd name="connsiteY3" fmla="*/ 211138 h 527957"/>
                  <a:gd name="connsiteX4" fmla="*/ 527480 w 527957"/>
                  <a:gd name="connsiteY4" fmla="*/ 211138 h 527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57" h="527957">
                    <a:moveTo>
                      <a:pt x="527480" y="-44"/>
                    </a:moveTo>
                    <a:cubicBezTo>
                      <a:pt x="235889" y="-44"/>
                      <a:pt x="-477" y="236322"/>
                      <a:pt x="-477" y="527913"/>
                    </a:cubicBezTo>
                    <a:lnTo>
                      <a:pt x="210706" y="527913"/>
                    </a:lnTo>
                    <a:cubicBezTo>
                      <a:pt x="209967" y="353687"/>
                      <a:pt x="350615" y="211878"/>
                      <a:pt x="524841" y="211138"/>
                    </a:cubicBezTo>
                    <a:cubicBezTo>
                      <a:pt x="525711" y="211138"/>
                      <a:pt x="526609" y="211138"/>
                      <a:pt x="527480" y="211138"/>
                    </a:cubicBezTo>
                    <a:close/>
                  </a:path>
                </a:pathLst>
              </a:custGeom>
              <a:solidFill>
                <a:srgbClr val="FFFFFF"/>
              </a:solidFill>
              <a:ln w="26364" cap="flat">
                <a:noFill/>
                <a:prstDash val="solid"/>
                <a:miter/>
              </a:ln>
            </p:spPr>
            <p:txBody>
              <a:bodyPr rtlCol="0" anchor="ctr"/>
              <a:lstStyle/>
              <a:p>
                <a:endParaRPr lang="en-US">
                  <a:solidFill>
                    <a:schemeClr val="bg1"/>
                  </a:solidFill>
                </a:endParaRPr>
              </a:p>
            </p:txBody>
          </p:sp>
          <p:sp>
            <p:nvSpPr>
              <p:cNvPr id="19" name="TextBox 210">
                <a:extLst>
                  <a:ext uri="{FF2B5EF4-FFF2-40B4-BE49-F238E27FC236}">
                    <a16:creationId xmlns:a16="http://schemas.microsoft.com/office/drawing/2014/main" id="{92C29AD8-027D-DCF6-5B53-C1720570A7A5}"/>
                  </a:ext>
                </a:extLst>
              </p:cNvPr>
              <p:cNvSpPr txBox="1"/>
              <p:nvPr/>
            </p:nvSpPr>
            <p:spPr>
              <a:xfrm>
                <a:off x="2961778" y="5581108"/>
                <a:ext cx="659155" cy="380232"/>
              </a:xfrm>
              <a:prstGeom prst="rect">
                <a:avLst/>
              </a:prstGeom>
              <a:noFill/>
            </p:spPr>
            <p:txBody>
              <a:bodyPr wrap="none" rtlCol="0">
                <a:spAutoFit/>
              </a:bodyPr>
              <a:lstStyle/>
              <a:p>
                <a:pPr algn="ctr"/>
                <a:r>
                  <a:rPr lang="en-US" sz="1871" b="1" spc="0" baseline="0" dirty="0">
                    <a:ln/>
                    <a:solidFill>
                      <a:srgbClr val="FFFFFF"/>
                    </a:solidFill>
                    <a:latin typeface="Lora" pitchFamily="2" charset="0"/>
                    <a:cs typeface="Arial"/>
                    <a:sym typeface="Arial"/>
                    <a:rtl val="0"/>
                  </a:rPr>
                  <a:t>25%</a:t>
                </a:r>
              </a:p>
            </p:txBody>
          </p:sp>
          <p:sp>
            <p:nvSpPr>
              <p:cNvPr id="20" name="Freeform: Shape 212">
                <a:extLst>
                  <a:ext uri="{FF2B5EF4-FFF2-40B4-BE49-F238E27FC236}">
                    <a16:creationId xmlns:a16="http://schemas.microsoft.com/office/drawing/2014/main" id="{7B0E4E04-C3D7-89EE-C80B-DB4CB803AACE}"/>
                  </a:ext>
                </a:extLst>
              </p:cNvPr>
              <p:cNvSpPr/>
              <p:nvPr/>
            </p:nvSpPr>
            <p:spPr>
              <a:xfrm>
                <a:off x="4301044" y="1309193"/>
                <a:ext cx="2730594" cy="1385887"/>
              </a:xfrm>
              <a:custGeom>
                <a:avLst/>
                <a:gdLst>
                  <a:gd name="connsiteX0" fmla="*/ 307852 w 2730594"/>
                  <a:gd name="connsiteY0" fmla="*/ -44 h 1385887"/>
                  <a:gd name="connsiteX1" fmla="*/ 307852 w 2730594"/>
                  <a:gd name="connsiteY1" fmla="*/ 311450 h 1385887"/>
                  <a:gd name="connsiteX2" fmla="*/ 256376 w 2730594"/>
                  <a:gd name="connsiteY2" fmla="*/ 435256 h 1385887"/>
                  <a:gd name="connsiteX3" fmla="*/ -477 w 2730594"/>
                  <a:gd name="connsiteY3" fmla="*/ 692372 h 1385887"/>
                  <a:gd name="connsiteX4" fmla="*/ 256376 w 2730594"/>
                  <a:gd name="connsiteY4" fmla="*/ 950279 h 1385887"/>
                  <a:gd name="connsiteX5" fmla="*/ 307852 w 2730594"/>
                  <a:gd name="connsiteY5" fmla="*/ 1074085 h 1385887"/>
                  <a:gd name="connsiteX6" fmla="*/ 307852 w 2730594"/>
                  <a:gd name="connsiteY6" fmla="*/ 1385843 h 1385887"/>
                  <a:gd name="connsiteX7" fmla="*/ 2730118 w 2730594"/>
                  <a:gd name="connsiteY7" fmla="*/ 1385843 h 1385887"/>
                  <a:gd name="connsiteX8" fmla="*/ 2730118 w 2730594"/>
                  <a:gd name="connsiteY8" fmla="*/ -44 h 1385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0594" h="1385887">
                    <a:moveTo>
                      <a:pt x="307852" y="-44"/>
                    </a:moveTo>
                    <a:lnTo>
                      <a:pt x="307852" y="311450"/>
                    </a:lnTo>
                    <a:cubicBezTo>
                      <a:pt x="307877" y="357926"/>
                      <a:pt x="289346" y="402491"/>
                      <a:pt x="256376" y="435256"/>
                    </a:cubicBezTo>
                    <a:lnTo>
                      <a:pt x="-477" y="692372"/>
                    </a:lnTo>
                    <a:lnTo>
                      <a:pt x="256376" y="950279"/>
                    </a:lnTo>
                    <a:cubicBezTo>
                      <a:pt x="289320" y="983062"/>
                      <a:pt x="307824" y="1027614"/>
                      <a:pt x="307852" y="1074085"/>
                    </a:cubicBezTo>
                    <a:lnTo>
                      <a:pt x="307852" y="1385843"/>
                    </a:lnTo>
                    <a:lnTo>
                      <a:pt x="2730118" y="1385843"/>
                    </a:lnTo>
                    <a:lnTo>
                      <a:pt x="2730118" y="-44"/>
                    </a:lnTo>
                    <a:close/>
                  </a:path>
                </a:pathLst>
              </a:custGeom>
              <a:solidFill>
                <a:schemeClr val="bg1">
                  <a:lumMod val="85000"/>
                </a:schemeClr>
              </a:solidFill>
              <a:ln w="26364" cap="flat">
                <a:noFill/>
                <a:prstDash val="solid"/>
                <a:miter/>
              </a:ln>
            </p:spPr>
            <p:txBody>
              <a:bodyPr rtlCol="0" anchor="ctr"/>
              <a:lstStyle/>
              <a:p>
                <a:endParaRPr lang="en-US"/>
              </a:p>
            </p:txBody>
          </p:sp>
          <p:sp>
            <p:nvSpPr>
              <p:cNvPr id="21" name="Freeform: Shape 238">
                <a:extLst>
                  <a:ext uri="{FF2B5EF4-FFF2-40B4-BE49-F238E27FC236}">
                    <a16:creationId xmlns:a16="http://schemas.microsoft.com/office/drawing/2014/main" id="{C5E47F63-F58F-CFDB-CDEE-40CF3577119F}"/>
                  </a:ext>
                </a:extLst>
              </p:cNvPr>
              <p:cNvSpPr/>
              <p:nvPr/>
            </p:nvSpPr>
            <p:spPr>
              <a:xfrm>
                <a:off x="2232245" y="1135759"/>
                <a:ext cx="1928099" cy="1928099"/>
              </a:xfrm>
              <a:custGeom>
                <a:avLst/>
                <a:gdLst>
                  <a:gd name="connsiteX0" fmla="*/ 1928099 w 1928099"/>
                  <a:gd name="connsiteY0" fmla="*/ 964050 h 1928099"/>
                  <a:gd name="connsiteX1" fmla="*/ 964050 w 1928099"/>
                  <a:gd name="connsiteY1" fmla="*/ 1928100 h 1928099"/>
                  <a:gd name="connsiteX2" fmla="*/ 0 w 1928099"/>
                  <a:gd name="connsiteY2" fmla="*/ 964050 h 1928099"/>
                  <a:gd name="connsiteX3" fmla="*/ 964050 w 1928099"/>
                  <a:gd name="connsiteY3" fmla="*/ 0 h 1928099"/>
                  <a:gd name="connsiteX4" fmla="*/ 1928099 w 1928099"/>
                  <a:gd name="connsiteY4" fmla="*/ 964050 h 192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099" h="1928099">
                    <a:moveTo>
                      <a:pt x="1928099" y="964050"/>
                    </a:moveTo>
                    <a:cubicBezTo>
                      <a:pt x="1928099" y="1496480"/>
                      <a:pt x="1496480" y="1928100"/>
                      <a:pt x="964050" y="1928100"/>
                    </a:cubicBezTo>
                    <a:cubicBezTo>
                      <a:pt x="431620" y="1928100"/>
                      <a:pt x="0" y="1496480"/>
                      <a:pt x="0" y="964050"/>
                    </a:cubicBezTo>
                    <a:cubicBezTo>
                      <a:pt x="0" y="431620"/>
                      <a:pt x="431620" y="0"/>
                      <a:pt x="964050" y="0"/>
                    </a:cubicBezTo>
                    <a:cubicBezTo>
                      <a:pt x="1496480" y="0"/>
                      <a:pt x="1928099" y="431620"/>
                      <a:pt x="1928099" y="964050"/>
                    </a:cubicBezTo>
                    <a:close/>
                  </a:path>
                </a:pathLst>
              </a:custGeom>
              <a:solidFill>
                <a:srgbClr val="FFC00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Freeform: Shape 239">
                <a:extLst>
                  <a:ext uri="{FF2B5EF4-FFF2-40B4-BE49-F238E27FC236}">
                    <a16:creationId xmlns:a16="http://schemas.microsoft.com/office/drawing/2014/main" id="{D81ADFCE-A16A-ACE5-CBB2-7722D97179B2}"/>
                  </a:ext>
                </a:extLst>
              </p:cNvPr>
              <p:cNvSpPr/>
              <p:nvPr/>
            </p:nvSpPr>
            <p:spPr>
              <a:xfrm>
                <a:off x="3518348" y="2422127"/>
                <a:ext cx="627477" cy="627477"/>
              </a:xfrm>
              <a:custGeom>
                <a:avLst/>
                <a:gdLst>
                  <a:gd name="connsiteX0" fmla="*/ 200888 w 627477"/>
                  <a:gd name="connsiteY0" fmla="*/ 627477 h 627477"/>
                  <a:gd name="connsiteX1" fmla="*/ 627477 w 627477"/>
                  <a:gd name="connsiteY1" fmla="*/ 627477 h 627477"/>
                  <a:gd name="connsiteX2" fmla="*/ 627477 w 627477"/>
                  <a:gd name="connsiteY2" fmla="*/ 200888 h 627477"/>
                  <a:gd name="connsiteX3" fmla="*/ 502087 w 627477"/>
                  <a:gd name="connsiteY3" fmla="*/ 326278 h 627477"/>
                  <a:gd name="connsiteX4" fmla="*/ 175810 w 627477"/>
                  <a:gd name="connsiteY4" fmla="*/ 0 h 627477"/>
                  <a:gd name="connsiteX5" fmla="*/ 0 w 627477"/>
                  <a:gd name="connsiteY5" fmla="*/ 175546 h 627477"/>
                  <a:gd name="connsiteX6" fmla="*/ 326542 w 627477"/>
                  <a:gd name="connsiteY6" fmla="*/ 501823 h 627477"/>
                  <a:gd name="connsiteX7" fmla="*/ 200888 w 627477"/>
                  <a:gd name="connsiteY7" fmla="*/ 627477 h 62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477" h="627477">
                    <a:moveTo>
                      <a:pt x="200888" y="627477"/>
                    </a:moveTo>
                    <a:lnTo>
                      <a:pt x="627477" y="627477"/>
                    </a:lnTo>
                    <a:lnTo>
                      <a:pt x="627477" y="200888"/>
                    </a:lnTo>
                    <a:lnTo>
                      <a:pt x="502087" y="326278"/>
                    </a:lnTo>
                    <a:lnTo>
                      <a:pt x="175810" y="0"/>
                    </a:lnTo>
                    <a:lnTo>
                      <a:pt x="0" y="175546"/>
                    </a:lnTo>
                    <a:lnTo>
                      <a:pt x="326542" y="501823"/>
                    </a:lnTo>
                    <a:lnTo>
                      <a:pt x="200888" y="627477"/>
                    </a:lnTo>
                    <a:close/>
                  </a:path>
                </a:pathLst>
              </a:custGeom>
              <a:solidFill>
                <a:srgbClr val="FFC000"/>
              </a:solidFill>
              <a:ln w="22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Freeform: Shape 240">
                <a:extLst>
                  <a:ext uri="{FF2B5EF4-FFF2-40B4-BE49-F238E27FC236}">
                    <a16:creationId xmlns:a16="http://schemas.microsoft.com/office/drawing/2014/main" id="{97B7AFCE-264B-886D-4F71-A0225DBB155C}"/>
                  </a:ext>
                </a:extLst>
              </p:cNvPr>
              <p:cNvSpPr/>
              <p:nvPr/>
            </p:nvSpPr>
            <p:spPr>
              <a:xfrm>
                <a:off x="2443164" y="1348790"/>
                <a:ext cx="1505733" cy="1505734"/>
              </a:xfrm>
              <a:custGeom>
                <a:avLst/>
                <a:gdLst>
                  <a:gd name="connsiteX0" fmla="*/ 1293810 w 1505733"/>
                  <a:gd name="connsiteY0" fmla="*/ 752295 h 1505734"/>
                  <a:gd name="connsiteX1" fmla="*/ 752653 w 1505733"/>
                  <a:gd name="connsiteY1" fmla="*/ 1293979 h 1505734"/>
                  <a:gd name="connsiteX2" fmla="*/ 210969 w 1505733"/>
                  <a:gd name="connsiteY2" fmla="*/ 752823 h 1505734"/>
                  <a:gd name="connsiteX3" fmla="*/ 752125 w 1505733"/>
                  <a:gd name="connsiteY3" fmla="*/ 211139 h 1505734"/>
                  <a:gd name="connsiteX4" fmla="*/ 752653 w 1505733"/>
                  <a:gd name="connsiteY4" fmla="*/ 211139 h 1505734"/>
                  <a:gd name="connsiteX5" fmla="*/ 752653 w 1505733"/>
                  <a:gd name="connsiteY5" fmla="*/ -44 h 1505734"/>
                  <a:gd name="connsiteX6" fmla="*/ -477 w 1505733"/>
                  <a:gd name="connsiteY6" fmla="*/ 752559 h 1505734"/>
                  <a:gd name="connsiteX7" fmla="*/ 752125 w 1505733"/>
                  <a:gd name="connsiteY7" fmla="*/ 1505690 h 1505734"/>
                  <a:gd name="connsiteX8" fmla="*/ 1505257 w 1505733"/>
                  <a:gd name="connsiteY8" fmla="*/ 753087 h 1505734"/>
                  <a:gd name="connsiteX9" fmla="*/ 1505257 w 1505733"/>
                  <a:gd name="connsiteY9" fmla="*/ 752295 h 150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5733" h="1505734">
                    <a:moveTo>
                      <a:pt x="1293810" y="752295"/>
                    </a:moveTo>
                    <a:cubicBezTo>
                      <a:pt x="1293942" y="1051314"/>
                      <a:pt x="1051663" y="1293821"/>
                      <a:pt x="752653" y="1293979"/>
                    </a:cubicBezTo>
                    <a:cubicBezTo>
                      <a:pt x="453646" y="1294137"/>
                      <a:pt x="211128" y="1051842"/>
                      <a:pt x="210969" y="752823"/>
                    </a:cubicBezTo>
                    <a:cubicBezTo>
                      <a:pt x="210811" y="453803"/>
                      <a:pt x="453117" y="211284"/>
                      <a:pt x="752125" y="211139"/>
                    </a:cubicBezTo>
                    <a:cubicBezTo>
                      <a:pt x="752310" y="211139"/>
                      <a:pt x="752468" y="211139"/>
                      <a:pt x="752653" y="211139"/>
                    </a:cubicBezTo>
                    <a:lnTo>
                      <a:pt x="752653" y="-44"/>
                    </a:lnTo>
                    <a:cubicBezTo>
                      <a:pt x="336861" y="-190"/>
                      <a:pt x="-319" y="336761"/>
                      <a:pt x="-477" y="752559"/>
                    </a:cubicBezTo>
                    <a:cubicBezTo>
                      <a:pt x="-609" y="1168357"/>
                      <a:pt x="336333" y="1505531"/>
                      <a:pt x="752125" y="1505690"/>
                    </a:cubicBezTo>
                    <a:cubicBezTo>
                      <a:pt x="1167919" y="1505848"/>
                      <a:pt x="1505124" y="1168885"/>
                      <a:pt x="1505257" y="753087"/>
                    </a:cubicBezTo>
                    <a:cubicBezTo>
                      <a:pt x="1505257" y="752823"/>
                      <a:pt x="1505257" y="752559"/>
                      <a:pt x="1505257" y="752295"/>
                    </a:cubicBezTo>
                    <a:close/>
                  </a:path>
                </a:pathLst>
              </a:custGeom>
              <a:solidFill>
                <a:schemeClr val="bg1"/>
              </a:solidFill>
              <a:ln w="26364" cap="flat">
                <a:noFill/>
                <a:prstDash val="solid"/>
                <a:miter/>
              </a:ln>
            </p:spPr>
            <p:txBody>
              <a:bodyPr rtlCol="0" anchor="ctr"/>
              <a:lstStyle/>
              <a:p>
                <a:endParaRPr lang="en-US"/>
              </a:p>
            </p:txBody>
          </p:sp>
          <p:sp>
            <p:nvSpPr>
              <p:cNvPr id="24" name="TextBox 241">
                <a:extLst>
                  <a:ext uri="{FF2B5EF4-FFF2-40B4-BE49-F238E27FC236}">
                    <a16:creationId xmlns:a16="http://schemas.microsoft.com/office/drawing/2014/main" id="{CF6549DF-CCE2-E186-8BF9-804800866BFB}"/>
                  </a:ext>
                </a:extLst>
              </p:cNvPr>
              <p:cNvSpPr txBox="1"/>
              <p:nvPr/>
            </p:nvSpPr>
            <p:spPr>
              <a:xfrm>
                <a:off x="2825301" y="1903094"/>
                <a:ext cx="745717" cy="444096"/>
              </a:xfrm>
              <a:prstGeom prst="rect">
                <a:avLst/>
              </a:prstGeom>
              <a:noFill/>
            </p:spPr>
            <p:txBody>
              <a:bodyPr wrap="none" rtlCol="0">
                <a:spAutoFit/>
              </a:bodyPr>
              <a:lstStyle/>
              <a:p>
                <a:pPr algn="ctr"/>
                <a:r>
                  <a:rPr lang="en-US" sz="2286" b="1" spc="0" baseline="0" dirty="0">
                    <a:ln/>
                    <a:solidFill>
                      <a:srgbClr val="FFFFFF"/>
                    </a:solidFill>
                    <a:latin typeface="Lora" pitchFamily="2" charset="0"/>
                    <a:cs typeface="Arial"/>
                    <a:sym typeface="Arial"/>
                    <a:rtl val="0"/>
                  </a:rPr>
                  <a:t>75%</a:t>
                </a:r>
              </a:p>
            </p:txBody>
          </p:sp>
          <p:sp>
            <p:nvSpPr>
              <p:cNvPr id="25" name="TextBox 246">
                <a:extLst>
                  <a:ext uri="{FF2B5EF4-FFF2-40B4-BE49-F238E27FC236}">
                    <a16:creationId xmlns:a16="http://schemas.microsoft.com/office/drawing/2014/main" id="{C2B9EA95-4519-6D84-4A98-B63FD8C82FBC}"/>
                  </a:ext>
                </a:extLst>
              </p:cNvPr>
              <p:cNvSpPr txBox="1"/>
              <p:nvPr/>
            </p:nvSpPr>
            <p:spPr>
              <a:xfrm>
                <a:off x="4674879" y="1472082"/>
                <a:ext cx="2356759" cy="1036501"/>
              </a:xfrm>
              <a:prstGeom prst="rect">
                <a:avLst/>
              </a:prstGeom>
              <a:noFill/>
            </p:spPr>
            <p:txBody>
              <a:bodyPr wrap="square">
                <a:spAutoFit/>
              </a:bodyPr>
              <a:lstStyle/>
              <a:p>
                <a:pPr>
                  <a:spcAft>
                    <a:spcPts val="600"/>
                  </a:spcAft>
                  <a:buClr>
                    <a:schemeClr val="dk1"/>
                  </a:buClr>
                  <a:buSzPts val="1100"/>
                </a:pPr>
                <a:r>
                  <a:rPr lang="en-US" sz="1400" b="1" dirty="0">
                    <a:latin typeface="Lora" pitchFamily="2" charset="0"/>
                  </a:rPr>
                  <a:t>Maturity</a:t>
                </a:r>
                <a:endParaRPr lang="en-US" sz="1200" b="1" dirty="0">
                  <a:latin typeface="Lora" pitchFamily="2" charset="0"/>
                </a:endParaRPr>
              </a:p>
              <a:p>
                <a:pPr>
                  <a:spcAft>
                    <a:spcPts val="600"/>
                  </a:spcAft>
                  <a:buClr>
                    <a:schemeClr val="dk1"/>
                  </a:buClr>
                  <a:buSzPts val="1100"/>
                </a:pPr>
                <a:r>
                  <a:rPr lang="en-GB" sz="1200" dirty="0">
                    <a:latin typeface="Lora" pitchFamily="2" charset="0"/>
                  </a:rPr>
                  <a:t>Maecenas non laoreet odio. Fusce lobortis porttitor purus, vel vestibulum libero pharetra vel. </a:t>
                </a:r>
                <a:endParaRPr lang="en-GB" sz="1200" b="1" dirty="0">
                  <a:latin typeface="Lora" pitchFamily="2" charset="0"/>
                  <a:ea typeface="Fira Sans Extra Condensed Medium"/>
                  <a:cs typeface="Fira Sans Extra Condensed Medium"/>
                  <a:sym typeface="Fira Sans Extra Condensed Medium"/>
                </a:endParaRPr>
              </a:p>
            </p:txBody>
          </p:sp>
          <p:sp>
            <p:nvSpPr>
              <p:cNvPr id="26" name="TextBox 249">
                <a:extLst>
                  <a:ext uri="{FF2B5EF4-FFF2-40B4-BE49-F238E27FC236}">
                    <a16:creationId xmlns:a16="http://schemas.microsoft.com/office/drawing/2014/main" id="{734CD9E7-A06D-510A-8AD3-E89FEF66ABA7}"/>
                  </a:ext>
                </a:extLst>
              </p:cNvPr>
              <p:cNvSpPr txBox="1"/>
              <p:nvPr/>
            </p:nvSpPr>
            <p:spPr>
              <a:xfrm>
                <a:off x="4674879" y="5300169"/>
                <a:ext cx="2356759" cy="1036501"/>
              </a:xfrm>
              <a:prstGeom prst="rect">
                <a:avLst/>
              </a:prstGeom>
              <a:noFill/>
            </p:spPr>
            <p:txBody>
              <a:bodyPr wrap="square">
                <a:spAutoFit/>
              </a:bodyPr>
              <a:lstStyle/>
              <a:p>
                <a:pPr>
                  <a:spcAft>
                    <a:spcPts val="600"/>
                  </a:spcAft>
                  <a:buClr>
                    <a:schemeClr val="dk1"/>
                  </a:buClr>
                  <a:buSzPts val="1100"/>
                </a:pPr>
                <a:r>
                  <a:rPr lang="en-US" sz="1400" b="1" dirty="0">
                    <a:latin typeface="Lora" pitchFamily="2" charset="0"/>
                  </a:rPr>
                  <a:t>Introduction</a:t>
                </a:r>
                <a:endParaRPr lang="en-US" sz="1200" b="1" dirty="0">
                  <a:latin typeface="Lora" pitchFamily="2" charset="0"/>
                </a:endParaRPr>
              </a:p>
              <a:p>
                <a:pPr>
                  <a:spcAft>
                    <a:spcPts val="600"/>
                  </a:spcAft>
                  <a:buClr>
                    <a:schemeClr val="dk1"/>
                  </a:buClr>
                  <a:buSzPts val="1100"/>
                </a:pPr>
                <a:r>
                  <a:rPr lang="en-GB" sz="1200" dirty="0">
                    <a:latin typeface="Lora" pitchFamily="2" charset="0"/>
                  </a:rPr>
                  <a:t>Maecenas non laoreet odio. Fusce lobortis porttitor purus, vel vestibulum libero pharetra vel. </a:t>
                </a:r>
                <a:endParaRPr lang="en-GB" sz="1200" b="1" dirty="0">
                  <a:latin typeface="Lora" pitchFamily="2" charset="0"/>
                  <a:ea typeface="Fira Sans Extra Condensed Medium"/>
                  <a:cs typeface="Fira Sans Extra Condensed Medium"/>
                  <a:sym typeface="Fira Sans Extra Condensed Medium"/>
                </a:endParaRPr>
              </a:p>
            </p:txBody>
          </p:sp>
          <p:sp>
            <p:nvSpPr>
              <p:cNvPr id="27" name="TextBox 250">
                <a:extLst>
                  <a:ext uri="{FF2B5EF4-FFF2-40B4-BE49-F238E27FC236}">
                    <a16:creationId xmlns:a16="http://schemas.microsoft.com/office/drawing/2014/main" id="{854A55E8-0C18-EF6D-E7DB-E1DF762085CF}"/>
                  </a:ext>
                </a:extLst>
              </p:cNvPr>
              <p:cNvSpPr txBox="1"/>
              <p:nvPr/>
            </p:nvSpPr>
            <p:spPr>
              <a:xfrm>
                <a:off x="1161589" y="3378668"/>
                <a:ext cx="2356759" cy="1036501"/>
              </a:xfrm>
              <a:prstGeom prst="rect">
                <a:avLst/>
              </a:prstGeom>
              <a:noFill/>
            </p:spPr>
            <p:txBody>
              <a:bodyPr wrap="square">
                <a:spAutoFit/>
              </a:bodyPr>
              <a:lstStyle/>
              <a:p>
                <a:pPr algn="r">
                  <a:spcAft>
                    <a:spcPts val="600"/>
                  </a:spcAft>
                  <a:buClr>
                    <a:schemeClr val="dk1"/>
                  </a:buClr>
                  <a:buSzPts val="1100"/>
                </a:pPr>
                <a:r>
                  <a:rPr lang="en-US" sz="1400" b="1" dirty="0">
                    <a:latin typeface="Lora" pitchFamily="2" charset="0"/>
                  </a:rPr>
                  <a:t>Growth</a:t>
                </a:r>
                <a:endParaRPr lang="en-US" sz="1200" b="1" dirty="0">
                  <a:latin typeface="Lora" pitchFamily="2" charset="0"/>
                </a:endParaRPr>
              </a:p>
              <a:p>
                <a:pPr algn="r">
                  <a:spcAft>
                    <a:spcPts val="600"/>
                  </a:spcAft>
                  <a:buClr>
                    <a:schemeClr val="dk1"/>
                  </a:buClr>
                  <a:buSzPts val="1100"/>
                </a:pPr>
                <a:r>
                  <a:rPr lang="en-GB" sz="1200" dirty="0">
                    <a:latin typeface="Lora" pitchFamily="2" charset="0"/>
                  </a:rPr>
                  <a:t>Maecenas non laoreet odio. Fusce lobortis porttitor purus, vel vestibulum libero pharetra vel. </a:t>
                </a:r>
                <a:endParaRPr lang="en-GB" sz="1200" b="1" dirty="0">
                  <a:latin typeface="Lora" pitchFamily="2" charset="0"/>
                  <a:ea typeface="Fira Sans Extra Condensed Medium"/>
                  <a:cs typeface="Fira Sans Extra Condensed Medium"/>
                  <a:sym typeface="Fira Sans Extra Condensed Medium"/>
                </a:endParaRPr>
              </a:p>
            </p:txBody>
          </p:sp>
        </p:grpSp>
      </p:grpSp>
    </p:spTree>
    <p:extLst>
      <p:ext uri="{BB962C8B-B14F-4D97-AF65-F5344CB8AC3E}">
        <p14:creationId xmlns:p14="http://schemas.microsoft.com/office/powerpoint/2010/main" val="24018757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2874791262"/>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940628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4248146195"/>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1079234572"/>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53969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038878537"/>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Problématique actuelle</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22400041"/>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73541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8452061"/>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3689444610"/>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63047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682603935"/>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553998"/>
          </a:xfrm>
          <a:prstGeom prst="rect">
            <a:avLst/>
          </a:prstGeom>
          <a:noFill/>
        </p:spPr>
        <p:txBody>
          <a:bodyPr wrap="square" rtlCol="0">
            <a:spAutoFit/>
          </a:bodyPr>
          <a:lstStyle/>
          <a:p>
            <a:pPr lvl="0" algn="ctr"/>
            <a:r>
              <a:rPr lang="fr-CM" sz="30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sp>
        <p:nvSpPr>
          <p:cNvPr id="2" name="ZoneTexte 1"/>
          <p:cNvSpPr txBox="1"/>
          <p:nvPr/>
        </p:nvSpPr>
        <p:spPr>
          <a:xfrm>
            <a:off x="1145754" y="1836418"/>
            <a:ext cx="10069417" cy="4524315"/>
          </a:xfrm>
          <a:prstGeom prst="rect">
            <a:avLst/>
          </a:prstGeom>
          <a:noFill/>
        </p:spPr>
        <p:txBody>
          <a:bodyPr wrap="square" rtlCol="0">
            <a:spAutoFit/>
          </a:bodyPr>
          <a:lstStyle/>
          <a:p>
            <a:r>
              <a:rPr lang="fr-FR" dirty="0"/>
              <a:t>La migration d'applications web existantes vers un environnement conteneurisé, bien que prometteuse, ne s'effectue pas sans son lot de défis. Selon, les résultats des questionnaires par rapport au paysage de l’écosystème camerounais et les retours d'expérience de l'industrie déploiement, nous formulons ci-dessous les problèmes majeur observés ainsi que les hypothèses de gains attendus durant un tel projet de migration</a:t>
            </a:r>
            <a:r>
              <a:rPr lang="fr-FR" dirty="0" smtClean="0"/>
              <a:t>.</a:t>
            </a:r>
          </a:p>
          <a:p>
            <a:r>
              <a:rPr lang="fr-FR" b="1" dirty="0"/>
              <a:t>Problèmes Observés </a:t>
            </a:r>
            <a:endParaRPr lang="en-US" b="1" dirty="0"/>
          </a:p>
          <a:p>
            <a:r>
              <a:rPr lang="fr-FR" dirty="0"/>
              <a:t>Malgré les avantages, la migration d'applications web existantes vers un environnement conteneurisé est confrontée à des problèmes et défis non négligeables, notamment dans le contexte camerounais </a:t>
            </a:r>
            <a:r>
              <a:rPr lang="fr-FR" dirty="0" smtClean="0"/>
              <a:t>:</a:t>
            </a:r>
          </a:p>
          <a:p>
            <a:r>
              <a:rPr lang="fr-FR" b="1" dirty="0"/>
              <a:t>P1 : Complexité de la gestion des dépendances et des services externes.</a:t>
            </a:r>
            <a:r>
              <a:rPr lang="fr-FR" dirty="0"/>
              <a:t> </a:t>
            </a:r>
          </a:p>
          <a:p>
            <a:r>
              <a:rPr lang="fr-FR" b="1" dirty="0"/>
              <a:t>P2 : Gestion de la persistance des données.</a:t>
            </a:r>
            <a:r>
              <a:rPr lang="fr-FR" dirty="0"/>
              <a:t> </a:t>
            </a:r>
            <a:endParaRPr lang="fr-FR" dirty="0" smtClean="0"/>
          </a:p>
          <a:p>
            <a:r>
              <a:rPr lang="fr-FR" b="1" dirty="0"/>
              <a:t>P3 : Adaptation des configurations et des paramètres spécifiques à l'Environnement.</a:t>
            </a:r>
            <a:r>
              <a:rPr lang="fr-FR" dirty="0"/>
              <a:t> </a:t>
            </a:r>
            <a:endParaRPr lang="fr-FR" dirty="0" smtClean="0"/>
          </a:p>
          <a:p>
            <a:r>
              <a:rPr lang="fr-FR" b="1" dirty="0"/>
              <a:t>P4 : Défis liés à la sécurité des conteneurs et de l'orchestration.</a:t>
            </a:r>
            <a:r>
              <a:rPr lang="fr-FR" dirty="0"/>
              <a:t> </a:t>
            </a:r>
            <a:endParaRPr lang="fr-FR" dirty="0" smtClean="0"/>
          </a:p>
          <a:p>
            <a:r>
              <a:rPr lang="fr-FR" b="1" dirty="0"/>
              <a:t>P5 : Courbe d'apprentissage et manque de compétences locales</a:t>
            </a:r>
            <a:endParaRPr lang="fr-FR" dirty="0" smtClean="0"/>
          </a:p>
          <a:p>
            <a:endParaRPr lang="en-US" dirty="0"/>
          </a:p>
          <a:p>
            <a:endParaRPr lang="en-US" dirty="0"/>
          </a:p>
          <a:p>
            <a:endParaRPr lang="en-US" dirty="0"/>
          </a:p>
        </p:txBody>
      </p:sp>
    </p:spTree>
    <p:extLst>
      <p:ext uri="{BB962C8B-B14F-4D97-AF65-F5344CB8AC3E}">
        <p14:creationId xmlns:p14="http://schemas.microsoft.com/office/powerpoint/2010/main" val="405704268"/>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628644354"/>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1015663"/>
          </a:xfrm>
          <a:prstGeom prst="rect">
            <a:avLst/>
          </a:prstGeom>
          <a:noFill/>
        </p:spPr>
        <p:txBody>
          <a:bodyPr wrap="square" rtlCol="0">
            <a:spAutoFit/>
          </a:bodyPr>
          <a:lstStyle/>
          <a:p>
            <a:pPr algn="ctr"/>
            <a:r>
              <a:rPr lang="fr-FR" sz="3000" dirty="0">
                <a:latin typeface="Century Gothic" panose="020B0502020202020204" pitchFamily="34" charset="0"/>
                <a:ea typeface="Tahoma" panose="020B0604030504040204" pitchFamily="34" charset="0"/>
                <a:cs typeface="Tahoma" panose="020B0604030504040204" pitchFamily="34" charset="0"/>
              </a:rPr>
              <a:t>Hypothèses (Gains Attendus)</a:t>
            </a:r>
            <a:endParaRPr lang="en-US" sz="3000" dirty="0">
              <a:latin typeface="Century Gothic" panose="020B0502020202020204" pitchFamily="34" charset="0"/>
              <a:ea typeface="Tahoma" panose="020B0604030504040204" pitchFamily="34" charset="0"/>
              <a:cs typeface="Tahoma" panose="020B0604030504040204" pitchFamily="34" charset="0"/>
            </a:endParaRPr>
          </a:p>
          <a:p>
            <a:pPr lvl="0" algn="ct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sp>
        <p:nvSpPr>
          <p:cNvPr id="2" name="ZoneTexte 1"/>
          <p:cNvSpPr txBox="1"/>
          <p:nvPr/>
        </p:nvSpPr>
        <p:spPr>
          <a:xfrm>
            <a:off x="1178805" y="1836418"/>
            <a:ext cx="10069417" cy="5078313"/>
          </a:xfrm>
          <a:prstGeom prst="rect">
            <a:avLst/>
          </a:prstGeom>
          <a:noFill/>
        </p:spPr>
        <p:txBody>
          <a:bodyPr wrap="square" rtlCol="0">
            <a:spAutoFit/>
          </a:bodyPr>
          <a:lstStyle/>
          <a:p>
            <a:r>
              <a:rPr lang="fr-FR" dirty="0"/>
              <a:t>La migration d'applications web vers un environnement conteneurisé permettra d'atteindre les gains significatifs suivants </a:t>
            </a:r>
            <a:r>
              <a:rPr lang="fr-FR" dirty="0" smtClean="0"/>
              <a:t>:</a:t>
            </a:r>
          </a:p>
          <a:p>
            <a:endParaRPr lang="en-US" dirty="0"/>
          </a:p>
          <a:p>
            <a:r>
              <a:rPr lang="fr-FR" b="1" dirty="0"/>
              <a:t>H1 : Amélioration de la portabilité et de la cohérence des </a:t>
            </a:r>
            <a:r>
              <a:rPr lang="fr-FR" b="1" dirty="0" smtClean="0"/>
              <a:t>environnements (garantir l’</a:t>
            </a:r>
            <a:r>
              <a:rPr lang="fr-FR" b="1" dirty="0"/>
              <a:t>e</a:t>
            </a:r>
            <a:r>
              <a:rPr lang="fr-FR" b="1" dirty="0" smtClean="0"/>
              <a:t>xécution identique entre les environnements).</a:t>
            </a:r>
            <a:r>
              <a:rPr lang="fr-FR" dirty="0" smtClean="0"/>
              <a:t> </a:t>
            </a:r>
          </a:p>
          <a:p>
            <a:r>
              <a:rPr lang="fr-FR" b="1" dirty="0"/>
              <a:t>H2 : Optimisation de l'utilisation des ressources </a:t>
            </a:r>
            <a:r>
              <a:rPr lang="fr-FR" b="1" dirty="0" smtClean="0"/>
              <a:t>matérielles</a:t>
            </a:r>
          </a:p>
          <a:p>
            <a:r>
              <a:rPr lang="fr-FR" b="1" dirty="0"/>
              <a:t>H3 : Accélération des cycles de déploiement et simplification de la gestion.</a:t>
            </a:r>
            <a:r>
              <a:rPr lang="fr-FR" dirty="0"/>
              <a:t> </a:t>
            </a:r>
            <a:endParaRPr lang="fr-FR" dirty="0" smtClean="0"/>
          </a:p>
          <a:p>
            <a:r>
              <a:rPr lang="fr-FR" b="1" dirty="0"/>
              <a:t>H4 : Amélioration de la </a:t>
            </a:r>
            <a:r>
              <a:rPr lang="fr-FR" b="1" dirty="0" err="1"/>
              <a:t>scalabilité</a:t>
            </a:r>
            <a:r>
              <a:rPr lang="fr-FR" b="1" dirty="0"/>
              <a:t> et de la résilience des applications.</a:t>
            </a:r>
            <a:r>
              <a:rPr lang="fr-FR" dirty="0"/>
              <a:t> </a:t>
            </a:r>
            <a:endParaRPr lang="fr-FR" dirty="0" smtClean="0"/>
          </a:p>
          <a:p>
            <a:r>
              <a:rPr lang="fr-FR" b="1" dirty="0"/>
              <a:t>H5 : Réduction des Coûts opérationnels à long terme.</a:t>
            </a:r>
            <a:r>
              <a:rPr lang="fr-FR" dirty="0"/>
              <a:t> </a:t>
            </a:r>
            <a:endParaRPr lang="fr-FR" dirty="0" smtClean="0"/>
          </a:p>
          <a:p>
            <a:endParaRPr lang="fr-FR" dirty="0"/>
          </a:p>
          <a:p>
            <a:r>
              <a:rPr lang="fr-FR" dirty="0"/>
              <a:t>Ces hypothèses et problèmes serviront de fil conducteur à notre recherche, permettant d'analyser non seulement les bénéfices potentiels de la migration, mais aussi les obstacles concrets qui devront être adressés pour une transition réussie, en particulier dans le contexte spécifique du Cameroun.</a:t>
            </a:r>
            <a:endParaRPr lang="en-US" dirty="0"/>
          </a:p>
          <a:p>
            <a:endParaRPr lang="fr-FR" dirty="0" smtClean="0"/>
          </a:p>
          <a:p>
            <a:endParaRPr lang="fr-FR" dirty="0" smtClean="0"/>
          </a:p>
          <a:p>
            <a:endParaRPr lang="en-US" dirty="0"/>
          </a:p>
          <a:p>
            <a:endParaRPr lang="en-US" dirty="0"/>
          </a:p>
          <a:p>
            <a:endParaRPr lang="en-US" dirty="0"/>
          </a:p>
        </p:txBody>
      </p:sp>
    </p:spTree>
    <p:extLst>
      <p:ext uri="{BB962C8B-B14F-4D97-AF65-F5344CB8AC3E}">
        <p14:creationId xmlns:p14="http://schemas.microsoft.com/office/powerpoint/2010/main" val="2512490005"/>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570759756"/>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3416320"/>
          </a:xfrm>
          <a:prstGeom prst="rect">
            <a:avLst/>
          </a:prstGeom>
          <a:noFill/>
        </p:spPr>
        <p:txBody>
          <a:bodyPr wrap="square" rtlCol="0">
            <a:spAutoFit/>
          </a:bodyPr>
          <a:lstStyle/>
          <a:p>
            <a:pPr lvl="0"/>
            <a:r>
              <a:rPr lang="fr-FR" b="1" dirty="0"/>
              <a:t>Analyse Qualitative </a:t>
            </a:r>
            <a:endParaRPr lang="en-US" dirty="0"/>
          </a:p>
          <a:p>
            <a:r>
              <a:rPr lang="fr-FR" dirty="0"/>
              <a:t> Une analyse qualitative viendra compléter les données chiffrées, en documentant : </a:t>
            </a:r>
            <a:endParaRPr lang="en-US" dirty="0"/>
          </a:p>
          <a:p>
            <a:pPr lvl="0"/>
            <a:r>
              <a:rPr lang="fr-FR" dirty="0" smtClean="0"/>
              <a:t>-	La </a:t>
            </a:r>
            <a:r>
              <a:rPr lang="fr-FR" b="1" dirty="0"/>
              <a:t>facilité d'utilisation</a:t>
            </a:r>
            <a:r>
              <a:rPr lang="fr-FR" dirty="0"/>
              <a:t> de l'outil automatisé.</a:t>
            </a:r>
            <a:endParaRPr lang="en-US" dirty="0"/>
          </a:p>
          <a:p>
            <a:pPr lvl="0"/>
            <a:r>
              <a:rPr lang="fr-FR" dirty="0" smtClean="0"/>
              <a:t>-	La </a:t>
            </a:r>
            <a:r>
              <a:rPr lang="fr-FR" b="1" dirty="0"/>
              <a:t>qualité et l'optimisation</a:t>
            </a:r>
            <a:r>
              <a:rPr lang="fr-FR" dirty="0"/>
              <a:t> des artefacts générés par l'outil (</a:t>
            </a:r>
            <a:r>
              <a:rPr lang="fr-FR" dirty="0" err="1"/>
              <a:t>Dockerfiles</a:t>
            </a:r>
            <a:r>
              <a:rPr lang="fr-FR" dirty="0"/>
              <a:t>, manifestes </a:t>
            </a:r>
            <a:r>
              <a:rPr lang="fr-FR" dirty="0" err="1"/>
              <a:t>Kubernetes</a:t>
            </a:r>
            <a:r>
              <a:rPr lang="fr-FR" dirty="0"/>
              <a:t>).</a:t>
            </a:r>
            <a:endParaRPr lang="en-US" dirty="0"/>
          </a:p>
          <a:p>
            <a:pPr lvl="0"/>
            <a:r>
              <a:rPr lang="fr-FR" dirty="0" smtClean="0"/>
              <a:t>-	Les </a:t>
            </a:r>
            <a:r>
              <a:rPr lang="fr-FR" b="1" dirty="0"/>
              <a:t>défis spécifiques</a:t>
            </a:r>
            <a:r>
              <a:rPr lang="fr-FR" dirty="0"/>
              <a:t> rencontrés avec l'outil ou lors de la migration manuelle.</a:t>
            </a:r>
            <a:endParaRPr lang="en-US" dirty="0"/>
          </a:p>
          <a:p>
            <a:pPr lvl="0"/>
            <a:r>
              <a:rPr lang="fr-FR" dirty="0" smtClean="0"/>
              <a:t>-	Les </a:t>
            </a:r>
            <a:r>
              <a:rPr lang="fr-FR" b="1" dirty="0"/>
              <a:t>compétences requises</a:t>
            </a:r>
            <a:r>
              <a:rPr lang="fr-FR" dirty="0"/>
              <a:t> pour chaque approche.</a:t>
            </a:r>
            <a:endParaRPr lang="en-US" dirty="0"/>
          </a:p>
          <a:p>
            <a:pPr lvl="0"/>
            <a:r>
              <a:rPr lang="fr-FR" dirty="0" smtClean="0"/>
              <a:t>-	Les </a:t>
            </a:r>
            <a:r>
              <a:rPr lang="fr-FR" b="1" dirty="0"/>
              <a:t>bonnes pratiques</a:t>
            </a:r>
            <a:r>
              <a:rPr lang="fr-FR" dirty="0"/>
              <a:t> identifiées.</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883072763"/>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52373535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Outils utilisés</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2308324"/>
          </a:xfrm>
          <a:prstGeom prst="rect">
            <a:avLst/>
          </a:prstGeom>
          <a:noFill/>
        </p:spPr>
        <p:txBody>
          <a:bodyPr wrap="square" rtlCol="0">
            <a:spAutoFit/>
          </a:bodyPr>
          <a:lstStyle/>
          <a:p>
            <a:pPr lvl="0"/>
            <a:r>
              <a:rPr lang="fr-CM" b="1" dirty="0" err="1" smtClean="0"/>
              <a:t>Backend</a:t>
            </a:r>
            <a:r>
              <a:rPr lang="fr-CM" b="1" dirty="0" smtClean="0"/>
              <a:t> : </a:t>
            </a:r>
            <a:r>
              <a:rPr lang="fr-CM" b="1" dirty="0" err="1" smtClean="0"/>
              <a:t>language</a:t>
            </a:r>
            <a:r>
              <a:rPr lang="fr-CM" b="1" dirty="0" smtClean="0"/>
              <a:t> </a:t>
            </a:r>
            <a:r>
              <a:rPr lang="fr-CM" b="1" dirty="0" err="1" smtClean="0"/>
              <a:t>golang</a:t>
            </a:r>
            <a:endParaRPr lang="fr-CM" b="1" dirty="0" smtClean="0"/>
          </a:p>
          <a:p>
            <a:pPr lvl="0"/>
            <a:r>
              <a:rPr lang="fr-CM" b="1" dirty="0" err="1" smtClean="0"/>
              <a:t>Frontend</a:t>
            </a:r>
            <a:r>
              <a:rPr lang="fr-CM" b="1" dirty="0" smtClean="0"/>
              <a:t>: </a:t>
            </a:r>
            <a:r>
              <a:rPr lang="fr-CM" b="1" dirty="0" err="1" smtClean="0"/>
              <a:t>wails</a:t>
            </a:r>
            <a:r>
              <a:rPr lang="fr-CM" b="1" dirty="0" smtClean="0"/>
              <a:t> (web + librairie </a:t>
            </a:r>
            <a:r>
              <a:rPr lang="fr-CM" b="1" dirty="0" err="1" smtClean="0"/>
              <a:t>javascript</a:t>
            </a:r>
            <a:r>
              <a:rPr lang="fr-CM" b="1" dirty="0" smtClean="0"/>
              <a:t> </a:t>
            </a:r>
            <a:r>
              <a:rPr lang="fr-CM" b="1" dirty="0" err="1" smtClean="0"/>
              <a:t>react</a:t>
            </a:r>
            <a:r>
              <a:rPr lang="fr-CM" b="1" dirty="0" smtClean="0"/>
              <a:t>, </a:t>
            </a:r>
            <a:r>
              <a:rPr lang="fr-CM" b="1" dirty="0" err="1" smtClean="0"/>
              <a:t>svelt</a:t>
            </a:r>
            <a:r>
              <a:rPr lang="fr-CM" b="1" dirty="0" smtClean="0"/>
              <a:t>, </a:t>
            </a:r>
            <a:r>
              <a:rPr lang="fr-CM" b="1" dirty="0" err="1" smtClean="0"/>
              <a:t>vuejs</a:t>
            </a:r>
            <a:r>
              <a:rPr lang="fr-CM" b="1" dirty="0" smtClean="0"/>
              <a:t>)</a:t>
            </a:r>
          </a:p>
          <a:p>
            <a:pPr lvl="0"/>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46096968"/>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304268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err="1" smtClean="0">
                <a:latin typeface="Century Gothic" panose="020B0502020202020204" pitchFamily="34" charset="0"/>
                <a:ea typeface="Tahoma" panose="020B0604030504040204" pitchFamily="34" charset="0"/>
                <a:cs typeface="Tahoma" panose="020B0604030504040204" pitchFamily="34" charset="0"/>
              </a:rPr>
              <a:t>Dockerfile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pic>
        <p:nvPicPr>
          <p:cNvPr id="4" name="Image 3"/>
          <p:cNvPicPr>
            <a:picLocks noChangeAspect="1"/>
          </p:cNvPicPr>
          <p:nvPr/>
        </p:nvPicPr>
        <p:blipFill>
          <a:blip r:embed="rId8"/>
          <a:stretch>
            <a:fillRect/>
          </a:stretch>
        </p:blipFill>
        <p:spPr>
          <a:xfrm>
            <a:off x="656777" y="1932972"/>
            <a:ext cx="6389555" cy="3715473"/>
          </a:xfrm>
          <a:prstGeom prst="rect">
            <a:avLst/>
          </a:prstGeom>
        </p:spPr>
      </p:pic>
      <p:pic>
        <p:nvPicPr>
          <p:cNvPr id="6" name="Image 5"/>
          <p:cNvPicPr>
            <a:picLocks noChangeAspect="1"/>
          </p:cNvPicPr>
          <p:nvPr/>
        </p:nvPicPr>
        <p:blipFill>
          <a:blip r:embed="rId9"/>
          <a:stretch>
            <a:fillRect/>
          </a:stretch>
        </p:blipFill>
        <p:spPr>
          <a:xfrm>
            <a:off x="7046332" y="1932972"/>
            <a:ext cx="4654789" cy="3683189"/>
          </a:xfrm>
          <a:prstGeom prst="rect">
            <a:avLst/>
          </a:prstGeom>
        </p:spPr>
      </p:pic>
    </p:spTree>
    <p:extLst>
      <p:ext uri="{BB962C8B-B14F-4D97-AF65-F5344CB8AC3E}">
        <p14:creationId xmlns:p14="http://schemas.microsoft.com/office/powerpoint/2010/main" val="3257064071"/>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304268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Docker-</a:t>
            </a:r>
            <a:r>
              <a:rPr lang="fr-CM" sz="3200" dirty="0" err="1" smtClean="0">
                <a:latin typeface="Century Gothic" panose="020B0502020202020204" pitchFamily="34" charset="0"/>
                <a:ea typeface="Tahoma" panose="020B0604030504040204" pitchFamily="34" charset="0"/>
                <a:cs typeface="Tahoma" panose="020B0604030504040204" pitchFamily="34" charset="0"/>
              </a:rPr>
              <a:t>compose.yml</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pic>
        <p:nvPicPr>
          <p:cNvPr id="2" name="Image 1"/>
          <p:cNvPicPr>
            <a:picLocks noChangeAspect="1"/>
          </p:cNvPicPr>
          <p:nvPr/>
        </p:nvPicPr>
        <p:blipFill>
          <a:blip r:embed="rId8"/>
          <a:stretch>
            <a:fillRect/>
          </a:stretch>
        </p:blipFill>
        <p:spPr>
          <a:xfrm>
            <a:off x="918913" y="1833262"/>
            <a:ext cx="5816899" cy="4534133"/>
          </a:xfrm>
          <a:prstGeom prst="rect">
            <a:avLst/>
          </a:prstGeom>
        </p:spPr>
      </p:pic>
      <p:pic>
        <p:nvPicPr>
          <p:cNvPr id="3" name="Image 2"/>
          <p:cNvPicPr>
            <a:picLocks noChangeAspect="1"/>
          </p:cNvPicPr>
          <p:nvPr/>
        </p:nvPicPr>
        <p:blipFill>
          <a:blip r:embed="rId9"/>
          <a:stretch>
            <a:fillRect/>
          </a:stretch>
        </p:blipFill>
        <p:spPr>
          <a:xfrm>
            <a:off x="6928859" y="1833262"/>
            <a:ext cx="4921503" cy="5073911"/>
          </a:xfrm>
          <a:prstGeom prst="rect">
            <a:avLst/>
          </a:prstGeom>
        </p:spPr>
      </p:pic>
    </p:spTree>
    <p:extLst>
      <p:ext uri="{BB962C8B-B14F-4D97-AF65-F5344CB8AC3E}">
        <p14:creationId xmlns:p14="http://schemas.microsoft.com/office/powerpoint/2010/main" val="138507973"/>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56391211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conclusion</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2104222"/>
            <a:ext cx="10489986" cy="1477328"/>
          </a:xfrm>
          <a:prstGeom prst="rect">
            <a:avLst/>
          </a:prstGeom>
          <a:noFill/>
        </p:spPr>
        <p:txBody>
          <a:bodyPr wrap="square" rtlCol="0">
            <a:spAutoFit/>
          </a:bodyPr>
          <a:lstStyle/>
          <a:p>
            <a:r>
              <a:rPr lang="fr-FR" dirty="0"/>
              <a:t>L'étude de la migration des applications web vers un environnement conteneurisé est déjà un sujet d'un grand intérêt, comme nous l'avons souligné</a:t>
            </a:r>
            <a:r>
              <a:rPr lang="fr-FR" dirty="0" smtClean="0"/>
              <a:t>. </a:t>
            </a:r>
            <a:r>
              <a:rPr lang="fr-FR" dirty="0"/>
              <a:t>L</a:t>
            </a:r>
            <a:r>
              <a:rPr lang="fr-FR" dirty="0" smtClean="0"/>
              <a:t>'ajout </a:t>
            </a:r>
            <a:r>
              <a:rPr lang="fr-FR" dirty="0"/>
              <a:t>de la dimension d'un « </a:t>
            </a:r>
            <a:r>
              <a:rPr lang="fr-FR" b="1" dirty="0"/>
              <a:t>outil d'aide automatisé »</a:t>
            </a:r>
            <a:r>
              <a:rPr lang="fr-FR" dirty="0"/>
              <a:t> confère à cette étude une valeur ajoutée significative et un intérêt encore plus marqué, en se positionnant à l'intersection de la modernisation des infrastructures et de l'optimisation des processus</a:t>
            </a:r>
            <a:r>
              <a:rPr lang="fr-FR" dirty="0" smtClean="0"/>
              <a:t>.</a:t>
            </a:r>
            <a:endParaRPr lang="en-US" dirty="0"/>
          </a:p>
          <a:p>
            <a:endParaRPr lang="en-US" dirty="0"/>
          </a:p>
        </p:txBody>
      </p:sp>
    </p:spTree>
    <p:extLst>
      <p:ext uri="{BB962C8B-B14F-4D97-AF65-F5344CB8AC3E}">
        <p14:creationId xmlns:p14="http://schemas.microsoft.com/office/powerpoint/2010/main" val="2416436112"/>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447800" y="2781300"/>
            <a:ext cx="9886950" cy="646331"/>
          </a:xfrm>
          <a:prstGeom prst="rect">
            <a:avLst/>
          </a:prstGeom>
          <a:noFill/>
        </p:spPr>
        <p:txBody>
          <a:bodyPr wrap="square" rtlCol="0">
            <a:spAutoFit/>
          </a:bodyPr>
          <a:lstStyle/>
          <a:p>
            <a:r>
              <a:rPr lang="fr-FR" sz="3600" dirty="0">
                <a:latin typeface="Century Gothic" panose="020B0502020202020204" pitchFamily="34" charset="0"/>
              </a:rPr>
              <a:t>MERCI POUR VOTRE AIMABLE ATTENTION!</a:t>
            </a:r>
          </a:p>
        </p:txBody>
      </p:sp>
    </p:spTree>
    <p:extLst>
      <p:ext uri="{BB962C8B-B14F-4D97-AF65-F5344CB8AC3E}">
        <p14:creationId xmlns:p14="http://schemas.microsoft.com/office/powerpoint/2010/main" val="1269696176"/>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Rétrospective">
  <a:themeElements>
    <a:clrScheme name="Personnalisé 1">
      <a:dk1>
        <a:sysClr val="windowText" lastClr="000000"/>
      </a:dk1>
      <a:lt1>
        <a:sysClr val="window" lastClr="FFFFFF"/>
      </a:lt1>
      <a:dk2>
        <a:srgbClr val="2C3C43"/>
      </a:dk2>
      <a:lt2>
        <a:srgbClr val="EBEBEB"/>
      </a:lt2>
      <a:accent1>
        <a:srgbClr val="2A5010"/>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23749</TotalTime>
  <Words>2305</Words>
  <Application>Microsoft Office PowerPoint</Application>
  <PresentationFormat>Grand écran</PresentationFormat>
  <Paragraphs>389</Paragraphs>
  <Slides>27</Slides>
  <Notes>26</Notes>
  <HiddenSlides>0</HiddenSlides>
  <MMClips>0</MMClips>
  <ScaleCrop>false</ScaleCrop>
  <HeadingPairs>
    <vt:vector size="6" baseType="variant">
      <vt:variant>
        <vt:lpstr>Polices utilisées</vt:lpstr>
      </vt:variant>
      <vt:variant>
        <vt:i4>13</vt:i4>
      </vt:variant>
      <vt:variant>
        <vt:lpstr>Thème</vt:lpstr>
      </vt:variant>
      <vt:variant>
        <vt:i4>2</vt:i4>
      </vt:variant>
      <vt:variant>
        <vt:lpstr>Titres des diapositives</vt:lpstr>
      </vt:variant>
      <vt:variant>
        <vt:i4>27</vt:i4>
      </vt:variant>
    </vt:vector>
  </HeadingPairs>
  <TitlesOfParts>
    <vt:vector size="42" baseType="lpstr">
      <vt:lpstr>SimSun</vt:lpstr>
      <vt:lpstr>Arial</vt:lpstr>
      <vt:lpstr>Calibri</vt:lpstr>
      <vt:lpstr>Calibri Light</vt:lpstr>
      <vt:lpstr>Cambria</vt:lpstr>
      <vt:lpstr>Century</vt:lpstr>
      <vt:lpstr>Century Gothic</vt:lpstr>
      <vt:lpstr>Fira Sans Extra Condensed Medium</vt:lpstr>
      <vt:lpstr>Lora</vt:lpstr>
      <vt:lpstr>Noto Sans</vt:lpstr>
      <vt:lpstr>Open Sans</vt:lpstr>
      <vt:lpstr>Tahoma</vt:lpstr>
      <vt:lpstr>Times New Roman</vt:lpstr>
      <vt:lpstr>Rétrospective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Eloge ERP</dc:title>
  <dc:creator>ACERPC</dc:creator>
  <cp:lastModifiedBy>Ing MOHAMADOU</cp:lastModifiedBy>
  <cp:revision>844</cp:revision>
  <cp:lastPrinted>2017-11-02T09:42:49Z</cp:lastPrinted>
  <dcterms:created xsi:type="dcterms:W3CDTF">2013-07-16T09:37:53Z</dcterms:created>
  <dcterms:modified xsi:type="dcterms:W3CDTF">2026-07-05T23:53:46Z</dcterms:modified>
</cp:coreProperties>
</file>